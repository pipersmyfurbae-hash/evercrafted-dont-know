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>
            <a:alphaModFix amt="10000"/>
          </a:blip>
          <a:stretch>
            <a:fillRect/>
          </a:stretch>
        </p:blipFill>
        <p:spPr>
          <a:xfrm>
            <a:off x="5314950" y="-514350"/>
            <a:ext cx="4286250" cy="428625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643063" y="790110"/>
            <a:ext cx="5857875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050" spc="2" kern="0" dirty="0">
                <a:solidFill>
                  <a:srgbClr val="C4922A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THE EVERCRAFTED COMPOSITION ENGINE PIPELINE</a:t>
            </a:r>
            <a:endParaRPr lang="en-US" sz="1050" dirty="0"/>
          </a:p>
        </p:txBody>
      </p:sp>
      <p:sp>
        <p:nvSpPr>
          <p:cNvPr id="5" name="Text 1"/>
          <p:cNvSpPr/>
          <p:nvPr/>
        </p:nvSpPr>
        <p:spPr>
          <a:xfrm>
            <a:off x="1643063" y="1136582"/>
            <a:ext cx="5857875" cy="13829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88000"/>
              </a:lnSpc>
              <a:buNone/>
            </a:pPr>
            <a:r>
              <a:rPr lang="en-US" sz="4150" b="1" dirty="0">
                <a:solidFill>
                  <a:srgbClr val="FFFFFF"/>
                </a:solidFill>
                <a:latin typeface="Cormorant Garamond SemiBold" pitchFamily="34" charset="0"/>
                <a:ea typeface="Cormorant Garamond SemiBold" pitchFamily="34" charset="-122"/>
                <a:cs typeface="Cormorant Garamond SemiBold" pitchFamily="34" charset="-120"/>
              </a:rPr>
              <a:t>Emotion becomes </a:t>
            </a:r>
            <a:r>
              <a:rPr lang="en-US" sz="4950" b="1" dirty="0">
                <a:solidFill>
                  <a:srgbClr val="C4922A"/>
                </a:solidFill>
                <a:latin typeface="Dancing Script SemiBold" pitchFamily="34" charset="0"/>
                <a:ea typeface="Dancing Script SemiBold" pitchFamily="34" charset="-122"/>
                <a:cs typeface="Dancing Script SemiBold" pitchFamily="34" charset="-120"/>
              </a:rPr>
              <a:t>engineered</a:t>
            </a:r>
            <a:r>
              <a:rPr lang="en-US" sz="4150" b="1" dirty="0">
                <a:solidFill>
                  <a:srgbClr val="FFFFFF"/>
                </a:solidFill>
                <a:latin typeface="Cormorant Garamond SemiBold" pitchFamily="34" charset="0"/>
                <a:ea typeface="Cormorant Garamond SemiBold" pitchFamily="34" charset="-122"/>
                <a:cs typeface="Cormorant Garamond SemiBold" pitchFamily="34" charset="-120"/>
              </a:rPr>
              <a:t> design.</a:t>
            </a:r>
            <a:endParaRPr lang="en-US" sz="4150" dirty="0"/>
          </a:p>
        </p:txBody>
      </p:sp>
      <p:sp>
        <p:nvSpPr>
          <p:cNvPr id="6" name="Text 2"/>
          <p:cNvSpPr/>
          <p:nvPr/>
        </p:nvSpPr>
        <p:spPr>
          <a:xfrm>
            <a:off x="1714500" y="2748167"/>
            <a:ext cx="5715000" cy="8229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EF2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deterministic 10-engine system that transforms a single emotional memory and a stem inventory into a mathematically balanced, reproducible wreath blueprint.</a:t>
            </a:r>
            <a:endParaRPr lang="en-US" sz="1250" dirty="0"/>
          </a:p>
        </p:txBody>
      </p:sp>
      <p:sp>
        <p:nvSpPr>
          <p:cNvPr id="7" name="Shape 3"/>
          <p:cNvSpPr/>
          <p:nvPr/>
        </p:nvSpPr>
        <p:spPr>
          <a:xfrm>
            <a:off x="1722704" y="4028294"/>
            <a:ext cx="1318022" cy="325041"/>
          </a:xfrm>
          <a:prstGeom prst="roundRect">
            <a:avLst/>
          </a:prstGeom>
          <a:solidFill>
            <a:srgbClr val="FFFFFF">
              <a:alpha val="10000"/>
            </a:srgbClr>
          </a:solidFill>
          <a:ln w="9144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1722704" y="4028294"/>
            <a:ext cx="1318022" cy="325041"/>
          </a:xfrm>
          <a:prstGeom prst="rect">
            <a:avLst/>
          </a:prstGeom>
          <a:noFill/>
          <a:ln/>
        </p:spPr>
        <p:txBody>
          <a:bodyPr wrap="square" lIns="204089" tIns="102108" rIns="204089" bIns="102108" rtlCol="0" anchor="t">
            <a:spAutoFit/>
          </a:bodyPr>
          <a:lstStyle/>
          <a:p>
            <a:pPr algn="ctr" indent="0" marL="0">
              <a:buNone/>
            </a:pPr>
            <a:r>
              <a:rPr lang="en-US" sz="850" spc="1" kern="0" dirty="0">
                <a:solidFill>
                  <a:srgbClr val="FFFFFF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10 Core Engines</a:t>
            </a:r>
            <a:endParaRPr lang="en-US" sz="850" dirty="0"/>
          </a:p>
        </p:txBody>
      </p:sp>
      <p:sp>
        <p:nvSpPr>
          <p:cNvPr id="9" name="Shape 5"/>
          <p:cNvSpPr/>
          <p:nvPr/>
        </p:nvSpPr>
        <p:spPr>
          <a:xfrm>
            <a:off x="3205032" y="4028294"/>
            <a:ext cx="1255179" cy="325041"/>
          </a:xfrm>
          <a:prstGeom prst="roundRect">
            <a:avLst/>
          </a:prstGeom>
          <a:solidFill>
            <a:srgbClr val="FFFFFF">
              <a:alpha val="10000"/>
            </a:srgbClr>
          </a:solidFill>
          <a:ln w="9144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3205032" y="4028294"/>
            <a:ext cx="1255179" cy="325041"/>
          </a:xfrm>
          <a:prstGeom prst="rect">
            <a:avLst/>
          </a:prstGeom>
          <a:noFill/>
          <a:ln/>
        </p:spPr>
        <p:txBody>
          <a:bodyPr wrap="none" lIns="204089" tIns="102108" rIns="204089" bIns="102108" rtlCol="0" anchor="t">
            <a:spAutoFit/>
          </a:bodyPr>
          <a:lstStyle/>
          <a:p>
            <a:pPr algn="ctr" indent="0" marL="0">
              <a:buNone/>
            </a:pPr>
            <a:r>
              <a:rPr lang="en-US" sz="850" spc="1" kern="0" dirty="0">
                <a:solidFill>
                  <a:srgbClr val="FFFFFF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0.78 Min Score</a:t>
            </a:r>
            <a:endParaRPr lang="en-US" sz="850" dirty="0"/>
          </a:p>
        </p:txBody>
      </p:sp>
      <p:sp>
        <p:nvSpPr>
          <p:cNvPr id="11" name="Shape 7"/>
          <p:cNvSpPr/>
          <p:nvPr/>
        </p:nvSpPr>
        <p:spPr>
          <a:xfrm>
            <a:off x="4624518" y="4028294"/>
            <a:ext cx="1318022" cy="325041"/>
          </a:xfrm>
          <a:prstGeom prst="roundRect">
            <a:avLst/>
          </a:prstGeom>
          <a:solidFill>
            <a:srgbClr val="FFFFFF">
              <a:alpha val="10000"/>
            </a:srgbClr>
          </a:solidFill>
          <a:ln w="9144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4624518" y="4028294"/>
            <a:ext cx="1318022" cy="325041"/>
          </a:xfrm>
          <a:prstGeom prst="rect">
            <a:avLst/>
          </a:prstGeom>
          <a:noFill/>
          <a:ln/>
        </p:spPr>
        <p:txBody>
          <a:bodyPr wrap="square" lIns="204089" tIns="102108" rIns="204089" bIns="102108" rtlCol="0" anchor="t">
            <a:spAutoFit/>
          </a:bodyPr>
          <a:lstStyle/>
          <a:p>
            <a:pPr algn="ctr" indent="0" marL="0">
              <a:buNone/>
            </a:pPr>
            <a:r>
              <a:rPr lang="en-US" sz="850" spc="1" kern="0" dirty="0">
                <a:solidFill>
                  <a:srgbClr val="FFFFFF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8 Repair Passes</a:t>
            </a:r>
            <a:endParaRPr lang="en-US" sz="850" dirty="0"/>
          </a:p>
        </p:txBody>
      </p:sp>
      <p:sp>
        <p:nvSpPr>
          <p:cNvPr id="13" name="Shape 9"/>
          <p:cNvSpPr/>
          <p:nvPr/>
        </p:nvSpPr>
        <p:spPr>
          <a:xfrm>
            <a:off x="6106846" y="4028294"/>
            <a:ext cx="1293019" cy="325041"/>
          </a:xfrm>
          <a:prstGeom prst="roundRect">
            <a:avLst/>
          </a:prstGeom>
          <a:solidFill>
            <a:srgbClr val="FFFFFF">
              <a:alpha val="10000"/>
            </a:srgbClr>
          </a:solidFill>
          <a:ln w="9144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6106846" y="4028294"/>
            <a:ext cx="1293019" cy="325041"/>
          </a:xfrm>
          <a:prstGeom prst="rect">
            <a:avLst/>
          </a:prstGeom>
          <a:noFill/>
          <a:ln/>
        </p:spPr>
        <p:txBody>
          <a:bodyPr wrap="square" lIns="204089" tIns="102108" rIns="204089" bIns="102108" rtlCol="0" anchor="t">
            <a:spAutoFit/>
          </a:bodyPr>
          <a:lstStyle/>
          <a:p>
            <a:pPr algn="ctr" indent="0" marL="0">
              <a:buNone/>
            </a:pPr>
            <a:r>
              <a:rPr lang="en-US" sz="850" spc="1" kern="0" dirty="0">
                <a:solidFill>
                  <a:srgbClr val="FFFFFF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7 Score Metrics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1340234"/>
            <a:ext cx="3171825" cy="13200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2850" b="1" dirty="0">
                <a:solidFill>
                  <a:srgbClr val="1A1A1A"/>
                </a:solidFill>
                <a:latin typeface="Cormorant Garamond SemiBold" pitchFamily="34" charset="0"/>
                <a:ea typeface="Cormorant Garamond SemiBold" pitchFamily="34" charset="-122"/>
                <a:cs typeface="Cormorant Garamond SemiBold" pitchFamily="34" charset="-120"/>
              </a:rPr>
              <a:t>Ten engines.</a:t>
            </a:r>
            <a:r>
              <a:rPr lang="en-US" sz="2850" b="1" dirty="0">
                <a:solidFill>
                  <a:srgbClr val="1A1A1A"/>
                </a:solidFill>
                <a:latin typeface="Cormorant Garamond SemiBold" pitchFamily="34" charset="0"/>
                <a:ea typeface="Cormorant Garamond SemiBold" pitchFamily="34" charset="-122"/>
                <a:cs typeface="Cormorant Garamond SemiBold" pitchFamily="34" charset="-120"/>
              </a:rPr>
              <a:t>
</a:t>
            </a:r>
            <a:r>
              <a:rPr lang="en-US" sz="2850" b="1" dirty="0">
                <a:solidFill>
                  <a:srgbClr val="1A1A1A"/>
                </a:solidFill>
                <a:latin typeface="Cormorant Garamond SemiBold" pitchFamily="34" charset="0"/>
                <a:ea typeface="Cormorant Garamond SemiBold" pitchFamily="34" charset="-122"/>
                <a:cs typeface="Cormorant Garamond SemiBold" pitchFamily="34" charset="-120"/>
              </a:rPr>
              <a:t>One deterministic </a:t>
            </a:r>
            <a:r>
              <a:rPr lang="en-US" sz="2850" b="1" dirty="0">
                <a:solidFill>
                  <a:srgbClr val="1A1A1A"/>
                </a:solidFill>
                <a:latin typeface="Cormorant Garamond SemiBold" pitchFamily="34" charset="0"/>
                <a:ea typeface="Cormorant Garamond SemiBold" pitchFamily="34" charset="-122"/>
                <a:cs typeface="Cormorant Garamond SemiBold" pitchFamily="34" charset="-120"/>
              </a:rPr>
              <a:t>output.</a:t>
            </a:r>
            <a:endParaRPr lang="en-US" sz="2850" dirty="0"/>
          </a:p>
        </p:txBody>
      </p:sp>
      <p:sp>
        <p:nvSpPr>
          <p:cNvPr id="4" name="Text 1"/>
          <p:cNvSpPr/>
          <p:nvPr/>
        </p:nvSpPr>
        <p:spPr>
          <a:xfrm>
            <a:off x="571500" y="2888866"/>
            <a:ext cx="317182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pipeline executes sequentially — each engine feeds the next. No randomness escapes the system; every design is reproducible from its seed.</a:t>
            </a:r>
            <a:endParaRPr lang="en-US" sz="1050" dirty="0"/>
          </a:p>
        </p:txBody>
      </p:sp>
      <p:sp>
        <p:nvSpPr>
          <p:cNvPr id="5" name="Shape 2"/>
          <p:cNvSpPr/>
          <p:nvPr/>
        </p:nvSpPr>
        <p:spPr>
          <a:xfrm>
            <a:off x="4171950" y="571500"/>
            <a:ext cx="4400550" cy="400050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6" name="Shape 3"/>
          <p:cNvSpPr/>
          <p:nvPr/>
        </p:nvSpPr>
        <p:spPr>
          <a:xfrm>
            <a:off x="4171950" y="571500"/>
            <a:ext cx="7144" cy="4000500"/>
          </a:xfrm>
          <a:prstGeom prst="rect">
            <a:avLst/>
          </a:prstGeom>
          <a:solidFill>
            <a:srgbClr val="D0D0D0"/>
          </a:solidFill>
          <a:ln/>
        </p:spPr>
      </p:sp>
      <p:sp>
        <p:nvSpPr>
          <p:cNvPr id="7" name="Shape 4"/>
          <p:cNvSpPr/>
          <p:nvPr/>
        </p:nvSpPr>
        <p:spPr>
          <a:xfrm>
            <a:off x="4707731" y="1278731"/>
            <a:ext cx="14288" cy="2586038"/>
          </a:xfrm>
          <a:prstGeom prst="rect">
            <a:avLst/>
          </a:prstGeom>
          <a:solidFill>
            <a:srgbClr val="4A6741"/>
          </a:solidFill>
          <a:ln/>
        </p:spPr>
      </p:sp>
      <p:sp>
        <p:nvSpPr>
          <p:cNvPr id="8" name="Shape 5"/>
          <p:cNvSpPr/>
          <p:nvPr/>
        </p:nvSpPr>
        <p:spPr>
          <a:xfrm>
            <a:off x="4600575" y="1171575"/>
            <a:ext cx="228600" cy="228600"/>
          </a:xfrm>
          <a:prstGeom prst="ellipse">
            <a:avLst/>
          </a:prstGeom>
          <a:solidFill>
            <a:srgbClr val="F9F7F4"/>
          </a:solidFill>
          <a:ln w="18288">
            <a:solidFill>
              <a:srgbClr val="4A674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600575" y="1171575"/>
            <a:ext cx="22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4A6741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01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4943475" y="1207294"/>
            <a:ext cx="1200150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Memory Interpreter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6229350" y="1216223"/>
            <a:ext cx="753666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A8A8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Input Layer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4600575" y="1457325"/>
            <a:ext cx="228600" cy="228600"/>
          </a:xfrm>
          <a:prstGeom prst="ellipse">
            <a:avLst/>
          </a:prstGeom>
          <a:solidFill>
            <a:srgbClr val="F9F7F4"/>
          </a:solidFill>
          <a:ln w="18288">
            <a:solidFill>
              <a:srgbClr val="4A674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600575" y="1457325"/>
            <a:ext cx="22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4A6741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02</a:t>
            </a:r>
            <a:endParaRPr lang="en-US" sz="700" dirty="0"/>
          </a:p>
        </p:txBody>
      </p:sp>
      <p:sp>
        <p:nvSpPr>
          <p:cNvPr id="14" name="Text 11"/>
          <p:cNvSpPr/>
          <p:nvPr/>
        </p:nvSpPr>
        <p:spPr>
          <a:xfrm>
            <a:off x="4943475" y="1493044"/>
            <a:ext cx="1010841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Emotion Mapper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6040041" y="1501973"/>
            <a:ext cx="814388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A8A8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Signal Layer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4600575" y="1743075"/>
            <a:ext cx="228600" cy="228600"/>
          </a:xfrm>
          <a:prstGeom prst="ellipse">
            <a:avLst/>
          </a:prstGeom>
          <a:solidFill>
            <a:srgbClr val="F9F7F4"/>
          </a:solidFill>
          <a:ln w="18288">
            <a:solidFill>
              <a:srgbClr val="4A6741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600575" y="1743075"/>
            <a:ext cx="22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4A6741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03</a:t>
            </a:r>
            <a:endParaRPr lang="en-US" sz="700" dirty="0"/>
          </a:p>
        </p:txBody>
      </p:sp>
      <p:sp>
        <p:nvSpPr>
          <p:cNvPr id="18" name="Text 15"/>
          <p:cNvSpPr/>
          <p:nvPr/>
        </p:nvSpPr>
        <p:spPr>
          <a:xfrm>
            <a:off x="4943475" y="1778794"/>
            <a:ext cx="1164431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Inventory Analyzer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6193631" y="1787723"/>
            <a:ext cx="989409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A8A8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Inventory Layer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4600575" y="2028825"/>
            <a:ext cx="228600" cy="228600"/>
          </a:xfrm>
          <a:prstGeom prst="ellipse">
            <a:avLst/>
          </a:prstGeom>
          <a:solidFill>
            <a:srgbClr val="F9F7F4"/>
          </a:solidFill>
          <a:ln w="18288">
            <a:solidFill>
              <a:srgbClr val="4A674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600575" y="2028825"/>
            <a:ext cx="22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4A6741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04</a:t>
            </a:r>
            <a:endParaRPr lang="en-US" sz="700" dirty="0"/>
          </a:p>
        </p:txBody>
      </p:sp>
      <p:sp>
        <p:nvSpPr>
          <p:cNvPr id="22" name="Text 19"/>
          <p:cNvSpPr/>
          <p:nvPr/>
        </p:nvSpPr>
        <p:spPr>
          <a:xfrm>
            <a:off x="4943475" y="2064544"/>
            <a:ext cx="1042988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Formula Selector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6072188" y="2073473"/>
            <a:ext cx="982266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A8A8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Selection Layer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>
            <a:off x="4600575" y="2314575"/>
            <a:ext cx="228600" cy="228600"/>
          </a:xfrm>
          <a:prstGeom prst="ellipse">
            <a:avLst/>
          </a:prstGeom>
          <a:solidFill>
            <a:srgbClr val="F9F7F4"/>
          </a:solidFill>
          <a:ln w="18288">
            <a:solidFill>
              <a:srgbClr val="4A6741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600575" y="2314575"/>
            <a:ext cx="22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4A6741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05</a:t>
            </a:r>
            <a:endParaRPr lang="en-US" sz="700" dirty="0"/>
          </a:p>
        </p:txBody>
      </p:sp>
      <p:sp>
        <p:nvSpPr>
          <p:cNvPr id="26" name="Text 23"/>
          <p:cNvSpPr/>
          <p:nvPr/>
        </p:nvSpPr>
        <p:spPr>
          <a:xfrm>
            <a:off x="4943475" y="2350294"/>
            <a:ext cx="1107281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Anchor Generator</a:t>
            </a: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6136481" y="2359223"/>
            <a:ext cx="1014413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A8A8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Geometry Layer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4600575" y="2600325"/>
            <a:ext cx="228600" cy="228600"/>
          </a:xfrm>
          <a:prstGeom prst="ellipse">
            <a:avLst/>
          </a:prstGeom>
          <a:solidFill>
            <a:srgbClr val="F9F7F4"/>
          </a:solidFill>
          <a:ln w="18288">
            <a:solidFill>
              <a:srgbClr val="4A6741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600575" y="2600325"/>
            <a:ext cx="22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4A6741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06</a:t>
            </a:r>
            <a:endParaRPr lang="en-US" sz="700" dirty="0"/>
          </a:p>
        </p:txBody>
      </p:sp>
      <p:sp>
        <p:nvSpPr>
          <p:cNvPr id="30" name="Text 27"/>
          <p:cNvSpPr/>
          <p:nvPr/>
        </p:nvSpPr>
        <p:spPr>
          <a:xfrm>
            <a:off x="4943475" y="2636044"/>
            <a:ext cx="111085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Zone Field Builder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6140053" y="2644973"/>
            <a:ext cx="753666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A8A8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Zone Layer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4600575" y="2886075"/>
            <a:ext cx="228600" cy="228600"/>
          </a:xfrm>
          <a:prstGeom prst="ellipse">
            <a:avLst/>
          </a:prstGeom>
          <a:solidFill>
            <a:srgbClr val="F9F7F4"/>
          </a:solidFill>
          <a:ln w="18288">
            <a:solidFill>
              <a:srgbClr val="4A6741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600575" y="2886075"/>
            <a:ext cx="22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4A6741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07</a:t>
            </a:r>
            <a:endParaRPr lang="en-US" sz="700" dirty="0"/>
          </a:p>
        </p:txBody>
      </p:sp>
      <p:sp>
        <p:nvSpPr>
          <p:cNvPr id="34" name="Text 31"/>
          <p:cNvSpPr/>
          <p:nvPr/>
        </p:nvSpPr>
        <p:spPr>
          <a:xfrm>
            <a:off x="4943475" y="2921794"/>
            <a:ext cx="903684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Stem Allocator</a:t>
            </a:r>
            <a:endParaRPr lang="en-US" sz="950" dirty="0"/>
          </a:p>
        </p:txBody>
      </p:sp>
      <p:sp>
        <p:nvSpPr>
          <p:cNvPr id="35" name="Text 32"/>
          <p:cNvSpPr/>
          <p:nvPr/>
        </p:nvSpPr>
        <p:spPr>
          <a:xfrm>
            <a:off x="5932884" y="2930723"/>
            <a:ext cx="1010841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A8A8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Allocation Layer</a:t>
            </a:r>
            <a:endParaRPr lang="en-US" sz="850" dirty="0"/>
          </a:p>
        </p:txBody>
      </p:sp>
      <p:sp>
        <p:nvSpPr>
          <p:cNvPr id="36" name="Shape 33"/>
          <p:cNvSpPr/>
          <p:nvPr/>
        </p:nvSpPr>
        <p:spPr>
          <a:xfrm>
            <a:off x="4600575" y="3171825"/>
            <a:ext cx="228600" cy="228600"/>
          </a:xfrm>
          <a:prstGeom prst="ellipse">
            <a:avLst/>
          </a:prstGeom>
          <a:solidFill>
            <a:srgbClr val="F9F7F4"/>
          </a:solidFill>
          <a:ln w="18288">
            <a:solidFill>
              <a:srgbClr val="4A6741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4600575" y="3171825"/>
            <a:ext cx="22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4A6741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08</a:t>
            </a:r>
            <a:endParaRPr lang="en-US" sz="700" dirty="0"/>
          </a:p>
        </p:txBody>
      </p:sp>
      <p:sp>
        <p:nvSpPr>
          <p:cNvPr id="38" name="Text 35"/>
          <p:cNvSpPr/>
          <p:nvPr/>
        </p:nvSpPr>
        <p:spPr>
          <a:xfrm>
            <a:off x="4943475" y="3207544"/>
            <a:ext cx="10715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Placement Solver</a:t>
            </a:r>
            <a:endParaRPr lang="en-US" sz="950" dirty="0"/>
          </a:p>
        </p:txBody>
      </p:sp>
      <p:sp>
        <p:nvSpPr>
          <p:cNvPr id="39" name="Text 36"/>
          <p:cNvSpPr/>
          <p:nvPr/>
        </p:nvSpPr>
        <p:spPr>
          <a:xfrm>
            <a:off x="6100763" y="3216473"/>
            <a:ext cx="1046559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A8A8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Placement Layer</a:t>
            </a:r>
            <a:endParaRPr lang="en-US" sz="850" dirty="0"/>
          </a:p>
        </p:txBody>
      </p:sp>
      <p:sp>
        <p:nvSpPr>
          <p:cNvPr id="40" name="Shape 37"/>
          <p:cNvSpPr/>
          <p:nvPr/>
        </p:nvSpPr>
        <p:spPr>
          <a:xfrm>
            <a:off x="4600575" y="3457575"/>
            <a:ext cx="228600" cy="228600"/>
          </a:xfrm>
          <a:prstGeom prst="ellipse">
            <a:avLst/>
          </a:prstGeom>
          <a:solidFill>
            <a:srgbClr val="F9F7F4"/>
          </a:solidFill>
          <a:ln w="18288">
            <a:solidFill>
              <a:srgbClr val="4A6741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4600575" y="3457575"/>
            <a:ext cx="22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4A6741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09</a:t>
            </a:r>
            <a:endParaRPr lang="en-US" sz="700" dirty="0"/>
          </a:p>
        </p:txBody>
      </p:sp>
      <p:sp>
        <p:nvSpPr>
          <p:cNvPr id="42" name="Text 39"/>
          <p:cNvSpPr/>
          <p:nvPr/>
        </p:nvSpPr>
        <p:spPr>
          <a:xfrm>
            <a:off x="4943475" y="3493294"/>
            <a:ext cx="846534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Repair Engine</a:t>
            </a:r>
            <a:endParaRPr lang="en-US" sz="950" dirty="0"/>
          </a:p>
        </p:txBody>
      </p:sp>
      <p:sp>
        <p:nvSpPr>
          <p:cNvPr id="43" name="Text 40"/>
          <p:cNvSpPr/>
          <p:nvPr/>
        </p:nvSpPr>
        <p:spPr>
          <a:xfrm>
            <a:off x="5875734" y="3502223"/>
            <a:ext cx="828675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A8A8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Repair Layer</a:t>
            </a:r>
            <a:endParaRPr lang="en-US" sz="850" dirty="0"/>
          </a:p>
        </p:txBody>
      </p:sp>
      <p:sp>
        <p:nvSpPr>
          <p:cNvPr id="44" name="Shape 41"/>
          <p:cNvSpPr/>
          <p:nvPr/>
        </p:nvSpPr>
        <p:spPr>
          <a:xfrm>
            <a:off x="4600575" y="3743325"/>
            <a:ext cx="228600" cy="228600"/>
          </a:xfrm>
          <a:prstGeom prst="ellipse">
            <a:avLst/>
          </a:prstGeom>
          <a:solidFill>
            <a:srgbClr val="F9F7F4"/>
          </a:solidFill>
          <a:ln w="18288">
            <a:solidFill>
              <a:srgbClr val="4A6741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4600575" y="3743325"/>
            <a:ext cx="22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4A6741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10</a:t>
            </a:r>
            <a:endParaRPr lang="en-US" sz="700" dirty="0"/>
          </a:p>
        </p:txBody>
      </p:sp>
      <p:sp>
        <p:nvSpPr>
          <p:cNvPr id="46" name="Text 43"/>
          <p:cNvSpPr/>
          <p:nvPr/>
        </p:nvSpPr>
        <p:spPr>
          <a:xfrm>
            <a:off x="4943475" y="3779044"/>
            <a:ext cx="1150144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Blueprint &amp; Render</a:t>
            </a:r>
            <a:endParaRPr lang="en-US" sz="950" dirty="0"/>
          </a:p>
        </p:txBody>
      </p:sp>
      <p:sp>
        <p:nvSpPr>
          <p:cNvPr id="47" name="Text 44"/>
          <p:cNvSpPr/>
          <p:nvPr/>
        </p:nvSpPr>
        <p:spPr>
          <a:xfrm>
            <a:off x="6179344" y="3787973"/>
            <a:ext cx="842963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A8A8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Output Layer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705892"/>
            <a:ext cx="3571875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spc="1" kern="0" dirty="0">
                <a:solidFill>
                  <a:srgbClr val="4A6741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01 — INPUT LAYER</a:t>
            </a:r>
            <a:endParaRPr lang="en-US" sz="700" dirty="0"/>
          </a:p>
        </p:txBody>
      </p:sp>
      <p:sp>
        <p:nvSpPr>
          <p:cNvPr id="4" name="Text 1"/>
          <p:cNvSpPr/>
          <p:nvPr/>
        </p:nvSpPr>
        <p:spPr>
          <a:xfrm>
            <a:off x="571500" y="941636"/>
            <a:ext cx="3571875" cy="8228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450" b="1" dirty="0">
                <a:solidFill>
                  <a:srgbClr val="1A1A1A"/>
                </a:solidFill>
                <a:latin typeface="Cormorant Garamond SemiBold" pitchFamily="34" charset="0"/>
                <a:ea typeface="Cormorant Garamond SemiBold" pitchFamily="34" charset="-122"/>
                <a:cs typeface="Cormorant Garamond SemiBold" pitchFamily="34" charset="-120"/>
              </a:rPr>
              <a:t>Every design begins with a feeling.</a:t>
            </a:r>
            <a:endParaRPr lang="en-US" sz="2450" dirty="0"/>
          </a:p>
        </p:txBody>
      </p:sp>
      <p:sp>
        <p:nvSpPr>
          <p:cNvPr id="5" name="Text 2"/>
          <p:cNvSpPr/>
          <p:nvPr/>
        </p:nvSpPr>
        <p:spPr>
          <a:xfrm>
            <a:off x="571500" y="1935956"/>
            <a:ext cx="3571875" cy="8228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Memory Interpreter is the emotional gateway. It parses free-form text — a memory, a mood, an occasion — into structured design intent that every downstream engine can consume.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571500" y="2987427"/>
            <a:ext cx="3571875" cy="378619"/>
          </a:xfrm>
          <a:prstGeom prst="rect">
            <a:avLst/>
          </a:prstGeom>
          <a:solidFill>
            <a:srgbClr val="EEF2ED"/>
          </a:solidFill>
          <a:ln/>
        </p:spPr>
      </p:sp>
      <p:sp>
        <p:nvSpPr>
          <p:cNvPr id="7" name="Shape 4"/>
          <p:cNvSpPr/>
          <p:nvPr/>
        </p:nvSpPr>
        <p:spPr>
          <a:xfrm>
            <a:off x="571500" y="2987427"/>
            <a:ext cx="28575" cy="378619"/>
          </a:xfrm>
          <a:prstGeom prst="rect">
            <a:avLst/>
          </a:prstGeom>
          <a:solidFill>
            <a:srgbClr val="4A6741"/>
          </a:solidFill>
          <a:ln/>
        </p:spPr>
      </p:sp>
      <p:sp>
        <p:nvSpPr>
          <p:cNvPr id="8" name="Text 5"/>
          <p:cNvSpPr/>
          <p:nvPr/>
        </p:nvSpPr>
        <p:spPr>
          <a:xfrm>
            <a:off x="571500" y="2987427"/>
            <a:ext cx="3571875" cy="378619"/>
          </a:xfrm>
          <a:prstGeom prst="rect">
            <a:avLst/>
          </a:prstGeom>
          <a:noFill/>
          <a:ln/>
        </p:spPr>
        <p:txBody>
          <a:bodyPr wrap="square" lIns="204089" tIns="136017" rIns="204089" bIns="136017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"nostalgic cozy Christmas"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571500" y="3823246"/>
            <a:ext cx="1060847" cy="250031"/>
          </a:xfrm>
          <a:prstGeom prst="rect">
            <a:avLst/>
          </a:prstGeom>
          <a:solidFill>
            <a:srgbClr val="FFFFFF"/>
          </a:solidFill>
          <a:ln w="9144">
            <a:solidFill>
              <a:srgbClr val="E8E8E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71500" y="3823246"/>
            <a:ext cx="1060847" cy="250031"/>
          </a:xfrm>
          <a:prstGeom prst="rect">
            <a:avLst/>
          </a:prstGeom>
          <a:noFill/>
          <a:ln/>
        </p:spPr>
        <p:txBody>
          <a:bodyPr wrap="none" lIns="136017" tIns="68072" rIns="136017" bIns="68072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4A4A4A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Energy Level </a:t>
            </a:r>
            <a:r>
              <a:rPr lang="en-US" sz="700" b="1" dirty="0">
                <a:solidFill>
                  <a:srgbClr val="4A6741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0.4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1732359" y="3823246"/>
            <a:ext cx="1125141" cy="250031"/>
          </a:xfrm>
          <a:prstGeom prst="rect">
            <a:avLst/>
          </a:prstGeom>
          <a:solidFill>
            <a:srgbClr val="FFFFFF"/>
          </a:solidFill>
          <a:ln w="9144">
            <a:solidFill>
              <a:srgbClr val="E8E8E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732359" y="3823246"/>
            <a:ext cx="1125141" cy="250031"/>
          </a:xfrm>
          <a:prstGeom prst="rect">
            <a:avLst/>
          </a:prstGeom>
          <a:noFill/>
          <a:ln/>
        </p:spPr>
        <p:txBody>
          <a:bodyPr wrap="none" lIns="136017" tIns="68072" rIns="136017" bIns="68072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4A4A4A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Palette Bias </a:t>
            </a:r>
            <a:r>
              <a:rPr lang="en-US" sz="700" b="1" dirty="0">
                <a:solidFill>
                  <a:srgbClr val="4A6741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warm</a:t>
            </a:r>
            <a:endParaRPr lang="en-US" sz="750" dirty="0"/>
          </a:p>
        </p:txBody>
      </p:sp>
      <p:sp>
        <p:nvSpPr>
          <p:cNvPr id="13" name="Shape 10"/>
          <p:cNvSpPr/>
          <p:nvPr/>
        </p:nvSpPr>
        <p:spPr>
          <a:xfrm>
            <a:off x="2957513" y="3823246"/>
            <a:ext cx="1053703" cy="250031"/>
          </a:xfrm>
          <a:prstGeom prst="rect">
            <a:avLst/>
          </a:prstGeom>
          <a:solidFill>
            <a:srgbClr val="FFFFFF"/>
          </a:solidFill>
          <a:ln w="9144">
            <a:solidFill>
              <a:srgbClr val="E8E8E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957513" y="3823246"/>
            <a:ext cx="1053703" cy="250031"/>
          </a:xfrm>
          <a:prstGeom prst="rect">
            <a:avLst/>
          </a:prstGeom>
          <a:noFill/>
          <a:ln/>
        </p:spPr>
        <p:txBody>
          <a:bodyPr wrap="none" lIns="136017" tIns="68072" rIns="136017" bIns="68072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4A4A4A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Symbolic Tags </a:t>
            </a:r>
            <a:r>
              <a:rPr lang="en-US" sz="700" b="1" dirty="0">
                <a:solidFill>
                  <a:srgbClr val="4A6741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3</a:t>
            </a:r>
            <a:endParaRPr lang="en-US" sz="750" dirty="0"/>
          </a:p>
        </p:txBody>
      </p:sp>
      <p:sp>
        <p:nvSpPr>
          <p:cNvPr id="15" name="Shape 12"/>
          <p:cNvSpPr/>
          <p:nvPr/>
        </p:nvSpPr>
        <p:spPr>
          <a:xfrm>
            <a:off x="571500" y="4180433"/>
            <a:ext cx="1157288" cy="250031"/>
          </a:xfrm>
          <a:prstGeom prst="rect">
            <a:avLst/>
          </a:prstGeom>
          <a:solidFill>
            <a:srgbClr val="FFFFFF"/>
          </a:solidFill>
          <a:ln w="9144">
            <a:solidFill>
              <a:srgbClr val="E8E8E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71500" y="4180433"/>
            <a:ext cx="1157288" cy="250031"/>
          </a:xfrm>
          <a:prstGeom prst="rect">
            <a:avLst/>
          </a:prstGeom>
          <a:noFill/>
          <a:ln/>
        </p:spPr>
        <p:txBody>
          <a:bodyPr wrap="none" lIns="136017" tIns="68072" rIns="136017" bIns="68072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4A4A4A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Parse Method </a:t>
            </a:r>
            <a:r>
              <a:rPr lang="en-US" sz="700" b="1" dirty="0">
                <a:solidFill>
                  <a:srgbClr val="4A6741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NLP</a:t>
            </a:r>
            <a:endParaRPr lang="en-US" sz="750" dirty="0"/>
          </a:p>
        </p:txBody>
      </p:sp>
      <p:sp>
        <p:nvSpPr>
          <p:cNvPr id="17" name="Shape 14"/>
          <p:cNvSpPr/>
          <p:nvPr/>
        </p:nvSpPr>
        <p:spPr>
          <a:xfrm>
            <a:off x="4572000" y="571500"/>
            <a:ext cx="4000500" cy="400050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18" name="Shape 15"/>
          <p:cNvSpPr/>
          <p:nvPr/>
        </p:nvSpPr>
        <p:spPr>
          <a:xfrm>
            <a:off x="4572000" y="571500"/>
            <a:ext cx="7144" cy="4000500"/>
          </a:xfrm>
          <a:prstGeom prst="rect">
            <a:avLst/>
          </a:prstGeom>
          <a:solidFill>
            <a:srgbClr val="D0D0D0"/>
          </a:solidFill>
          <a:ln/>
        </p:spPr>
      </p:sp>
      <p:sp>
        <p:nvSpPr>
          <p:cNvPr id="19" name="Shape 16"/>
          <p:cNvSpPr/>
          <p:nvPr/>
        </p:nvSpPr>
        <p:spPr>
          <a:xfrm>
            <a:off x="5000625" y="1485900"/>
            <a:ext cx="3571875" cy="21717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0" name="Text 17"/>
          <p:cNvSpPr/>
          <p:nvPr/>
        </p:nvSpPr>
        <p:spPr>
          <a:xfrm>
            <a:off x="5000625" y="1485900"/>
            <a:ext cx="3571875" cy="2171700"/>
          </a:xfrm>
          <a:prstGeom prst="rect">
            <a:avLst/>
          </a:prstGeom>
          <a:noFill/>
          <a:ln/>
        </p:spPr>
        <p:txBody>
          <a:bodyPr wrap="square" lIns="272161" tIns="272161" rIns="272161" bIns="272161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F9F7F4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{
</a:t>
            </a:r>
            <a:r>
              <a:rPr lang="en-US" sz="850" dirty="0">
                <a:solidFill>
                  <a:srgbClr val="F9F7F4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  </a:t>
            </a:r>
            <a:r>
              <a:rPr lang="en-US" sz="850" dirty="0">
                <a:solidFill>
                  <a:srgbClr val="6B8F67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"emotion"</a:t>
            </a:r>
            <a:r>
              <a:rPr lang="en-US" sz="850" dirty="0">
                <a:solidFill>
                  <a:srgbClr val="F9F7F4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:      </a:t>
            </a:r>
            <a:r>
              <a:rPr lang="en-US" sz="850" dirty="0">
                <a:solidFill>
                  <a:srgbClr val="C4922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"nostalgia"</a:t>
            </a:r>
            <a:r>
              <a:rPr lang="en-US" sz="850" dirty="0">
                <a:solidFill>
                  <a:srgbClr val="F9F7F4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,
</a:t>
            </a:r>
            <a:r>
              <a:rPr lang="en-US" sz="850" dirty="0">
                <a:solidFill>
                  <a:srgbClr val="F9F7F4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  </a:t>
            </a:r>
            <a:r>
              <a:rPr lang="en-US" sz="850" dirty="0">
                <a:solidFill>
                  <a:srgbClr val="6B8F67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"energy"</a:t>
            </a:r>
            <a:r>
              <a:rPr lang="en-US" sz="850" dirty="0">
                <a:solidFill>
                  <a:srgbClr val="F9F7F4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:       </a:t>
            </a:r>
            <a:r>
              <a:rPr lang="en-US" sz="850" dirty="0">
                <a:solidFill>
                  <a:srgbClr val="A8A8A8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0.4</a:t>
            </a:r>
            <a:r>
              <a:rPr lang="en-US" sz="850" dirty="0">
                <a:solidFill>
                  <a:srgbClr val="F9F7F4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,
</a:t>
            </a:r>
            <a:r>
              <a:rPr lang="en-US" sz="850" dirty="0">
                <a:solidFill>
                  <a:srgbClr val="F9F7F4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  </a:t>
            </a:r>
            <a:r>
              <a:rPr lang="en-US" sz="850" dirty="0">
                <a:solidFill>
                  <a:srgbClr val="6B8F67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"palette_bias"</a:t>
            </a:r>
            <a:r>
              <a:rPr lang="en-US" sz="850" dirty="0">
                <a:solidFill>
                  <a:srgbClr val="F9F7F4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: </a:t>
            </a:r>
            <a:r>
              <a:rPr lang="en-US" sz="850" dirty="0">
                <a:solidFill>
                  <a:srgbClr val="C4922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"warm"</a:t>
            </a:r>
            <a:r>
              <a:rPr lang="en-US" sz="850" dirty="0">
                <a:solidFill>
                  <a:srgbClr val="F9F7F4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,
</a:t>
            </a:r>
            <a:r>
              <a:rPr lang="en-US" sz="850" dirty="0">
                <a:solidFill>
                  <a:srgbClr val="F9F7F4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  </a:t>
            </a:r>
            <a:r>
              <a:rPr lang="en-US" sz="850" dirty="0">
                <a:solidFill>
                  <a:srgbClr val="6B8F67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"symbolic_tags"</a:t>
            </a:r>
            <a:r>
              <a:rPr lang="en-US" sz="850" dirty="0">
                <a:solidFill>
                  <a:srgbClr val="F9F7F4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: [
</a:t>
            </a:r>
            <a:r>
              <a:rPr lang="en-US" sz="850" dirty="0">
                <a:solidFill>
                  <a:srgbClr val="F9F7F4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    </a:t>
            </a:r>
            <a:r>
              <a:rPr lang="en-US" sz="850" dirty="0">
                <a:solidFill>
                  <a:srgbClr val="C4922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"evergreen"</a:t>
            </a:r>
            <a:r>
              <a:rPr lang="en-US" sz="850" dirty="0">
                <a:solidFill>
                  <a:srgbClr val="F9F7F4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,
</a:t>
            </a:r>
            <a:r>
              <a:rPr lang="en-US" sz="850" dirty="0">
                <a:solidFill>
                  <a:srgbClr val="F9F7F4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    </a:t>
            </a:r>
            <a:r>
              <a:rPr lang="en-US" sz="850" dirty="0">
                <a:solidFill>
                  <a:srgbClr val="C4922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"berries"</a:t>
            </a:r>
            <a:r>
              <a:rPr lang="en-US" sz="850" dirty="0">
                <a:solidFill>
                  <a:srgbClr val="F9F7F4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,
</a:t>
            </a:r>
            <a:r>
              <a:rPr lang="en-US" sz="850" dirty="0">
                <a:solidFill>
                  <a:srgbClr val="F9F7F4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    </a:t>
            </a:r>
            <a:r>
              <a:rPr lang="en-US" sz="850" dirty="0">
                <a:solidFill>
                  <a:srgbClr val="C4922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"pine_cone"</a:t>
            </a:r>
            <a:r>
              <a:rPr lang="en-US" sz="850" dirty="0">
                <a:solidFill>
                  <a:srgbClr val="F9F7F4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
</a:t>
            </a:r>
            <a:r>
              <a:rPr lang="en-US" sz="850" dirty="0">
                <a:solidFill>
                  <a:srgbClr val="F9F7F4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]
</a:t>
            </a:r>
            <a:r>
              <a:rPr lang="en-US" sz="850" dirty="0">
                <a:solidFill>
                  <a:srgbClr val="F9F7F4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}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571500"/>
            <a:ext cx="8001000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spc="1" kern="0" dirty="0">
                <a:solidFill>
                  <a:srgbClr val="4A6741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02–03 — SIGNAL &amp; INVENTORY LAYERS</a:t>
            </a:r>
            <a:endParaRPr lang="en-US" sz="700" dirty="0"/>
          </a:p>
        </p:txBody>
      </p:sp>
      <p:sp>
        <p:nvSpPr>
          <p:cNvPr id="4" name="Text 1"/>
          <p:cNvSpPr/>
          <p:nvPr/>
        </p:nvSpPr>
        <p:spPr>
          <a:xfrm>
            <a:off x="571500" y="807244"/>
            <a:ext cx="8001000" cy="41143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450" b="1" dirty="0">
                <a:solidFill>
                  <a:srgbClr val="1A1A1A"/>
                </a:solidFill>
                <a:latin typeface="Cormorant Garamond SemiBold" pitchFamily="34" charset="0"/>
                <a:ea typeface="Cormorant Garamond SemiBold" pitchFamily="34" charset="-122"/>
                <a:cs typeface="Cormorant Garamond SemiBold" pitchFamily="34" charset="-120"/>
              </a:rPr>
              <a:t>Emotion becomes palette. Inventory becomes possibility.</a:t>
            </a:r>
            <a:endParaRPr lang="en-US" sz="2450" dirty="0"/>
          </a:p>
        </p:txBody>
      </p:sp>
      <p:sp>
        <p:nvSpPr>
          <p:cNvPr id="5" name="Shape 2"/>
          <p:cNvSpPr/>
          <p:nvPr/>
        </p:nvSpPr>
        <p:spPr>
          <a:xfrm>
            <a:off x="571500" y="1390129"/>
            <a:ext cx="8001000" cy="3467621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6" name="Shape 3"/>
          <p:cNvSpPr/>
          <p:nvPr/>
        </p:nvSpPr>
        <p:spPr>
          <a:xfrm>
            <a:off x="571500" y="1390129"/>
            <a:ext cx="8001000" cy="7144"/>
          </a:xfrm>
          <a:prstGeom prst="rect">
            <a:avLst/>
          </a:prstGeom>
          <a:solidFill>
            <a:srgbClr val="D0D0D0"/>
          </a:solidFill>
          <a:ln/>
        </p:spPr>
      </p:sp>
      <p:sp>
        <p:nvSpPr>
          <p:cNvPr id="7" name="Text 4"/>
          <p:cNvSpPr/>
          <p:nvPr/>
        </p:nvSpPr>
        <p:spPr>
          <a:xfrm>
            <a:off x="571500" y="1561579"/>
            <a:ext cx="3829050" cy="275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ormorant Garamond SemiBold" pitchFamily="34" charset="0"/>
                <a:ea typeface="Cormorant Garamond SemiBold" pitchFamily="34" charset="-122"/>
                <a:cs typeface="Cormorant Garamond SemiBold" pitchFamily="34" charset="-120"/>
              </a:rPr>
              <a:t>Emotion Mapper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71500" y="1893763"/>
            <a:ext cx="3829050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Converts emotional intent into concrete design signals. A "nostalgic warm" emotion produces a deep red, pine green, and gold palette with moderate density bias and 0.7 contrast.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571500" y="2625217"/>
            <a:ext cx="3829050" cy="1032272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0" name="Text 7"/>
          <p:cNvSpPr/>
          <p:nvPr/>
        </p:nvSpPr>
        <p:spPr>
          <a:xfrm>
            <a:off x="571500" y="2625217"/>
            <a:ext cx="3829050" cy="1032272"/>
          </a:xfrm>
          <a:prstGeom prst="rect">
            <a:avLst/>
          </a:prstGeom>
          <a:noFill/>
          <a:ln/>
        </p:spPr>
        <p:txBody>
          <a:bodyPr wrap="square" lIns="136017" tIns="136017" rIns="136017" bIns="136017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F9F7F4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{
</a:t>
            </a:r>
            <a:r>
              <a:rPr lang="en-US" sz="800" dirty="0">
                <a:solidFill>
                  <a:srgbClr val="F9F7F4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  </a:t>
            </a:r>
            <a:r>
              <a:rPr lang="en-US" sz="800" dirty="0">
                <a:solidFill>
                  <a:srgbClr val="6B8F67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"palette"</a:t>
            </a:r>
            <a:r>
              <a:rPr lang="en-US" sz="800" dirty="0">
                <a:solidFill>
                  <a:srgbClr val="F9F7F4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: [</a:t>
            </a:r>
            <a:r>
              <a:rPr lang="en-US" sz="800" dirty="0">
                <a:solidFill>
                  <a:srgbClr val="C4922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"deep_red"</a:t>
            </a:r>
            <a:r>
              <a:rPr lang="en-US" sz="800" dirty="0">
                <a:solidFill>
                  <a:srgbClr val="F9F7F4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, </a:t>
            </a:r>
            <a:r>
              <a:rPr lang="en-US" sz="800" dirty="0">
                <a:solidFill>
                  <a:srgbClr val="C4922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"pine_green"</a:t>
            </a:r>
            <a:r>
              <a:rPr lang="en-US" sz="800" dirty="0">
                <a:solidFill>
                  <a:srgbClr val="F9F7F4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, </a:t>
            </a:r>
            <a:r>
              <a:rPr lang="en-US" sz="800" dirty="0">
                <a:solidFill>
                  <a:srgbClr val="C4922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"gold"</a:t>
            </a:r>
            <a:r>
              <a:rPr lang="en-US" sz="800" dirty="0">
                <a:solidFill>
                  <a:srgbClr val="F9F7F4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],
</a:t>
            </a:r>
            <a:r>
              <a:rPr lang="en-US" sz="800" dirty="0">
                <a:solidFill>
                  <a:srgbClr val="F9F7F4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  </a:t>
            </a:r>
            <a:r>
              <a:rPr lang="en-US" sz="800" dirty="0">
                <a:solidFill>
                  <a:srgbClr val="6B8F67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"contrast"</a:t>
            </a:r>
            <a:r>
              <a:rPr lang="en-US" sz="800" dirty="0">
                <a:solidFill>
                  <a:srgbClr val="F9F7F4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: </a:t>
            </a:r>
            <a:r>
              <a:rPr lang="en-US" sz="800" dirty="0">
                <a:solidFill>
                  <a:srgbClr val="A8A8A8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0.7</a:t>
            </a:r>
            <a:r>
              <a:rPr lang="en-US" sz="800" dirty="0">
                <a:solidFill>
                  <a:srgbClr val="F9F7F4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,
</a:t>
            </a:r>
            <a:r>
              <a:rPr lang="en-US" sz="800" dirty="0">
                <a:solidFill>
                  <a:srgbClr val="F9F7F4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  </a:t>
            </a:r>
            <a:r>
              <a:rPr lang="en-US" sz="800" dirty="0">
                <a:solidFill>
                  <a:srgbClr val="6B8F67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"density_bias"</a:t>
            </a:r>
            <a:r>
              <a:rPr lang="en-US" sz="800" dirty="0">
                <a:solidFill>
                  <a:srgbClr val="F9F7F4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: </a:t>
            </a:r>
            <a:r>
              <a:rPr lang="en-US" sz="800" dirty="0">
                <a:solidFill>
                  <a:srgbClr val="C4922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"moderate"</a:t>
            </a:r>
            <a:r>
              <a:rPr lang="en-US" sz="800" dirty="0">
                <a:solidFill>
                  <a:srgbClr val="F9F7F4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
</a:t>
            </a:r>
            <a:r>
              <a:rPr lang="en-US" sz="800" dirty="0">
                <a:solidFill>
                  <a:srgbClr val="F9F7F4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}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4750594" y="1561579"/>
            <a:ext cx="3821906" cy="275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ormorant Garamond SemiBold" pitchFamily="34" charset="0"/>
                <a:ea typeface="Cormorant Garamond SemiBold" pitchFamily="34" charset="-122"/>
                <a:cs typeface="Cormorant Garamond SemiBold" pitchFamily="34" charset="-120"/>
              </a:rPr>
              <a:t>Inventory Analyzer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4750594" y="1893763"/>
            <a:ext cx="3821906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Converts raw stem inventory into five role pools. Calculates average bloom diameter, stem length, and a flexibility score that determines how many formula options are viable.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4750594" y="2625217"/>
            <a:ext cx="3821906" cy="1353741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4" name="Text 11"/>
          <p:cNvSpPr/>
          <p:nvPr/>
        </p:nvSpPr>
        <p:spPr>
          <a:xfrm>
            <a:off x="4750594" y="2625217"/>
            <a:ext cx="3821906" cy="1353741"/>
          </a:xfrm>
          <a:prstGeom prst="rect">
            <a:avLst/>
          </a:prstGeom>
          <a:noFill/>
          <a:ln/>
        </p:spPr>
        <p:txBody>
          <a:bodyPr wrap="square" lIns="136017" tIns="136017" rIns="136017" bIns="136017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F9F7F4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{
</a:t>
            </a:r>
            <a:r>
              <a:rPr lang="en-US" sz="800" dirty="0">
                <a:solidFill>
                  <a:srgbClr val="F9F7F4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  </a:t>
            </a:r>
            <a:r>
              <a:rPr lang="en-US" sz="800" dirty="0">
                <a:solidFill>
                  <a:srgbClr val="6B8F67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"focal"</a:t>
            </a:r>
            <a:r>
              <a:rPr lang="en-US" sz="800" dirty="0">
                <a:solidFill>
                  <a:srgbClr val="F9F7F4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: </a:t>
            </a:r>
            <a:r>
              <a:rPr lang="en-US" sz="800" dirty="0">
                <a:solidFill>
                  <a:srgbClr val="A8A8A8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7</a:t>
            </a:r>
            <a:r>
              <a:rPr lang="en-US" sz="800" dirty="0">
                <a:solidFill>
                  <a:srgbClr val="F9F7F4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,
</a:t>
            </a:r>
            <a:r>
              <a:rPr lang="en-US" sz="800" dirty="0">
                <a:solidFill>
                  <a:srgbClr val="F9F7F4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  </a:t>
            </a:r>
            <a:r>
              <a:rPr lang="en-US" sz="800" dirty="0">
                <a:solidFill>
                  <a:srgbClr val="6B8F67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"secondary"</a:t>
            </a:r>
            <a:r>
              <a:rPr lang="en-US" sz="800" dirty="0">
                <a:solidFill>
                  <a:srgbClr val="F9F7F4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: </a:t>
            </a:r>
            <a:r>
              <a:rPr lang="en-US" sz="800" dirty="0">
                <a:solidFill>
                  <a:srgbClr val="A8A8A8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12</a:t>
            </a:r>
            <a:r>
              <a:rPr lang="en-US" sz="800" dirty="0">
                <a:solidFill>
                  <a:srgbClr val="F9F7F4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,
</a:t>
            </a:r>
            <a:r>
              <a:rPr lang="en-US" sz="800" dirty="0">
                <a:solidFill>
                  <a:srgbClr val="F9F7F4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  </a:t>
            </a:r>
            <a:r>
              <a:rPr lang="en-US" sz="800" dirty="0">
                <a:solidFill>
                  <a:srgbClr val="6B8F67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"accent"</a:t>
            </a:r>
            <a:r>
              <a:rPr lang="en-US" sz="800" dirty="0">
                <a:solidFill>
                  <a:srgbClr val="F9F7F4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: </a:t>
            </a:r>
            <a:r>
              <a:rPr lang="en-US" sz="800" dirty="0">
                <a:solidFill>
                  <a:srgbClr val="A8A8A8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9</a:t>
            </a:r>
            <a:r>
              <a:rPr lang="en-US" sz="800" dirty="0">
                <a:solidFill>
                  <a:srgbClr val="F9F7F4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,
</a:t>
            </a:r>
            <a:r>
              <a:rPr lang="en-US" sz="800" dirty="0">
                <a:solidFill>
                  <a:srgbClr val="F9F7F4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  </a:t>
            </a:r>
            <a:r>
              <a:rPr lang="en-US" sz="800" dirty="0">
                <a:solidFill>
                  <a:srgbClr val="6B8F67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"filler"</a:t>
            </a:r>
            <a:r>
              <a:rPr lang="en-US" sz="800" dirty="0">
                <a:solidFill>
                  <a:srgbClr val="F9F7F4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: </a:t>
            </a:r>
            <a:r>
              <a:rPr lang="en-US" sz="800" dirty="0">
                <a:solidFill>
                  <a:srgbClr val="A8A8A8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15</a:t>
            </a:r>
            <a:r>
              <a:rPr lang="en-US" sz="800" dirty="0">
                <a:solidFill>
                  <a:srgbClr val="F9F7F4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,
</a:t>
            </a:r>
            <a:r>
              <a:rPr lang="en-US" sz="800" dirty="0">
                <a:solidFill>
                  <a:srgbClr val="F9F7F4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  </a:t>
            </a:r>
            <a:r>
              <a:rPr lang="en-US" sz="800" dirty="0">
                <a:solidFill>
                  <a:srgbClr val="6B8F67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"greenery"</a:t>
            </a:r>
            <a:r>
              <a:rPr lang="en-US" sz="800" dirty="0">
                <a:solidFill>
                  <a:srgbClr val="F9F7F4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: </a:t>
            </a:r>
            <a:r>
              <a:rPr lang="en-US" sz="800" dirty="0">
                <a:solidFill>
                  <a:srgbClr val="A8A8A8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33</a:t>
            </a:r>
            <a:r>
              <a:rPr lang="en-US" sz="800" dirty="0">
                <a:solidFill>
                  <a:srgbClr val="F9F7F4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
</a:t>
            </a:r>
            <a:r>
              <a:rPr lang="en-US" sz="800" dirty="0">
                <a:solidFill>
                  <a:srgbClr val="F9F7F4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}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4750594" y="4064682"/>
            <a:ext cx="1203722" cy="221456"/>
          </a:xfrm>
          <a:prstGeom prst="rect">
            <a:avLst/>
          </a:prstGeom>
          <a:solidFill>
            <a:srgbClr val="FFFFFF"/>
          </a:solidFill>
          <a:ln w="9144">
            <a:solidFill>
              <a:srgbClr val="E8E8E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750594" y="4064682"/>
            <a:ext cx="1203722" cy="221456"/>
          </a:xfrm>
          <a:prstGeom prst="rect">
            <a:avLst/>
          </a:prstGeom>
          <a:noFill/>
          <a:ln/>
        </p:spPr>
        <p:txBody>
          <a:bodyPr wrap="none" lIns="102108" tIns="51054" rIns="102108" bIns="51054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4A4A4A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Flexibility Score </a:t>
            </a:r>
            <a:r>
              <a:rPr lang="en-US" sz="700" b="1" dirty="0">
                <a:solidFill>
                  <a:srgbClr val="4A6741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0.73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771637"/>
            <a:ext cx="3571875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spc="1" kern="0" dirty="0">
                <a:solidFill>
                  <a:srgbClr val="4A6741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04 — SELECTION LAYER</a:t>
            </a:r>
            <a:endParaRPr lang="en-US" sz="700" dirty="0"/>
          </a:p>
        </p:txBody>
      </p:sp>
      <p:sp>
        <p:nvSpPr>
          <p:cNvPr id="4" name="Text 1"/>
          <p:cNvSpPr/>
          <p:nvPr/>
        </p:nvSpPr>
        <p:spPr>
          <a:xfrm>
            <a:off x="571500" y="1007380"/>
            <a:ext cx="3571875" cy="1234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450" b="1" dirty="0">
                <a:solidFill>
                  <a:srgbClr val="1A1A1A"/>
                </a:solidFill>
                <a:latin typeface="Cormorant Garamond SemiBold" pitchFamily="34" charset="0"/>
                <a:ea typeface="Cormorant Garamond SemiBold" pitchFamily="34" charset="-122"/>
                <a:cs typeface="Cormorant Garamond SemiBold" pitchFamily="34" charset="-120"/>
              </a:rPr>
              <a:t>The strategic brain of the pipeline selects the optimal design structure.</a:t>
            </a:r>
            <a:endParaRPr lang="en-US" sz="2450" dirty="0"/>
          </a:p>
        </p:txBody>
      </p:sp>
      <p:sp>
        <p:nvSpPr>
          <p:cNvPr id="5" name="Text 2"/>
          <p:cNvSpPr/>
          <p:nvPr/>
        </p:nvSpPr>
        <p:spPr>
          <a:xfrm>
            <a:off x="571500" y="2413136"/>
            <a:ext cx="3571875" cy="8228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Formula Selector scores every registered formula across six weighted dimensions. The formula with the highest composite score is selected. Confidence is recorded in the Blueprint DNA.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571500" y="3521757"/>
            <a:ext cx="3571875" cy="950119"/>
          </a:xfrm>
          <a:prstGeom prst="rect">
            <a:avLst/>
          </a:prstGeom>
          <a:solidFill>
            <a:srgbClr val="EEF2ED"/>
          </a:solidFill>
          <a:ln/>
        </p:spPr>
      </p:sp>
      <p:sp>
        <p:nvSpPr>
          <p:cNvPr id="7" name="Shape 4"/>
          <p:cNvSpPr/>
          <p:nvPr/>
        </p:nvSpPr>
        <p:spPr>
          <a:xfrm>
            <a:off x="571500" y="3521757"/>
            <a:ext cx="28575" cy="950119"/>
          </a:xfrm>
          <a:prstGeom prst="rect">
            <a:avLst/>
          </a:prstGeom>
          <a:solidFill>
            <a:srgbClr val="4A6741"/>
          </a:solidFill>
          <a:ln/>
        </p:spPr>
      </p:sp>
      <p:sp>
        <p:nvSpPr>
          <p:cNvPr id="8" name="Text 5"/>
          <p:cNvSpPr/>
          <p:nvPr/>
        </p:nvSpPr>
        <p:spPr>
          <a:xfrm>
            <a:off x="742950" y="3693207"/>
            <a:ext cx="3228975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spc="1" kern="0" dirty="0">
                <a:solidFill>
                  <a:srgbClr val="4A6741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SELECTION RESULT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742950" y="3871801"/>
            <a:ext cx="3228975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Selected Formula: </a:t>
            </a:r>
            <a:r>
              <a:rPr lang="en-US" sz="1050" dirty="0">
                <a:solidFill>
                  <a:srgbClr val="C4922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"crescent"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742950" y="4114688"/>
            <a:ext cx="3228975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Confidence Score: </a:t>
            </a:r>
            <a:r>
              <a:rPr lang="en-US" sz="1050" dirty="0">
                <a:solidFill>
                  <a:srgbClr val="C4922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0.84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572000" y="571500"/>
            <a:ext cx="4000500" cy="4100513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4572000" y="571500"/>
            <a:ext cx="7144" cy="4100513"/>
          </a:xfrm>
          <a:prstGeom prst="rect">
            <a:avLst/>
          </a:prstGeom>
          <a:solidFill>
            <a:srgbClr val="D0D0D0"/>
          </a:solidFill>
          <a:ln/>
        </p:spPr>
      </p:sp>
      <p:sp>
        <p:nvSpPr>
          <p:cNvPr id="13" name="Text 10"/>
          <p:cNvSpPr/>
          <p:nvPr/>
        </p:nvSpPr>
        <p:spPr>
          <a:xfrm>
            <a:off x="5000625" y="1405533"/>
            <a:ext cx="3571875" cy="275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ormorant Garamond SemiBold" pitchFamily="34" charset="0"/>
                <a:ea typeface="Cormorant Garamond SemiBold" pitchFamily="34" charset="-122"/>
                <a:cs typeface="Cormorant Garamond SemiBold" pitchFamily="34" charset="-120"/>
              </a:rPr>
              <a:t>Scoring Model Weights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5000625" y="1914525"/>
            <a:ext cx="1428750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4A4A4A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Inventory Feasibility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6429375" y="1955602"/>
            <a:ext cx="1714500" cy="57150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16" name="Text 13"/>
          <p:cNvSpPr/>
          <p:nvPr/>
        </p:nvSpPr>
        <p:spPr>
          <a:xfrm>
            <a:off x="8143875" y="1909167"/>
            <a:ext cx="428625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A1A1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30%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5000625" y="2235994"/>
            <a:ext cx="1428750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4A4A4A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Emotional Match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6429375" y="2277070"/>
            <a:ext cx="1714500" cy="57150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19" name="Text 16"/>
          <p:cNvSpPr/>
          <p:nvPr/>
        </p:nvSpPr>
        <p:spPr>
          <a:xfrm>
            <a:off x="8143875" y="2230636"/>
            <a:ext cx="428625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A1A1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20%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5000625" y="2557463"/>
            <a:ext cx="1428750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4A4A4A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Silhouette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6429375" y="2598539"/>
            <a:ext cx="1714500" cy="57150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22" name="Text 19"/>
          <p:cNvSpPr/>
          <p:nvPr/>
        </p:nvSpPr>
        <p:spPr>
          <a:xfrm>
            <a:off x="8143875" y="2552105"/>
            <a:ext cx="428625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A1A1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15%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5000625" y="2878931"/>
            <a:ext cx="1428750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4A4A4A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Negative Space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>
            <a:off x="6429375" y="2920008"/>
            <a:ext cx="1714500" cy="57150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25" name="Text 22"/>
          <p:cNvSpPr/>
          <p:nvPr/>
        </p:nvSpPr>
        <p:spPr>
          <a:xfrm>
            <a:off x="8143875" y="2873573"/>
            <a:ext cx="428625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A1A1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15%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5000625" y="3200400"/>
            <a:ext cx="1428750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4A4A4A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Complexity</a:t>
            </a:r>
            <a:endParaRPr lang="en-US" sz="850" dirty="0"/>
          </a:p>
        </p:txBody>
      </p:sp>
      <p:sp>
        <p:nvSpPr>
          <p:cNvPr id="27" name="Shape 24"/>
          <p:cNvSpPr/>
          <p:nvPr/>
        </p:nvSpPr>
        <p:spPr>
          <a:xfrm>
            <a:off x="6429375" y="3241477"/>
            <a:ext cx="1714500" cy="57150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28" name="Text 25"/>
          <p:cNvSpPr/>
          <p:nvPr/>
        </p:nvSpPr>
        <p:spPr>
          <a:xfrm>
            <a:off x="8143875" y="3195042"/>
            <a:ext cx="428625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A1A1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10%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5000625" y="3521869"/>
            <a:ext cx="1428750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4A4A4A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Genome Compatibility</a:t>
            </a:r>
            <a:endParaRPr lang="en-US" sz="850" dirty="0"/>
          </a:p>
        </p:txBody>
      </p:sp>
      <p:sp>
        <p:nvSpPr>
          <p:cNvPr id="30" name="Shape 27"/>
          <p:cNvSpPr/>
          <p:nvPr/>
        </p:nvSpPr>
        <p:spPr>
          <a:xfrm>
            <a:off x="6429375" y="3562945"/>
            <a:ext cx="1714500" cy="57150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31" name="Text 28"/>
          <p:cNvSpPr/>
          <p:nvPr/>
        </p:nvSpPr>
        <p:spPr>
          <a:xfrm>
            <a:off x="8143875" y="3516511"/>
            <a:ext cx="428625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A1A1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10%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6325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571500"/>
            <a:ext cx="8001000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spc="1" kern="0" dirty="0">
                <a:solidFill>
                  <a:srgbClr val="4A6741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05–06 — GEOMETRY &amp; ZONE LAYERS</a:t>
            </a:r>
            <a:endParaRPr lang="en-US" sz="700" dirty="0"/>
          </a:p>
        </p:txBody>
      </p:sp>
      <p:sp>
        <p:nvSpPr>
          <p:cNvPr id="4" name="Text 1"/>
          <p:cNvSpPr/>
          <p:nvPr/>
        </p:nvSpPr>
        <p:spPr>
          <a:xfrm>
            <a:off x="571500" y="807244"/>
            <a:ext cx="7143750" cy="8228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450" b="1" dirty="0">
                <a:solidFill>
                  <a:srgbClr val="1A1A1A"/>
                </a:solidFill>
                <a:latin typeface="Cormorant Garamond SemiBold" pitchFamily="34" charset="0"/>
                <a:ea typeface="Cormorant Garamond SemiBold" pitchFamily="34" charset="-122"/>
                <a:cs typeface="Cormorant Garamond SemiBold" pitchFamily="34" charset="-120"/>
              </a:rPr>
              <a:t>Polar coordinates define where the design lives — and where it breathes.</a:t>
            </a:r>
            <a:endParaRPr lang="en-US" sz="2450" dirty="0"/>
          </a:p>
        </p:txBody>
      </p:sp>
      <p:sp>
        <p:nvSpPr>
          <p:cNvPr id="5" name="Shape 2"/>
          <p:cNvSpPr/>
          <p:nvPr/>
        </p:nvSpPr>
        <p:spPr>
          <a:xfrm>
            <a:off x="571500" y="1801564"/>
            <a:ext cx="8001000" cy="2424522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6" name="Shape 3"/>
          <p:cNvSpPr/>
          <p:nvPr/>
        </p:nvSpPr>
        <p:spPr>
          <a:xfrm>
            <a:off x="571500" y="1801564"/>
            <a:ext cx="8001000" cy="7144"/>
          </a:xfrm>
          <a:prstGeom prst="rect">
            <a:avLst/>
          </a:prstGeom>
          <a:solidFill>
            <a:srgbClr val="D0D0D0"/>
          </a:solidFill>
          <a:ln/>
        </p:spPr>
      </p:sp>
      <p:sp>
        <p:nvSpPr>
          <p:cNvPr id="7" name="Shape 4"/>
          <p:cNvSpPr/>
          <p:nvPr/>
        </p:nvSpPr>
        <p:spPr>
          <a:xfrm>
            <a:off x="571500" y="4218942"/>
            <a:ext cx="8001000" cy="7144"/>
          </a:xfrm>
          <a:prstGeom prst="rect">
            <a:avLst/>
          </a:prstGeom>
          <a:solidFill>
            <a:srgbClr val="D0D0D0"/>
          </a:solidFill>
          <a:ln/>
        </p:spPr>
      </p:sp>
      <p:sp>
        <p:nvSpPr>
          <p:cNvPr id="8" name="Text 5"/>
          <p:cNvSpPr/>
          <p:nvPr/>
        </p:nvSpPr>
        <p:spPr>
          <a:xfrm>
            <a:off x="571500" y="1887289"/>
            <a:ext cx="3707606" cy="275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ormorant Garamond SemiBold" pitchFamily="34" charset="0"/>
                <a:ea typeface="Cormorant Garamond SemiBold" pitchFamily="34" charset="-122"/>
                <a:cs typeface="Cormorant Garamond SemiBold" pitchFamily="34" charset="-120"/>
              </a:rPr>
              <a:t>Anchor Generator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71500" y="2248049"/>
            <a:ext cx="3707606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Transforms formula anchor group definitions into actual polar coordinates using seeded randomness. Every anchor is reproducible from the same seed.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571500" y="3093802"/>
            <a:ext cx="3707606" cy="289322"/>
          </a:xfrm>
          <a:prstGeom prst="rect">
            <a:avLst/>
          </a:prstGeom>
          <a:solidFill>
            <a:srgbClr val="EEF2ED"/>
          </a:solidFill>
          <a:ln/>
        </p:spPr>
      </p:sp>
      <p:sp>
        <p:nvSpPr>
          <p:cNvPr id="11" name="Text 8"/>
          <p:cNvSpPr/>
          <p:nvPr/>
        </p:nvSpPr>
        <p:spPr>
          <a:xfrm>
            <a:off x="685800" y="3165239"/>
            <a:ext cx="1014413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spc="1" kern="0" dirty="0">
                <a:solidFill>
                  <a:srgbClr val="4A6741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PRIMARY CLUSTER</a:t>
            </a:r>
            <a:endParaRPr lang="en-US" sz="750" dirty="0"/>
          </a:p>
        </p:txBody>
      </p:sp>
      <p:sp>
        <p:nvSpPr>
          <p:cNvPr id="12" name="Text 9"/>
          <p:cNvSpPr/>
          <p:nvPr/>
        </p:nvSpPr>
        <p:spPr>
          <a:xfrm>
            <a:off x="2878931" y="3165239"/>
            <a:ext cx="1285875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θ = 218.3°, r = 0.73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571500" y="3440274"/>
            <a:ext cx="3707606" cy="289322"/>
          </a:xfrm>
          <a:prstGeom prst="rect">
            <a:avLst/>
          </a:prstGeom>
          <a:solidFill>
            <a:srgbClr val="EEF2ED"/>
          </a:solidFill>
          <a:ln/>
        </p:spPr>
      </p:sp>
      <p:sp>
        <p:nvSpPr>
          <p:cNvPr id="14" name="Text 11"/>
          <p:cNvSpPr/>
          <p:nvPr/>
        </p:nvSpPr>
        <p:spPr>
          <a:xfrm>
            <a:off x="685800" y="3511711"/>
            <a:ext cx="1192337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spc="1" kern="0" dirty="0">
                <a:solidFill>
                  <a:srgbClr val="4A6741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SECONDARY CLUSTER</a:t>
            </a:r>
            <a:endParaRPr lang="en-US" sz="750" dirty="0"/>
          </a:p>
        </p:txBody>
      </p:sp>
      <p:sp>
        <p:nvSpPr>
          <p:cNvPr id="15" name="Text 12"/>
          <p:cNvSpPr/>
          <p:nvPr/>
        </p:nvSpPr>
        <p:spPr>
          <a:xfrm>
            <a:off x="2878931" y="3511711"/>
            <a:ext cx="1285875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θ = 247.1°, r = 0.71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571500" y="3786746"/>
            <a:ext cx="3707606" cy="282178"/>
          </a:xfrm>
          <a:prstGeom prst="rect">
            <a:avLst/>
          </a:prstGeom>
          <a:solidFill>
            <a:srgbClr val="EEF2ED"/>
          </a:solidFill>
          <a:ln/>
        </p:spPr>
      </p:sp>
      <p:sp>
        <p:nvSpPr>
          <p:cNvPr id="17" name="Text 14"/>
          <p:cNvSpPr/>
          <p:nvPr/>
        </p:nvSpPr>
        <p:spPr>
          <a:xfrm>
            <a:off x="685800" y="3858183"/>
            <a:ext cx="277211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spc="1" kern="0" dirty="0">
                <a:solidFill>
                  <a:srgbClr val="4A6741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SEED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3650456" y="3858183"/>
            <a:ext cx="514350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92384723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4857750" y="1887289"/>
            <a:ext cx="3714750" cy="275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ormorant Garamond SemiBold" pitchFamily="34" charset="0"/>
                <a:ea typeface="Cormorant Garamond SemiBold" pitchFamily="34" charset="-122"/>
                <a:cs typeface="Cormorant Garamond SemiBold" pitchFamily="34" charset="-120"/>
              </a:rPr>
              <a:t>Zone Field Builder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4857750" y="2248049"/>
            <a:ext cx="3714750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Divides the wreath ring into angular sectors. Focal zones receive density targets of 0.9. The silence arc — intentional negative space — receives a density target of 0.1.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4857750" y="3093802"/>
            <a:ext cx="3714750" cy="282178"/>
          </a:xfrm>
          <a:prstGeom prst="rect">
            <a:avLst/>
          </a:prstGeom>
          <a:solidFill>
            <a:srgbClr val="EEF2ED"/>
          </a:solidFill>
          <a:ln/>
        </p:spPr>
      </p:sp>
      <p:sp>
        <p:nvSpPr>
          <p:cNvPr id="22" name="Text 19"/>
          <p:cNvSpPr/>
          <p:nvPr/>
        </p:nvSpPr>
        <p:spPr>
          <a:xfrm>
            <a:off x="4972050" y="3165239"/>
            <a:ext cx="616539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spc="1" kern="0" dirty="0">
                <a:solidFill>
                  <a:srgbClr val="4A6741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FOCAL ARC</a:t>
            </a:r>
            <a:endParaRPr lang="en-US" sz="750" dirty="0"/>
          </a:p>
        </p:txBody>
      </p:sp>
      <p:sp>
        <p:nvSpPr>
          <p:cNvPr id="23" name="Text 20"/>
          <p:cNvSpPr/>
          <p:nvPr/>
        </p:nvSpPr>
        <p:spPr>
          <a:xfrm>
            <a:off x="7043738" y="3165239"/>
            <a:ext cx="1414463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210°–260°, density 0.9</a:t>
            </a:r>
            <a:endParaRPr lang="en-US" sz="800" dirty="0"/>
          </a:p>
        </p:txBody>
      </p:sp>
      <p:sp>
        <p:nvSpPr>
          <p:cNvPr id="24" name="Shape 21"/>
          <p:cNvSpPr/>
          <p:nvPr/>
        </p:nvSpPr>
        <p:spPr>
          <a:xfrm>
            <a:off x="4857750" y="3433130"/>
            <a:ext cx="3714750" cy="282178"/>
          </a:xfrm>
          <a:prstGeom prst="rect">
            <a:avLst/>
          </a:prstGeom>
          <a:solidFill>
            <a:srgbClr val="EEF2ED"/>
          </a:solidFill>
          <a:ln/>
        </p:spPr>
      </p:sp>
      <p:sp>
        <p:nvSpPr>
          <p:cNvPr id="25" name="Text 22"/>
          <p:cNvSpPr/>
          <p:nvPr/>
        </p:nvSpPr>
        <p:spPr>
          <a:xfrm>
            <a:off x="4972050" y="3504567"/>
            <a:ext cx="712254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spc="1" kern="0" dirty="0">
                <a:solidFill>
                  <a:srgbClr val="4A6741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SILENCE ARC</a:t>
            </a:r>
            <a:endParaRPr lang="en-US" sz="750" dirty="0"/>
          </a:p>
        </p:txBody>
      </p:sp>
      <p:sp>
        <p:nvSpPr>
          <p:cNvPr id="26" name="Text 23"/>
          <p:cNvSpPr/>
          <p:nvPr/>
        </p:nvSpPr>
        <p:spPr>
          <a:xfrm>
            <a:off x="7043738" y="3504567"/>
            <a:ext cx="1414463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280°–330°, density 0.1</a:t>
            </a:r>
            <a:endParaRPr lang="en-US" sz="800" dirty="0"/>
          </a:p>
        </p:txBody>
      </p:sp>
      <p:sp>
        <p:nvSpPr>
          <p:cNvPr id="27" name="Shape 24"/>
          <p:cNvSpPr/>
          <p:nvPr/>
        </p:nvSpPr>
        <p:spPr>
          <a:xfrm>
            <a:off x="571500" y="4326099"/>
            <a:ext cx="8001000" cy="651421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8" name="Shape 25"/>
          <p:cNvSpPr/>
          <p:nvPr/>
        </p:nvSpPr>
        <p:spPr>
          <a:xfrm>
            <a:off x="571500" y="4326099"/>
            <a:ext cx="28575" cy="651421"/>
          </a:xfrm>
          <a:prstGeom prst="rect">
            <a:avLst/>
          </a:prstGeom>
          <a:solidFill>
            <a:srgbClr val="C4922A"/>
          </a:solidFill>
          <a:ln/>
        </p:spPr>
      </p:sp>
      <p:sp>
        <p:nvSpPr>
          <p:cNvPr id="29" name="Text 26"/>
          <p:cNvSpPr/>
          <p:nvPr/>
        </p:nvSpPr>
        <p:spPr>
          <a:xfrm>
            <a:off x="742950" y="4591087"/>
            <a:ext cx="749424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spc="1" kern="0" dirty="0">
                <a:solidFill>
                  <a:srgbClr val="C4922A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KEY INSIGHT</a:t>
            </a:r>
            <a:endParaRPr lang="en-US" sz="700" dirty="0"/>
          </a:p>
        </p:txBody>
      </p:sp>
      <p:sp>
        <p:nvSpPr>
          <p:cNvPr id="30" name="Text 27"/>
          <p:cNvSpPr/>
          <p:nvPr/>
        </p:nvSpPr>
        <p:spPr>
          <a:xfrm>
            <a:off x="1606674" y="4411824"/>
            <a:ext cx="6794376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i="1" dirty="0">
                <a:solidFill>
                  <a:srgbClr val="F9F7F4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The silence arc is what makes the focal cluster feel powerful. Without intentional negative space, there is no focal point.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1005260"/>
            <a:ext cx="3171825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spc="1" kern="0" dirty="0">
                <a:solidFill>
                  <a:srgbClr val="4A6741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07 — ALLOCATION LAYER</a:t>
            </a:r>
            <a:endParaRPr lang="en-US" sz="700" dirty="0"/>
          </a:p>
        </p:txBody>
      </p:sp>
      <p:sp>
        <p:nvSpPr>
          <p:cNvPr id="4" name="Text 1"/>
          <p:cNvSpPr/>
          <p:nvPr/>
        </p:nvSpPr>
        <p:spPr>
          <a:xfrm>
            <a:off x="571500" y="1241003"/>
            <a:ext cx="3171825" cy="1234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450" b="1" dirty="0">
                <a:solidFill>
                  <a:srgbClr val="1A1A1A"/>
                </a:solidFill>
                <a:latin typeface="Cormorant Garamond SemiBold" pitchFamily="34" charset="0"/>
                <a:ea typeface="Cormorant Garamond SemiBold" pitchFamily="34" charset="-122"/>
                <a:cs typeface="Cormorant Garamond SemiBold" pitchFamily="34" charset="-120"/>
              </a:rPr>
              <a:t>The 60/30/10 rule governs every stem count decision.</a:t>
            </a:r>
            <a:endParaRPr lang="en-US" sz="2450" dirty="0"/>
          </a:p>
        </p:txBody>
      </p:sp>
      <p:sp>
        <p:nvSpPr>
          <p:cNvPr id="5" name="Text 2"/>
          <p:cNvSpPr/>
          <p:nvPr/>
        </p:nvSpPr>
        <p:spPr>
          <a:xfrm>
            <a:off x="571500" y="2646759"/>
            <a:ext cx="3171825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Stem Allocator distributes the total stem count across five roles using formula role bias ratios, adjusted for available inventory.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571500" y="3349637"/>
            <a:ext cx="3171825" cy="788603"/>
          </a:xfrm>
          <a:prstGeom prst="rect">
            <a:avLst/>
          </a:prstGeom>
          <a:solidFill>
            <a:srgbClr val="EEF2ED"/>
          </a:solidFill>
          <a:ln/>
        </p:spPr>
      </p:sp>
      <p:sp>
        <p:nvSpPr>
          <p:cNvPr id="7" name="Shape 4"/>
          <p:cNvSpPr/>
          <p:nvPr/>
        </p:nvSpPr>
        <p:spPr>
          <a:xfrm>
            <a:off x="571500" y="3349637"/>
            <a:ext cx="28575" cy="788603"/>
          </a:xfrm>
          <a:prstGeom prst="rect">
            <a:avLst/>
          </a:prstGeom>
          <a:solidFill>
            <a:srgbClr val="4A6741"/>
          </a:solidFill>
          <a:ln/>
        </p:spPr>
      </p:sp>
      <p:sp>
        <p:nvSpPr>
          <p:cNvPr id="8" name="Text 5"/>
          <p:cNvSpPr/>
          <p:nvPr/>
        </p:nvSpPr>
        <p:spPr>
          <a:xfrm>
            <a:off x="571500" y="3349637"/>
            <a:ext cx="3171825" cy="788603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The 60/30/10 proportion rule ensures structural integrity: 60% greenery skeleton, 30% secondary depth, 10% focal statement.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4171950" y="571500"/>
            <a:ext cx="4400550" cy="400050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10" name="Shape 7"/>
          <p:cNvSpPr/>
          <p:nvPr/>
        </p:nvSpPr>
        <p:spPr>
          <a:xfrm>
            <a:off x="4171950" y="571500"/>
            <a:ext cx="7144" cy="4000500"/>
          </a:xfrm>
          <a:prstGeom prst="rect">
            <a:avLst/>
          </a:prstGeom>
          <a:solidFill>
            <a:srgbClr val="D0D0D0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4147" y="737592"/>
            <a:ext cx="3964781" cy="17145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00575" y="2623542"/>
            <a:ext cx="1867923" cy="282178"/>
          </a:xfrm>
          <a:prstGeom prst="rect">
            <a:avLst/>
          </a:prstGeom>
          <a:noFill/>
          <a:ln/>
        </p:spPr>
        <p:txBody>
          <a:bodyPr wrap="square" lIns="136017" tIns="85090" rIns="136017" bIns="85090" rtlCol="0" anchor="ctr">
            <a:spAutoFit/>
          </a:bodyPr>
          <a:lstStyle/>
          <a:p>
            <a:pPr algn="l" indent="0" marL="0">
              <a:buNone/>
            </a:pPr>
            <a:r>
              <a:rPr lang="en-US" sz="700" b="1" spc="1" kern="0" dirty="0">
                <a:solidFill>
                  <a:srgbClr val="4A4A4A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ROLE</a:t>
            </a:r>
            <a:endParaRPr lang="en-US" sz="700" dirty="0"/>
          </a:p>
        </p:txBody>
      </p:sp>
      <p:sp>
        <p:nvSpPr>
          <p:cNvPr id="13" name="Text 9"/>
          <p:cNvSpPr/>
          <p:nvPr/>
        </p:nvSpPr>
        <p:spPr>
          <a:xfrm>
            <a:off x="6468498" y="2623542"/>
            <a:ext cx="1051973" cy="282178"/>
          </a:xfrm>
          <a:prstGeom prst="rect">
            <a:avLst/>
          </a:prstGeom>
          <a:noFill/>
          <a:ln/>
        </p:spPr>
        <p:txBody>
          <a:bodyPr wrap="none" lIns="136017" tIns="85090" rIns="136017" bIns="85090" rtlCol="0" anchor="ctr">
            <a:spAutoFit/>
          </a:bodyPr>
          <a:lstStyle/>
          <a:p>
            <a:pPr algn="r" indent="0" marL="0">
              <a:buNone/>
            </a:pPr>
            <a:r>
              <a:rPr lang="en-US" sz="700" b="1" spc="1" kern="0" dirty="0">
                <a:solidFill>
                  <a:srgbClr val="4A4A4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COUNT</a:t>
            </a:r>
            <a:endParaRPr lang="en-US" sz="700" dirty="0"/>
          </a:p>
        </p:txBody>
      </p:sp>
      <p:sp>
        <p:nvSpPr>
          <p:cNvPr id="14" name="Text 10"/>
          <p:cNvSpPr/>
          <p:nvPr/>
        </p:nvSpPr>
        <p:spPr>
          <a:xfrm>
            <a:off x="7520471" y="2623542"/>
            <a:ext cx="1052029" cy="282178"/>
          </a:xfrm>
          <a:prstGeom prst="rect">
            <a:avLst/>
          </a:prstGeom>
          <a:noFill/>
          <a:ln/>
        </p:spPr>
        <p:txBody>
          <a:bodyPr wrap="none" lIns="136017" tIns="85090" rIns="136017" bIns="85090" rtlCol="0" anchor="ctr">
            <a:spAutoFit/>
          </a:bodyPr>
          <a:lstStyle/>
          <a:p>
            <a:pPr algn="r" indent="0" marL="0">
              <a:buNone/>
            </a:pPr>
            <a:r>
              <a:rPr lang="en-US" sz="700" b="1" spc="1" kern="0" dirty="0">
                <a:solidFill>
                  <a:srgbClr val="4A4A4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RATIO</a:t>
            </a:r>
            <a:endParaRPr lang="en-US" sz="700" dirty="0"/>
          </a:p>
        </p:txBody>
      </p:sp>
      <p:sp>
        <p:nvSpPr>
          <p:cNvPr id="15" name="Text 11"/>
          <p:cNvSpPr/>
          <p:nvPr/>
        </p:nvSpPr>
        <p:spPr>
          <a:xfrm>
            <a:off x="4886325" y="2989659"/>
            <a:ext cx="507206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Greenery</a:t>
            </a:r>
            <a:endParaRPr lang="en-US" sz="850" dirty="0"/>
          </a:p>
        </p:txBody>
      </p:sp>
      <p:sp>
        <p:nvSpPr>
          <p:cNvPr id="16" name="Text 12"/>
          <p:cNvSpPr/>
          <p:nvPr/>
        </p:nvSpPr>
        <p:spPr>
          <a:xfrm>
            <a:off x="6468498" y="2905720"/>
            <a:ext cx="1051973" cy="303609"/>
          </a:xfrm>
          <a:prstGeom prst="rect">
            <a:avLst/>
          </a:prstGeom>
          <a:noFill/>
          <a:ln/>
        </p:spPr>
        <p:txBody>
          <a:bodyPr wrap="none" lIns="136017" tIns="85090" rIns="136017" bIns="85090" rtlCol="0" anchor="ctr">
            <a:sp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21</a:t>
            </a:r>
            <a:endParaRPr lang="en-US" sz="850" dirty="0"/>
          </a:p>
        </p:txBody>
      </p:sp>
      <p:sp>
        <p:nvSpPr>
          <p:cNvPr id="17" name="Text 13"/>
          <p:cNvSpPr/>
          <p:nvPr/>
        </p:nvSpPr>
        <p:spPr>
          <a:xfrm>
            <a:off x="7520471" y="2905720"/>
            <a:ext cx="1052029" cy="303609"/>
          </a:xfrm>
          <a:prstGeom prst="rect">
            <a:avLst/>
          </a:prstGeom>
          <a:noFill/>
          <a:ln/>
        </p:spPr>
        <p:txBody>
          <a:bodyPr wrap="none" lIns="136017" tIns="85090" rIns="136017" bIns="85090" rtlCol="0" anchor="ctr">
            <a:sp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35%</a:t>
            </a:r>
            <a:endParaRPr lang="en-US" sz="850" dirty="0"/>
          </a:p>
        </p:txBody>
      </p:sp>
      <p:sp>
        <p:nvSpPr>
          <p:cNvPr id="18" name="Text 14"/>
          <p:cNvSpPr/>
          <p:nvPr/>
        </p:nvSpPr>
        <p:spPr>
          <a:xfrm>
            <a:off x="4886325" y="3289697"/>
            <a:ext cx="589359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Secondary</a:t>
            </a:r>
            <a:endParaRPr lang="en-US" sz="850" dirty="0"/>
          </a:p>
        </p:txBody>
      </p:sp>
      <p:sp>
        <p:nvSpPr>
          <p:cNvPr id="19" name="Text 15"/>
          <p:cNvSpPr/>
          <p:nvPr/>
        </p:nvSpPr>
        <p:spPr>
          <a:xfrm>
            <a:off x="6468498" y="3209330"/>
            <a:ext cx="1051973" cy="300038"/>
          </a:xfrm>
          <a:prstGeom prst="rect">
            <a:avLst/>
          </a:prstGeom>
          <a:noFill/>
          <a:ln/>
        </p:spPr>
        <p:txBody>
          <a:bodyPr wrap="none" lIns="136017" tIns="85090" rIns="136017" bIns="85090" rtlCol="0" anchor="ctr">
            <a:sp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11</a:t>
            </a:r>
            <a:endParaRPr lang="en-US" sz="850" dirty="0"/>
          </a:p>
        </p:txBody>
      </p:sp>
      <p:sp>
        <p:nvSpPr>
          <p:cNvPr id="20" name="Text 16"/>
          <p:cNvSpPr/>
          <p:nvPr/>
        </p:nvSpPr>
        <p:spPr>
          <a:xfrm>
            <a:off x="7520471" y="3209330"/>
            <a:ext cx="1052029" cy="300038"/>
          </a:xfrm>
          <a:prstGeom prst="rect">
            <a:avLst/>
          </a:prstGeom>
          <a:noFill/>
          <a:ln/>
        </p:spPr>
        <p:txBody>
          <a:bodyPr wrap="none" lIns="136017" tIns="85090" rIns="136017" bIns="85090" rtlCol="0" anchor="ctr">
            <a:sp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18%</a:t>
            </a:r>
            <a:endParaRPr lang="en-US" sz="850" dirty="0"/>
          </a:p>
        </p:txBody>
      </p:sp>
      <p:sp>
        <p:nvSpPr>
          <p:cNvPr id="21" name="Text 17"/>
          <p:cNvSpPr/>
          <p:nvPr/>
        </p:nvSpPr>
        <p:spPr>
          <a:xfrm>
            <a:off x="4886325" y="3589734"/>
            <a:ext cx="289322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Focal</a:t>
            </a:r>
            <a:endParaRPr lang="en-US" sz="850" dirty="0"/>
          </a:p>
        </p:txBody>
      </p:sp>
      <p:sp>
        <p:nvSpPr>
          <p:cNvPr id="22" name="Text 18"/>
          <p:cNvSpPr/>
          <p:nvPr/>
        </p:nvSpPr>
        <p:spPr>
          <a:xfrm>
            <a:off x="6468498" y="3509367"/>
            <a:ext cx="1051973" cy="300038"/>
          </a:xfrm>
          <a:prstGeom prst="rect">
            <a:avLst/>
          </a:prstGeom>
          <a:noFill/>
          <a:ln/>
        </p:spPr>
        <p:txBody>
          <a:bodyPr wrap="none" lIns="136017" tIns="85090" rIns="136017" bIns="85090" rtlCol="0" anchor="ctr">
            <a:sp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10</a:t>
            </a:r>
            <a:endParaRPr lang="en-US" sz="850" dirty="0"/>
          </a:p>
        </p:txBody>
      </p:sp>
      <p:sp>
        <p:nvSpPr>
          <p:cNvPr id="23" name="Text 19"/>
          <p:cNvSpPr/>
          <p:nvPr/>
        </p:nvSpPr>
        <p:spPr>
          <a:xfrm>
            <a:off x="7520471" y="3509367"/>
            <a:ext cx="1052029" cy="300038"/>
          </a:xfrm>
          <a:prstGeom prst="rect">
            <a:avLst/>
          </a:prstGeom>
          <a:noFill/>
          <a:ln/>
        </p:spPr>
        <p:txBody>
          <a:bodyPr wrap="none" lIns="136017" tIns="85090" rIns="136017" bIns="85090" rtlCol="0" anchor="ctr">
            <a:sp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17%</a:t>
            </a:r>
            <a:endParaRPr lang="en-US" sz="850" dirty="0"/>
          </a:p>
        </p:txBody>
      </p:sp>
      <p:sp>
        <p:nvSpPr>
          <p:cNvPr id="24" name="Text 20"/>
          <p:cNvSpPr/>
          <p:nvPr/>
        </p:nvSpPr>
        <p:spPr>
          <a:xfrm>
            <a:off x="4886325" y="3889772"/>
            <a:ext cx="264319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Filler</a:t>
            </a:r>
            <a:endParaRPr lang="en-US" sz="850" dirty="0"/>
          </a:p>
        </p:txBody>
      </p:sp>
      <p:sp>
        <p:nvSpPr>
          <p:cNvPr id="25" name="Text 21"/>
          <p:cNvSpPr/>
          <p:nvPr/>
        </p:nvSpPr>
        <p:spPr>
          <a:xfrm>
            <a:off x="6468498" y="3809405"/>
            <a:ext cx="1051973" cy="300038"/>
          </a:xfrm>
          <a:prstGeom prst="rect">
            <a:avLst/>
          </a:prstGeom>
          <a:noFill/>
          <a:ln/>
        </p:spPr>
        <p:txBody>
          <a:bodyPr wrap="none" lIns="136017" tIns="85090" rIns="136017" bIns="85090" rtlCol="0" anchor="ctr">
            <a:sp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10</a:t>
            </a:r>
            <a:endParaRPr lang="en-US" sz="850" dirty="0"/>
          </a:p>
        </p:txBody>
      </p:sp>
      <p:sp>
        <p:nvSpPr>
          <p:cNvPr id="26" name="Text 22"/>
          <p:cNvSpPr/>
          <p:nvPr/>
        </p:nvSpPr>
        <p:spPr>
          <a:xfrm>
            <a:off x="7520471" y="3809405"/>
            <a:ext cx="1052029" cy="300038"/>
          </a:xfrm>
          <a:prstGeom prst="rect">
            <a:avLst/>
          </a:prstGeom>
          <a:noFill/>
          <a:ln/>
        </p:spPr>
        <p:txBody>
          <a:bodyPr wrap="none" lIns="136017" tIns="85090" rIns="136017" bIns="85090" rtlCol="0" anchor="ctr">
            <a:sp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17%</a:t>
            </a:r>
            <a:endParaRPr lang="en-US" sz="850" dirty="0"/>
          </a:p>
        </p:txBody>
      </p:sp>
      <p:sp>
        <p:nvSpPr>
          <p:cNvPr id="27" name="Text 23"/>
          <p:cNvSpPr/>
          <p:nvPr/>
        </p:nvSpPr>
        <p:spPr>
          <a:xfrm>
            <a:off x="4886325" y="4189809"/>
            <a:ext cx="378619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Accent</a:t>
            </a:r>
            <a:endParaRPr lang="en-US" sz="850" dirty="0"/>
          </a:p>
        </p:txBody>
      </p:sp>
      <p:sp>
        <p:nvSpPr>
          <p:cNvPr id="28" name="Text 24"/>
          <p:cNvSpPr/>
          <p:nvPr/>
        </p:nvSpPr>
        <p:spPr>
          <a:xfrm>
            <a:off x="6468498" y="4109442"/>
            <a:ext cx="1051973" cy="296466"/>
          </a:xfrm>
          <a:prstGeom prst="rect">
            <a:avLst/>
          </a:prstGeom>
          <a:noFill/>
          <a:ln/>
        </p:spPr>
        <p:txBody>
          <a:bodyPr wrap="none" lIns="136017" tIns="85090" rIns="136017" bIns="85090" rtlCol="0" anchor="ctr">
            <a:sp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8</a:t>
            </a:r>
            <a:endParaRPr lang="en-US" sz="850" dirty="0"/>
          </a:p>
        </p:txBody>
      </p:sp>
      <p:sp>
        <p:nvSpPr>
          <p:cNvPr id="29" name="Text 25"/>
          <p:cNvSpPr/>
          <p:nvPr/>
        </p:nvSpPr>
        <p:spPr>
          <a:xfrm>
            <a:off x="7520471" y="4109442"/>
            <a:ext cx="1052029" cy="296466"/>
          </a:xfrm>
          <a:prstGeom prst="rect">
            <a:avLst/>
          </a:prstGeom>
          <a:noFill/>
          <a:ln/>
        </p:spPr>
        <p:txBody>
          <a:bodyPr wrap="none" lIns="136017" tIns="85090" rIns="136017" bIns="85090" rtlCol="0" anchor="ctr">
            <a:sp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13%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571500"/>
            <a:ext cx="1439466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spc="1" kern="0" dirty="0">
                <a:solidFill>
                  <a:srgbClr val="4A6741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08 — PLACEMENT LAYER</a:t>
            </a:r>
            <a:endParaRPr lang="en-US" sz="700" dirty="0"/>
          </a:p>
        </p:txBody>
      </p:sp>
      <p:sp>
        <p:nvSpPr>
          <p:cNvPr id="4" name="Text 1"/>
          <p:cNvSpPr/>
          <p:nvPr/>
        </p:nvSpPr>
        <p:spPr>
          <a:xfrm>
            <a:off x="571500" y="778669"/>
            <a:ext cx="4114800" cy="11315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250" b="1" dirty="0">
                <a:solidFill>
                  <a:srgbClr val="1A1A1A"/>
                </a:solidFill>
                <a:latin typeface="Cormorant Garamond SemiBold" pitchFamily="34" charset="0"/>
                <a:ea typeface="Cormorant Garamond SemiBold" pitchFamily="34" charset="-122"/>
                <a:cs typeface="Cormorant Garamond SemiBold" pitchFamily="34" charset="-120"/>
              </a:rPr>
              <a:t>Every stem receives a precise polar address, depth layer, and direction vector.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2024472"/>
            <a:ext cx="4114800" cy="8228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Placement Solver assigns each stem its exact position in the design. Collision detection enforces minimum spacing as a multiple of bloom diameter — focal blooms require the most clearance to maintain visual dominance.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571500" y="2990217"/>
            <a:ext cx="1471613" cy="257175"/>
          </a:xfrm>
          <a:prstGeom prst="rect">
            <a:avLst/>
          </a:prstGeom>
          <a:noFill/>
          <a:ln/>
        </p:spPr>
        <p:txBody>
          <a:bodyPr wrap="square" lIns="0" tIns="0" rIns="0" bIns="51054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ormorant Garamond SemiBold" pitchFamily="34" charset="0"/>
                <a:ea typeface="Cormorant Garamond SemiBold" pitchFamily="34" charset="-122"/>
                <a:cs typeface="Cormorant Garamond SemiBold" pitchFamily="34" charset="-120"/>
              </a:rPr>
              <a:t>Spacing Rules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71500" y="3333117"/>
            <a:ext cx="289322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Focal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1160859" y="3333117"/>
            <a:ext cx="882253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4A6741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1.3× diameter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571500" y="3540286"/>
            <a:ext cx="589359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Secondary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1160859" y="3540286"/>
            <a:ext cx="882253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4A6741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1.0× diameter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571500" y="3747455"/>
            <a:ext cx="264319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Filler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1160859" y="3747455"/>
            <a:ext cx="882253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4A6741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0.6× diameter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4972050" y="571500"/>
            <a:ext cx="3600450" cy="400050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14" name="Shape 11"/>
          <p:cNvSpPr/>
          <p:nvPr/>
        </p:nvSpPr>
        <p:spPr>
          <a:xfrm>
            <a:off x="4972050" y="571500"/>
            <a:ext cx="7144" cy="4000500"/>
          </a:xfrm>
          <a:prstGeom prst="rect">
            <a:avLst/>
          </a:prstGeom>
          <a:solidFill>
            <a:srgbClr val="D0D0D0"/>
          </a:solidFill>
          <a:ln/>
        </p:spPr>
      </p:sp>
      <p:sp>
        <p:nvSpPr>
          <p:cNvPr id="15" name="Text 12"/>
          <p:cNvSpPr/>
          <p:nvPr/>
        </p:nvSpPr>
        <p:spPr>
          <a:xfrm>
            <a:off x="5257800" y="571500"/>
            <a:ext cx="3314700" cy="257175"/>
          </a:xfrm>
          <a:prstGeom prst="rect">
            <a:avLst/>
          </a:prstGeom>
          <a:noFill/>
          <a:ln/>
        </p:spPr>
        <p:txBody>
          <a:bodyPr wrap="square" lIns="0" tIns="0" rIns="0" bIns="51054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ormorant Garamond SemiBold" pitchFamily="34" charset="0"/>
                <a:ea typeface="Cormorant Garamond SemiBold" pitchFamily="34" charset="-122"/>
                <a:cs typeface="Cormorant Garamond SemiBold" pitchFamily="34" charset="-120"/>
              </a:rPr>
              <a:t>Depth Hierarchy (Bottom to Top)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5257800" y="914400"/>
            <a:ext cx="670843" cy="207169"/>
          </a:xfrm>
          <a:prstGeom prst="rect">
            <a:avLst/>
          </a:prstGeom>
          <a:solidFill>
            <a:srgbClr val="EEF2ED"/>
          </a:solidFill>
          <a:ln/>
        </p:spPr>
      </p:sp>
      <p:sp>
        <p:nvSpPr>
          <p:cNvPr id="17" name="Text 14"/>
          <p:cNvSpPr/>
          <p:nvPr/>
        </p:nvSpPr>
        <p:spPr>
          <a:xfrm>
            <a:off x="5257800" y="914400"/>
            <a:ext cx="670843" cy="207169"/>
          </a:xfrm>
          <a:prstGeom prst="rect">
            <a:avLst/>
          </a:prstGeom>
          <a:noFill/>
          <a:ln/>
        </p:spPr>
        <p:txBody>
          <a:bodyPr wrap="none" lIns="102108" tIns="51054" rIns="102108" bIns="51054" rtlCol="0" anchor="t">
            <a:spAutoFit/>
          </a:bodyPr>
          <a:lstStyle/>
          <a:p>
            <a:pPr algn="l" indent="0" marL="0">
              <a:buNone/>
            </a:pPr>
            <a:r>
              <a:rPr lang="en-US" sz="700" b="1" spc="1" kern="0" dirty="0">
                <a:solidFill>
                  <a:srgbClr val="4A6741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GESTURE</a:t>
            </a:r>
            <a:endParaRPr lang="en-US" sz="700" dirty="0"/>
          </a:p>
        </p:txBody>
      </p:sp>
      <p:sp>
        <p:nvSpPr>
          <p:cNvPr id="18" name="Text 15"/>
          <p:cNvSpPr/>
          <p:nvPr/>
        </p:nvSpPr>
        <p:spPr>
          <a:xfrm>
            <a:off x="5985793" y="957263"/>
            <a:ext cx="100013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A8A8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750" dirty="0"/>
          </a:p>
        </p:txBody>
      </p:sp>
      <p:sp>
        <p:nvSpPr>
          <p:cNvPr id="19" name="Shape 16"/>
          <p:cNvSpPr/>
          <p:nvPr/>
        </p:nvSpPr>
        <p:spPr>
          <a:xfrm>
            <a:off x="6142955" y="914400"/>
            <a:ext cx="740104" cy="207169"/>
          </a:xfrm>
          <a:prstGeom prst="rect">
            <a:avLst/>
          </a:prstGeom>
          <a:solidFill>
            <a:srgbClr val="EEF2ED"/>
          </a:solidFill>
          <a:ln/>
        </p:spPr>
      </p:sp>
      <p:sp>
        <p:nvSpPr>
          <p:cNvPr id="20" name="Text 17"/>
          <p:cNvSpPr/>
          <p:nvPr/>
        </p:nvSpPr>
        <p:spPr>
          <a:xfrm>
            <a:off x="6142955" y="914400"/>
            <a:ext cx="740104" cy="207169"/>
          </a:xfrm>
          <a:prstGeom prst="rect">
            <a:avLst/>
          </a:prstGeom>
          <a:noFill/>
          <a:ln/>
        </p:spPr>
        <p:txBody>
          <a:bodyPr wrap="none" lIns="102108" tIns="51054" rIns="102108" bIns="51054" rtlCol="0" anchor="t">
            <a:spAutoFit/>
          </a:bodyPr>
          <a:lstStyle/>
          <a:p>
            <a:pPr algn="l" indent="0" marL="0">
              <a:buNone/>
            </a:pPr>
            <a:r>
              <a:rPr lang="en-US" sz="700" b="1" spc="1" kern="0" dirty="0">
                <a:solidFill>
                  <a:srgbClr val="4A6741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GREENERY</a:t>
            </a:r>
            <a:endParaRPr lang="en-US" sz="700" dirty="0"/>
          </a:p>
        </p:txBody>
      </p:sp>
      <p:sp>
        <p:nvSpPr>
          <p:cNvPr id="21" name="Text 18"/>
          <p:cNvSpPr/>
          <p:nvPr/>
        </p:nvSpPr>
        <p:spPr>
          <a:xfrm>
            <a:off x="6940209" y="957263"/>
            <a:ext cx="100013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A8A8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750" dirty="0"/>
          </a:p>
        </p:txBody>
      </p:sp>
      <p:sp>
        <p:nvSpPr>
          <p:cNvPr id="22" name="Shape 19"/>
          <p:cNvSpPr/>
          <p:nvPr/>
        </p:nvSpPr>
        <p:spPr>
          <a:xfrm>
            <a:off x="7097371" y="914400"/>
            <a:ext cx="526517" cy="207169"/>
          </a:xfrm>
          <a:prstGeom prst="rect">
            <a:avLst/>
          </a:prstGeom>
          <a:solidFill>
            <a:srgbClr val="EEF2ED"/>
          </a:solidFill>
          <a:ln/>
        </p:spPr>
      </p:sp>
      <p:sp>
        <p:nvSpPr>
          <p:cNvPr id="23" name="Text 20"/>
          <p:cNvSpPr/>
          <p:nvPr/>
        </p:nvSpPr>
        <p:spPr>
          <a:xfrm>
            <a:off x="7097371" y="914400"/>
            <a:ext cx="526517" cy="207169"/>
          </a:xfrm>
          <a:prstGeom prst="rect">
            <a:avLst/>
          </a:prstGeom>
          <a:noFill/>
          <a:ln/>
        </p:spPr>
        <p:txBody>
          <a:bodyPr wrap="none" lIns="102108" tIns="51054" rIns="102108" bIns="51054" rtlCol="0" anchor="t">
            <a:spAutoFit/>
          </a:bodyPr>
          <a:lstStyle/>
          <a:p>
            <a:pPr algn="l" indent="0" marL="0">
              <a:buNone/>
            </a:pPr>
            <a:r>
              <a:rPr lang="en-US" sz="700" b="1" spc="1" kern="0" dirty="0">
                <a:solidFill>
                  <a:srgbClr val="4A6741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FILLER</a:t>
            </a:r>
            <a:endParaRPr lang="en-US" sz="700" dirty="0"/>
          </a:p>
        </p:txBody>
      </p:sp>
      <p:sp>
        <p:nvSpPr>
          <p:cNvPr id="24" name="Text 21"/>
          <p:cNvSpPr/>
          <p:nvPr/>
        </p:nvSpPr>
        <p:spPr>
          <a:xfrm>
            <a:off x="7681038" y="957263"/>
            <a:ext cx="100013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A8A8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750" dirty="0"/>
          </a:p>
        </p:txBody>
      </p:sp>
      <p:sp>
        <p:nvSpPr>
          <p:cNvPr id="25" name="Shape 22"/>
          <p:cNvSpPr/>
          <p:nvPr/>
        </p:nvSpPr>
        <p:spPr>
          <a:xfrm>
            <a:off x="7838201" y="914400"/>
            <a:ext cx="619385" cy="207169"/>
          </a:xfrm>
          <a:prstGeom prst="rect">
            <a:avLst/>
          </a:prstGeom>
          <a:solidFill>
            <a:srgbClr val="EEF2ED"/>
          </a:solidFill>
          <a:ln/>
        </p:spPr>
      </p:sp>
      <p:sp>
        <p:nvSpPr>
          <p:cNvPr id="26" name="Text 23"/>
          <p:cNvSpPr/>
          <p:nvPr/>
        </p:nvSpPr>
        <p:spPr>
          <a:xfrm>
            <a:off x="7838201" y="914400"/>
            <a:ext cx="619385" cy="207169"/>
          </a:xfrm>
          <a:prstGeom prst="rect">
            <a:avLst/>
          </a:prstGeom>
          <a:noFill/>
          <a:ln/>
        </p:spPr>
        <p:txBody>
          <a:bodyPr wrap="none" lIns="102108" tIns="51054" rIns="102108" bIns="51054" rtlCol="0" anchor="t">
            <a:spAutoFit/>
          </a:bodyPr>
          <a:lstStyle/>
          <a:p>
            <a:pPr algn="l" indent="0" marL="0">
              <a:buNone/>
            </a:pPr>
            <a:r>
              <a:rPr lang="en-US" sz="700" b="1" spc="1" kern="0" dirty="0">
                <a:solidFill>
                  <a:srgbClr val="4A6741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ACCENT</a:t>
            </a:r>
            <a:endParaRPr lang="en-US" sz="700" dirty="0"/>
          </a:p>
        </p:txBody>
      </p:sp>
      <p:sp>
        <p:nvSpPr>
          <p:cNvPr id="27" name="Text 24"/>
          <p:cNvSpPr/>
          <p:nvPr/>
        </p:nvSpPr>
        <p:spPr>
          <a:xfrm>
            <a:off x="5257800" y="1221581"/>
            <a:ext cx="100013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A8A8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750" dirty="0"/>
          </a:p>
        </p:txBody>
      </p:sp>
      <p:sp>
        <p:nvSpPr>
          <p:cNvPr id="28" name="Shape 25"/>
          <p:cNvSpPr/>
          <p:nvPr/>
        </p:nvSpPr>
        <p:spPr>
          <a:xfrm>
            <a:off x="5414963" y="1178719"/>
            <a:ext cx="841567" cy="207169"/>
          </a:xfrm>
          <a:prstGeom prst="rect">
            <a:avLst/>
          </a:prstGeom>
          <a:solidFill>
            <a:srgbClr val="EEF2ED"/>
          </a:solidFill>
          <a:ln/>
        </p:spPr>
      </p:sp>
      <p:sp>
        <p:nvSpPr>
          <p:cNvPr id="29" name="Text 26"/>
          <p:cNvSpPr/>
          <p:nvPr/>
        </p:nvSpPr>
        <p:spPr>
          <a:xfrm>
            <a:off x="5414963" y="1178719"/>
            <a:ext cx="841567" cy="207169"/>
          </a:xfrm>
          <a:prstGeom prst="rect">
            <a:avLst/>
          </a:prstGeom>
          <a:noFill/>
          <a:ln/>
        </p:spPr>
        <p:txBody>
          <a:bodyPr wrap="none" lIns="102108" tIns="51054" rIns="102108" bIns="51054" rtlCol="0" anchor="t">
            <a:spAutoFit/>
          </a:bodyPr>
          <a:lstStyle/>
          <a:p>
            <a:pPr algn="l" indent="0" marL="0">
              <a:buNone/>
            </a:pPr>
            <a:r>
              <a:rPr lang="en-US" sz="700" b="1" spc="1" kern="0" dirty="0">
                <a:solidFill>
                  <a:srgbClr val="4A6741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SECONDARY</a:t>
            </a:r>
            <a:endParaRPr lang="en-US" sz="700" dirty="0"/>
          </a:p>
        </p:txBody>
      </p:sp>
      <p:sp>
        <p:nvSpPr>
          <p:cNvPr id="30" name="Text 27"/>
          <p:cNvSpPr/>
          <p:nvPr/>
        </p:nvSpPr>
        <p:spPr>
          <a:xfrm>
            <a:off x="6313680" y="1221581"/>
            <a:ext cx="100013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A8A8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750" dirty="0"/>
          </a:p>
        </p:txBody>
      </p:sp>
      <p:sp>
        <p:nvSpPr>
          <p:cNvPr id="31" name="Shape 28"/>
          <p:cNvSpPr/>
          <p:nvPr/>
        </p:nvSpPr>
        <p:spPr>
          <a:xfrm>
            <a:off x="6470842" y="1178719"/>
            <a:ext cx="532209" cy="207169"/>
          </a:xfrm>
          <a:prstGeom prst="rect">
            <a:avLst/>
          </a:prstGeom>
          <a:solidFill>
            <a:srgbClr val="4A6741"/>
          </a:solidFill>
          <a:ln/>
        </p:spPr>
      </p:sp>
      <p:sp>
        <p:nvSpPr>
          <p:cNvPr id="32" name="Text 29"/>
          <p:cNvSpPr/>
          <p:nvPr/>
        </p:nvSpPr>
        <p:spPr>
          <a:xfrm>
            <a:off x="6470842" y="1178719"/>
            <a:ext cx="532209" cy="207169"/>
          </a:xfrm>
          <a:prstGeom prst="rect">
            <a:avLst/>
          </a:prstGeom>
          <a:noFill/>
          <a:ln/>
        </p:spPr>
        <p:txBody>
          <a:bodyPr wrap="none" lIns="102108" tIns="51054" rIns="102108" bIns="51054" rtlCol="0" anchor="t">
            <a:spAutoFit/>
          </a:bodyPr>
          <a:lstStyle/>
          <a:p>
            <a:pPr algn="l" indent="0" marL="0">
              <a:buNone/>
            </a:pPr>
            <a:r>
              <a:rPr lang="en-US" sz="700" b="1" spc="1" kern="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FOCAL</a:t>
            </a:r>
            <a:endParaRPr lang="en-US" sz="700" dirty="0"/>
          </a:p>
        </p:txBody>
      </p:sp>
      <p:sp>
        <p:nvSpPr>
          <p:cNvPr id="33" name="Shape 30"/>
          <p:cNvSpPr/>
          <p:nvPr/>
        </p:nvSpPr>
        <p:spPr>
          <a:xfrm>
            <a:off x="5257800" y="2823567"/>
            <a:ext cx="3314700" cy="1748433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4" name="Text 31"/>
          <p:cNvSpPr/>
          <p:nvPr/>
        </p:nvSpPr>
        <p:spPr>
          <a:xfrm>
            <a:off x="5257800" y="2823567"/>
            <a:ext cx="3314700" cy="1748433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F9F7F4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{
</a:t>
            </a:r>
            <a:r>
              <a:rPr lang="en-US" sz="850" dirty="0">
                <a:solidFill>
                  <a:srgbClr val="F9F7F4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  </a:t>
            </a:r>
            <a:r>
              <a:rPr lang="en-US" sz="850" dirty="0">
                <a:solidFill>
                  <a:srgbClr val="6B8F67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"stem_id"</a:t>
            </a:r>
            <a:r>
              <a:rPr lang="en-US" sz="850" dirty="0">
                <a:solidFill>
                  <a:srgbClr val="F9F7F4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: </a:t>
            </a:r>
            <a:r>
              <a:rPr lang="en-US" sz="850" dirty="0">
                <a:solidFill>
                  <a:srgbClr val="C4922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"023"</a:t>
            </a:r>
            <a:r>
              <a:rPr lang="en-US" sz="850" dirty="0">
                <a:solidFill>
                  <a:srgbClr val="F9F7F4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,
</a:t>
            </a:r>
            <a:r>
              <a:rPr lang="en-US" sz="850" dirty="0">
                <a:solidFill>
                  <a:srgbClr val="F9F7F4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  </a:t>
            </a:r>
            <a:r>
              <a:rPr lang="en-US" sz="850" dirty="0">
                <a:solidFill>
                  <a:srgbClr val="6B8F67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"role"</a:t>
            </a:r>
            <a:r>
              <a:rPr lang="en-US" sz="850" dirty="0">
                <a:solidFill>
                  <a:srgbClr val="F9F7F4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:    </a:t>
            </a:r>
            <a:r>
              <a:rPr lang="en-US" sz="850" dirty="0">
                <a:solidFill>
                  <a:srgbClr val="C4922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"secondary"</a:t>
            </a:r>
            <a:r>
              <a:rPr lang="en-US" sz="850" dirty="0">
                <a:solidFill>
                  <a:srgbClr val="F9F7F4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,
</a:t>
            </a:r>
            <a:r>
              <a:rPr lang="en-US" sz="850" dirty="0">
                <a:solidFill>
                  <a:srgbClr val="F9F7F4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  </a:t>
            </a:r>
            <a:r>
              <a:rPr lang="en-US" sz="850" dirty="0">
                <a:solidFill>
                  <a:srgbClr val="6B8F67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"angle"</a:t>
            </a:r>
            <a:r>
              <a:rPr lang="en-US" sz="850" dirty="0">
                <a:solidFill>
                  <a:srgbClr val="F9F7F4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:   </a:t>
            </a:r>
            <a:r>
              <a:rPr lang="en-US" sz="850" dirty="0">
                <a:solidFill>
                  <a:srgbClr val="A8A8A8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231.5</a:t>
            </a:r>
            <a:r>
              <a:rPr lang="en-US" sz="850" dirty="0">
                <a:solidFill>
                  <a:srgbClr val="F9F7F4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,
</a:t>
            </a:r>
            <a:r>
              <a:rPr lang="en-US" sz="850" dirty="0">
                <a:solidFill>
                  <a:srgbClr val="F9F7F4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  </a:t>
            </a:r>
            <a:r>
              <a:rPr lang="en-US" sz="850" dirty="0">
                <a:solidFill>
                  <a:srgbClr val="6B8F67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"radius"</a:t>
            </a:r>
            <a:r>
              <a:rPr lang="en-US" sz="850" dirty="0">
                <a:solidFill>
                  <a:srgbClr val="F9F7F4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:  </a:t>
            </a:r>
            <a:r>
              <a:rPr lang="en-US" sz="850" dirty="0">
                <a:solidFill>
                  <a:srgbClr val="A8A8A8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0.72</a:t>
            </a:r>
            <a:r>
              <a:rPr lang="en-US" sz="850" dirty="0">
                <a:solidFill>
                  <a:srgbClr val="F9F7F4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,
</a:t>
            </a:r>
            <a:r>
              <a:rPr lang="en-US" sz="850" dirty="0">
                <a:solidFill>
                  <a:srgbClr val="F9F7F4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  </a:t>
            </a:r>
            <a:r>
              <a:rPr lang="en-US" sz="850" dirty="0">
                <a:solidFill>
                  <a:srgbClr val="6B8F67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"depth"</a:t>
            </a:r>
            <a:r>
              <a:rPr lang="en-US" sz="850" dirty="0">
                <a:solidFill>
                  <a:srgbClr val="F9F7F4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:   </a:t>
            </a:r>
            <a:r>
              <a:rPr lang="en-US" sz="850" dirty="0">
                <a:solidFill>
                  <a:srgbClr val="A8A8A8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1</a:t>
            </a:r>
            <a:r>
              <a:rPr lang="en-US" sz="850" dirty="0">
                <a:solidFill>
                  <a:srgbClr val="F9F7F4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,
</a:t>
            </a:r>
            <a:r>
              <a:rPr lang="en-US" sz="850" dirty="0">
                <a:solidFill>
                  <a:srgbClr val="F9F7F4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  </a:t>
            </a:r>
            <a:r>
              <a:rPr lang="en-US" sz="850" dirty="0">
                <a:solidFill>
                  <a:srgbClr val="6B8F67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"vector"</a:t>
            </a:r>
            <a:r>
              <a:rPr lang="en-US" sz="850" dirty="0">
                <a:solidFill>
                  <a:srgbClr val="F9F7F4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:  </a:t>
            </a:r>
            <a:r>
              <a:rPr lang="en-US" sz="850" dirty="0">
                <a:solidFill>
                  <a:srgbClr val="A8A8A8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245</a:t>
            </a:r>
            <a:r>
              <a:rPr lang="en-US" sz="850" dirty="0">
                <a:solidFill>
                  <a:srgbClr val="F9F7F4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
</a:t>
            </a:r>
            <a:r>
              <a:rPr lang="en-US" sz="850" dirty="0">
                <a:solidFill>
                  <a:srgbClr val="F9F7F4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}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001000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spc="1" kern="0" dirty="0">
                <a:solidFill>
                  <a:srgbClr val="4A6741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09 — REPAIR LAYER</a:t>
            </a:r>
            <a:endParaRPr lang="en-US" sz="700" dirty="0"/>
          </a:p>
        </p:txBody>
      </p:sp>
      <p:sp>
        <p:nvSpPr>
          <p:cNvPr id="4" name="Text 1"/>
          <p:cNvSpPr/>
          <p:nvPr/>
        </p:nvSpPr>
        <p:spPr>
          <a:xfrm>
            <a:off x="571500" y="635794"/>
            <a:ext cx="7143750" cy="7543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250" b="1" dirty="0">
                <a:solidFill>
                  <a:srgbClr val="1A1A1A"/>
                </a:solidFill>
                <a:latin typeface="Cormorant Garamond SemiBold" pitchFamily="34" charset="0"/>
                <a:ea typeface="Cormorant Garamond SemiBold" pitchFamily="34" charset="-122"/>
                <a:cs typeface="Cormorant Garamond SemiBold" pitchFamily="34" charset="-120"/>
              </a:rPr>
              <a:t>The repair engine is what separates Evercrafted from a random generator.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1504429"/>
            <a:ext cx="7143750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Repair Engine runs up to 8 iterative improvement passes until the design scores ≥ 0.78. If the threshold is not reached after 8 passes, anchors regenerate with a new seed offset and the pipeline restarts.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571500" y="2080171"/>
            <a:ext cx="207169" cy="2250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A6741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892969" y="2065883"/>
            <a:ext cx="1800225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ormorant Garamond SemiBold" pitchFamily="34" charset="0"/>
                <a:ea typeface="Cormorant Garamond SemiBold" pitchFamily="34" charset="-122"/>
                <a:cs typeface="Cormorant Garamond SemiBold" pitchFamily="34" charset="-120"/>
              </a:rPr>
              <a:t>Density Normalization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71500" y="2394496"/>
            <a:ext cx="3771900" cy="3656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Redistributes stems to match zone field density targets. Overcrowded zones shed stems; sparse zones absorb them.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4800600" y="2080171"/>
            <a:ext cx="207169" cy="2250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A6741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02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122069" y="2065883"/>
            <a:ext cx="1364456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ormorant Garamond SemiBold" pitchFamily="34" charset="0"/>
                <a:ea typeface="Cormorant Garamond SemiBold" pitchFamily="34" charset="-122"/>
                <a:cs typeface="Cormorant Garamond SemiBold" pitchFamily="34" charset="-120"/>
              </a:rPr>
              <a:t>Cluster Cohesion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800600" y="2394496"/>
            <a:ext cx="3771900" cy="3656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Pulls scattered stems toward their nearest anchor point, strengthening visual groupings.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571500" y="3286795"/>
            <a:ext cx="207169" cy="2250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A6741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03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892969" y="3272507"/>
            <a:ext cx="1971675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ormorant Garamond SemiBold" pitchFamily="34" charset="0"/>
                <a:ea typeface="Cormorant Garamond SemiBold" pitchFamily="34" charset="-122"/>
                <a:cs typeface="Cormorant Garamond SemiBold" pitchFamily="34" charset="-120"/>
              </a:rPr>
              <a:t>Silence Arc Enforcement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571500" y="3601120"/>
            <a:ext cx="3771900" cy="3656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Clears the designated silence arc of non-greenery stems, creating intentional negative space.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4800600" y="3286795"/>
            <a:ext cx="207169" cy="2250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A6741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04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5122069" y="3272507"/>
            <a:ext cx="1025128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ormorant Garamond SemiBold" pitchFamily="34" charset="0"/>
                <a:ea typeface="Cormorant Garamond SemiBold" pitchFamily="34" charset="-122"/>
                <a:cs typeface="Cormorant Garamond SemiBold" pitchFamily="34" charset="-120"/>
              </a:rPr>
              <a:t>Focal Clarity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4800600" y="3601120"/>
            <a:ext cx="3771900" cy="3656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Ensures focal blooms are unobstructed, correctly depth-layered, and meet minimum angular separation.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571500" y="4386263"/>
            <a:ext cx="8001000" cy="52863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9" name="Shape 16"/>
          <p:cNvSpPr/>
          <p:nvPr/>
        </p:nvSpPr>
        <p:spPr>
          <a:xfrm>
            <a:off x="571500" y="4386263"/>
            <a:ext cx="28575" cy="528638"/>
          </a:xfrm>
          <a:prstGeom prst="rect">
            <a:avLst/>
          </a:prstGeom>
          <a:solidFill>
            <a:srgbClr val="C4922A"/>
          </a:solidFill>
          <a:ln/>
        </p:spPr>
      </p:sp>
      <p:sp>
        <p:nvSpPr>
          <p:cNvPr id="20" name="Text 17"/>
          <p:cNvSpPr/>
          <p:nvPr/>
        </p:nvSpPr>
        <p:spPr>
          <a:xfrm>
            <a:off x="857250" y="4589859"/>
            <a:ext cx="1351620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spc="1" kern="0" dirty="0">
                <a:solidFill>
                  <a:srgbClr val="C4922A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CONVERGENCE RESULT</a:t>
            </a:r>
            <a:endParaRPr lang="en-US" sz="700" dirty="0"/>
          </a:p>
        </p:txBody>
      </p:sp>
      <p:sp>
        <p:nvSpPr>
          <p:cNvPr id="21" name="Text 18"/>
          <p:cNvSpPr/>
          <p:nvPr/>
        </p:nvSpPr>
        <p:spPr>
          <a:xfrm>
            <a:off x="4589078" y="4471988"/>
            <a:ext cx="687251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A8A8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SCORE BEFORE</a:t>
            </a:r>
            <a:endParaRPr lang="en-US" sz="600" dirty="0"/>
          </a:p>
        </p:txBody>
      </p:sp>
      <p:sp>
        <p:nvSpPr>
          <p:cNvPr id="22" name="Text 19"/>
          <p:cNvSpPr/>
          <p:nvPr/>
        </p:nvSpPr>
        <p:spPr>
          <a:xfrm>
            <a:off x="4589078" y="4604147"/>
            <a:ext cx="687251" cy="2250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0.64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5619229" y="4471988"/>
            <a:ext cx="629376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A8A8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SCORE AFTER</a:t>
            </a:r>
            <a:endParaRPr lang="en-US" sz="600" dirty="0"/>
          </a:p>
        </p:txBody>
      </p:sp>
      <p:sp>
        <p:nvSpPr>
          <p:cNvPr id="24" name="Text 21"/>
          <p:cNvSpPr/>
          <p:nvPr/>
        </p:nvSpPr>
        <p:spPr>
          <a:xfrm>
            <a:off x="5619229" y="4604147"/>
            <a:ext cx="629376" cy="2250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6B8F67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0.82</a:t>
            </a:r>
            <a:endParaRPr lang="en-US" sz="1250" dirty="0"/>
          </a:p>
        </p:txBody>
      </p:sp>
      <p:sp>
        <p:nvSpPr>
          <p:cNvPr id="25" name="Text 22"/>
          <p:cNvSpPr/>
          <p:nvPr/>
        </p:nvSpPr>
        <p:spPr>
          <a:xfrm>
            <a:off x="6591505" y="4471988"/>
            <a:ext cx="567928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A8A8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PASSES RUN</a:t>
            </a:r>
            <a:endParaRPr lang="en-US" sz="600" dirty="0"/>
          </a:p>
        </p:txBody>
      </p:sp>
      <p:sp>
        <p:nvSpPr>
          <p:cNvPr id="26" name="Text 23"/>
          <p:cNvSpPr/>
          <p:nvPr/>
        </p:nvSpPr>
        <p:spPr>
          <a:xfrm>
            <a:off x="6591505" y="4604147"/>
            <a:ext cx="567928" cy="2250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3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7502333" y="4471988"/>
            <a:ext cx="784417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A8A8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THRESHOLD MET</a:t>
            </a:r>
            <a:endParaRPr lang="en-US" sz="600" dirty="0"/>
          </a:p>
        </p:txBody>
      </p:sp>
      <p:sp>
        <p:nvSpPr>
          <p:cNvPr id="28" name="Text 25"/>
          <p:cNvSpPr/>
          <p:nvPr/>
        </p:nvSpPr>
        <p:spPr>
          <a:xfrm>
            <a:off x="7502333" y="4604147"/>
            <a:ext cx="784417" cy="2250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6B8F67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✓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689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571500"/>
            <a:ext cx="3171825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spc="1" kern="0" dirty="0">
                <a:solidFill>
                  <a:srgbClr val="4A6741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QUALITY GATE</a:t>
            </a:r>
            <a:endParaRPr lang="en-US" sz="700" dirty="0"/>
          </a:p>
        </p:txBody>
      </p:sp>
      <p:sp>
        <p:nvSpPr>
          <p:cNvPr id="4" name="Text 1"/>
          <p:cNvSpPr/>
          <p:nvPr/>
        </p:nvSpPr>
        <p:spPr>
          <a:xfrm>
            <a:off x="571500" y="807244"/>
            <a:ext cx="3171825" cy="15086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250" b="1" dirty="0">
                <a:solidFill>
                  <a:srgbClr val="1A1A1A"/>
                </a:solidFill>
                <a:latin typeface="Cormorant Garamond SemiBold" pitchFamily="34" charset="0"/>
                <a:ea typeface="Cormorant Garamond SemiBold" pitchFamily="34" charset="-122"/>
                <a:cs typeface="Cormorant Garamond SemiBold" pitchFamily="34" charset="-120"/>
              </a:rPr>
              <a:t>A minimum overall score of 0.78 is required before any blueprint is approved.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2487364"/>
            <a:ext cx="3171825" cy="8228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generated design is evaluated across seven professional composition metrics. The scoring engine is the quality gate — no blueprint exits the pipeline below threshold.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571500" y="3595985"/>
            <a:ext cx="3171825" cy="1001464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7" name="Shape 4"/>
          <p:cNvSpPr/>
          <p:nvPr/>
        </p:nvSpPr>
        <p:spPr>
          <a:xfrm>
            <a:off x="571500" y="3595985"/>
            <a:ext cx="28575" cy="1001464"/>
          </a:xfrm>
          <a:prstGeom prst="rect">
            <a:avLst/>
          </a:prstGeom>
          <a:solidFill>
            <a:srgbClr val="4A6741"/>
          </a:solidFill>
          <a:ln/>
        </p:spPr>
      </p:sp>
      <p:sp>
        <p:nvSpPr>
          <p:cNvPr id="8" name="Text 5"/>
          <p:cNvSpPr/>
          <p:nvPr/>
        </p:nvSpPr>
        <p:spPr>
          <a:xfrm>
            <a:off x="742950" y="3767435"/>
            <a:ext cx="2828925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spc="1" kern="0" dirty="0">
                <a:solidFill>
                  <a:srgbClr val="6B8F67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PIPELINE STATUS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742950" y="3946029"/>
            <a:ext cx="2828925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F9F7F4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Score ≥ 0.78 threshold met. Blueprint approved for export.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171950" y="571500"/>
            <a:ext cx="4400550" cy="402595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4171950" y="571500"/>
            <a:ext cx="7144" cy="4025950"/>
          </a:xfrm>
          <a:prstGeom prst="rect">
            <a:avLst/>
          </a:prstGeom>
          <a:solidFill>
            <a:srgbClr val="D0D0D0"/>
          </a:solidFill>
          <a:ln/>
        </p:spPr>
      </p:sp>
      <p:sp>
        <p:nvSpPr>
          <p:cNvPr id="12" name="Text 9"/>
          <p:cNvSpPr/>
          <p:nvPr/>
        </p:nvSpPr>
        <p:spPr>
          <a:xfrm>
            <a:off x="9027412" y="357188"/>
            <a:ext cx="20002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C4922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0.78 MIN</a:t>
            </a:r>
            <a:endParaRPr lang="en-US" sz="600" dirty="0"/>
          </a:p>
        </p:txBody>
      </p:sp>
      <p:sp>
        <p:nvSpPr>
          <p:cNvPr id="13" name="Text 10"/>
          <p:cNvSpPr/>
          <p:nvPr/>
        </p:nvSpPr>
        <p:spPr>
          <a:xfrm>
            <a:off x="4600575" y="576858"/>
            <a:ext cx="1428750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4A4A4A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Balance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6029325" y="625078"/>
            <a:ext cx="2114550" cy="42863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15" name="Text 12"/>
          <p:cNvSpPr/>
          <p:nvPr/>
        </p:nvSpPr>
        <p:spPr>
          <a:xfrm>
            <a:off x="8143875" y="571500"/>
            <a:ext cx="428625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A1A1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0.83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4600575" y="841177"/>
            <a:ext cx="1428750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4A4A4A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Rhythm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029325" y="889397"/>
            <a:ext cx="2114550" cy="42863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18" name="Text 15"/>
          <p:cNvSpPr/>
          <p:nvPr/>
        </p:nvSpPr>
        <p:spPr>
          <a:xfrm>
            <a:off x="8143875" y="835819"/>
            <a:ext cx="428625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A1A1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0.79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4600575" y="1105495"/>
            <a:ext cx="1428750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4A4A4A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Contrast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6029325" y="1153716"/>
            <a:ext cx="2114550" cy="42863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21" name="Text 18"/>
          <p:cNvSpPr/>
          <p:nvPr/>
        </p:nvSpPr>
        <p:spPr>
          <a:xfrm>
            <a:off x="8143875" y="1100138"/>
            <a:ext cx="428625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C4922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0.74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4600575" y="1369814"/>
            <a:ext cx="1428750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4A4A4A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Density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6029325" y="1418034"/>
            <a:ext cx="2114550" cy="42863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24" name="Text 21"/>
          <p:cNvSpPr/>
          <p:nvPr/>
        </p:nvSpPr>
        <p:spPr>
          <a:xfrm>
            <a:off x="8143875" y="1364456"/>
            <a:ext cx="428625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A1A1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0.81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4600575" y="1634133"/>
            <a:ext cx="1428750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4A4A4A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Focal Clarity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6029325" y="1682353"/>
            <a:ext cx="2114550" cy="42863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27" name="Text 24"/>
          <p:cNvSpPr/>
          <p:nvPr/>
        </p:nvSpPr>
        <p:spPr>
          <a:xfrm>
            <a:off x="8143875" y="1628775"/>
            <a:ext cx="428625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A1A1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0.86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4600575" y="1898452"/>
            <a:ext cx="1428750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4A4A4A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Negative Space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6029325" y="1946672"/>
            <a:ext cx="2114550" cy="42863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30" name="Text 27"/>
          <p:cNvSpPr/>
          <p:nvPr/>
        </p:nvSpPr>
        <p:spPr>
          <a:xfrm>
            <a:off x="8143875" y="1893094"/>
            <a:ext cx="428625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C4922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0.77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4600575" y="2162770"/>
            <a:ext cx="1428750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4A4A4A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Inventory Efficiency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6029325" y="2210991"/>
            <a:ext cx="2114550" cy="42863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33" name="Text 30"/>
          <p:cNvSpPr/>
          <p:nvPr/>
        </p:nvSpPr>
        <p:spPr>
          <a:xfrm>
            <a:off x="8143875" y="2157413"/>
            <a:ext cx="428625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A1A1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0.91</a:t>
            </a:r>
            <a:endParaRPr lang="en-US" sz="800" dirty="0"/>
          </a:p>
        </p:txBody>
      </p:sp>
      <p:sp>
        <p:nvSpPr>
          <p:cNvPr id="34" name="Shape 31"/>
          <p:cNvSpPr/>
          <p:nvPr/>
        </p:nvSpPr>
        <p:spPr>
          <a:xfrm>
            <a:off x="4600575" y="2593181"/>
            <a:ext cx="3971925" cy="803672"/>
          </a:xfrm>
          <a:prstGeom prst="rect">
            <a:avLst/>
          </a:prstGeom>
          <a:solidFill>
            <a:srgbClr val="EEF2ED"/>
          </a:solidFill>
          <a:ln w="9144">
            <a:solidFill>
              <a:srgbClr val="D0D0D0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4829175" y="2850356"/>
            <a:ext cx="1225153" cy="2750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ormorant Garamond SemiBold" pitchFamily="34" charset="0"/>
                <a:ea typeface="Cormorant Garamond SemiBold" pitchFamily="34" charset="-122"/>
                <a:cs typeface="Cormorant Garamond SemiBold" pitchFamily="34" charset="-120"/>
              </a:rPr>
              <a:t>Overall Score</a:t>
            </a:r>
            <a:endParaRPr lang="en-US" sz="1600" dirty="0"/>
          </a:p>
        </p:txBody>
      </p:sp>
      <p:sp>
        <p:nvSpPr>
          <p:cNvPr id="36" name="Text 33"/>
          <p:cNvSpPr/>
          <p:nvPr/>
        </p:nvSpPr>
        <p:spPr>
          <a:xfrm>
            <a:off x="7236619" y="2764631"/>
            <a:ext cx="828675" cy="4464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4A6741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0.82</a:t>
            </a:r>
            <a:endParaRPr lang="en-US" sz="2450" dirty="0"/>
          </a:p>
        </p:txBody>
      </p:sp>
      <p:sp>
        <p:nvSpPr>
          <p:cNvPr id="37" name="Text 34"/>
          <p:cNvSpPr/>
          <p:nvPr/>
        </p:nvSpPr>
        <p:spPr>
          <a:xfrm>
            <a:off x="8151019" y="2839641"/>
            <a:ext cx="192881" cy="2964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4A6741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✓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735527"/>
            <a:ext cx="3171825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spc="1" kern="0" dirty="0">
                <a:solidFill>
                  <a:srgbClr val="4A6741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10 — OUTPUT LAYER</a:t>
            </a:r>
            <a:endParaRPr lang="en-US" sz="700" dirty="0"/>
          </a:p>
        </p:txBody>
      </p:sp>
      <p:sp>
        <p:nvSpPr>
          <p:cNvPr id="4" name="Text 1"/>
          <p:cNvSpPr/>
          <p:nvPr/>
        </p:nvSpPr>
        <p:spPr>
          <a:xfrm>
            <a:off x="571500" y="971271"/>
            <a:ext cx="3171825" cy="8228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450" b="1" dirty="0">
                <a:solidFill>
                  <a:srgbClr val="1A1A1A"/>
                </a:solidFill>
                <a:latin typeface="Cormorant Garamond SemiBold" pitchFamily="34" charset="0"/>
                <a:ea typeface="Cormorant Garamond SemiBold" pitchFamily="34" charset="-122"/>
                <a:cs typeface="Cormorant Garamond SemiBold" pitchFamily="34" charset="-120"/>
              </a:rPr>
              <a:t>One solved design.</a:t>
            </a:r>
            <a:r>
              <a:rPr lang="en-US" sz="2450" b="1" dirty="0">
                <a:solidFill>
                  <a:srgbClr val="1A1A1A"/>
                </a:solidFill>
                <a:latin typeface="Cormorant Garamond SemiBold" pitchFamily="34" charset="0"/>
                <a:ea typeface="Cormorant Garamond SemiBold" pitchFamily="34" charset="-122"/>
                <a:cs typeface="Cormorant Garamond SemiBold" pitchFamily="34" charset="-120"/>
              </a:rPr>
              <a:t>
</a:t>
            </a:r>
            <a:r>
              <a:rPr lang="en-US" sz="2450" b="1" dirty="0">
                <a:solidFill>
                  <a:srgbClr val="1A1A1A"/>
                </a:solidFill>
                <a:latin typeface="Cormorant Garamond SemiBold" pitchFamily="34" charset="0"/>
                <a:ea typeface="Cormorant Garamond SemiBold" pitchFamily="34" charset="-122"/>
                <a:cs typeface="Cormorant Garamond SemiBold" pitchFamily="34" charset="-120"/>
              </a:rPr>
              <a:t>Four deliverables.</a:t>
            </a:r>
            <a:endParaRPr lang="en-US" sz="2450" dirty="0"/>
          </a:p>
        </p:txBody>
      </p:sp>
      <p:sp>
        <p:nvSpPr>
          <p:cNvPr id="5" name="Text 2"/>
          <p:cNvSpPr/>
          <p:nvPr/>
        </p:nvSpPr>
        <p:spPr>
          <a:xfrm>
            <a:off x="571500" y="1965592"/>
            <a:ext cx="3171825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Blueprint &amp; Render Engine serializes the entire solved placement set into four distinct outputs — each serving a different user need.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571500" y="2868495"/>
            <a:ext cx="3171825" cy="271463"/>
          </a:xfrm>
          <a:prstGeom prst="rect">
            <a:avLst/>
          </a:prstGeom>
          <a:noFill/>
          <a:ln/>
        </p:spPr>
        <p:txBody>
          <a:bodyPr wrap="square" lIns="0" tIns="0" rIns="0" bIns="68072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ormorant Garamond SemiBold" pitchFamily="34" charset="0"/>
                <a:ea typeface="Cormorant Garamond SemiBold" pitchFamily="34" charset="-122"/>
                <a:cs typeface="Cormorant Garamond SemiBold" pitchFamily="34" charset="-120"/>
              </a:rPr>
              <a:t>Builder Guide Sequence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650081" y="3339982"/>
            <a:ext cx="14288" cy="982266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8" name="Shape 5"/>
          <p:cNvSpPr/>
          <p:nvPr/>
        </p:nvSpPr>
        <p:spPr>
          <a:xfrm>
            <a:off x="571500" y="3238184"/>
            <a:ext cx="171450" cy="171450"/>
          </a:xfrm>
          <a:prstGeom prst="ellipse">
            <a:avLst/>
          </a:prstGeom>
          <a:solidFill>
            <a:srgbClr val="4A6741"/>
          </a:solidFill>
          <a:ln/>
        </p:spPr>
      </p:sp>
      <p:sp>
        <p:nvSpPr>
          <p:cNvPr id="9" name="Text 6"/>
          <p:cNvSpPr/>
          <p:nvPr/>
        </p:nvSpPr>
        <p:spPr>
          <a:xfrm>
            <a:off x="571500" y="3238184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1</a:t>
            </a:r>
            <a:endParaRPr lang="en-US" sz="600" dirty="0"/>
          </a:p>
        </p:txBody>
      </p:sp>
      <p:sp>
        <p:nvSpPr>
          <p:cNvPr id="10" name="Text 7"/>
          <p:cNvSpPr/>
          <p:nvPr/>
        </p:nvSpPr>
        <p:spPr>
          <a:xfrm>
            <a:off x="857250" y="3254257"/>
            <a:ext cx="1318022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Place greenery skeleton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571500" y="3491787"/>
            <a:ext cx="171450" cy="171450"/>
          </a:xfrm>
          <a:prstGeom prst="ellipse">
            <a:avLst/>
          </a:prstGeom>
          <a:solidFill>
            <a:srgbClr val="4A6741"/>
          </a:solidFill>
          <a:ln/>
        </p:spPr>
      </p:sp>
      <p:sp>
        <p:nvSpPr>
          <p:cNvPr id="12" name="Text 9"/>
          <p:cNvSpPr/>
          <p:nvPr/>
        </p:nvSpPr>
        <p:spPr>
          <a:xfrm>
            <a:off x="571500" y="3491787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2</a:t>
            </a:r>
            <a:endParaRPr lang="en-US" sz="600" dirty="0"/>
          </a:p>
        </p:txBody>
      </p:sp>
      <p:sp>
        <p:nvSpPr>
          <p:cNvPr id="13" name="Text 10"/>
          <p:cNvSpPr/>
          <p:nvPr/>
        </p:nvSpPr>
        <p:spPr>
          <a:xfrm>
            <a:off x="857250" y="3507860"/>
            <a:ext cx="1025128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Place focal blooms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571500" y="3745390"/>
            <a:ext cx="171450" cy="171450"/>
          </a:xfrm>
          <a:prstGeom prst="ellipse">
            <a:avLst/>
          </a:prstGeom>
          <a:solidFill>
            <a:srgbClr val="4A6741"/>
          </a:solidFill>
          <a:ln/>
        </p:spPr>
      </p:sp>
      <p:sp>
        <p:nvSpPr>
          <p:cNvPr id="15" name="Text 12"/>
          <p:cNvSpPr/>
          <p:nvPr/>
        </p:nvSpPr>
        <p:spPr>
          <a:xfrm>
            <a:off x="571500" y="3745390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3</a:t>
            </a:r>
            <a:endParaRPr lang="en-US" sz="600" dirty="0"/>
          </a:p>
        </p:txBody>
      </p:sp>
      <p:sp>
        <p:nvSpPr>
          <p:cNvPr id="16" name="Text 13"/>
          <p:cNvSpPr/>
          <p:nvPr/>
        </p:nvSpPr>
        <p:spPr>
          <a:xfrm>
            <a:off x="857250" y="3761463"/>
            <a:ext cx="1335881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Place secondary blooms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571500" y="3998993"/>
            <a:ext cx="171450" cy="171450"/>
          </a:xfrm>
          <a:prstGeom prst="ellipse">
            <a:avLst/>
          </a:prstGeom>
          <a:solidFill>
            <a:srgbClr val="4A6741"/>
          </a:solidFill>
          <a:ln/>
        </p:spPr>
      </p:sp>
      <p:sp>
        <p:nvSpPr>
          <p:cNvPr id="18" name="Text 15"/>
          <p:cNvSpPr/>
          <p:nvPr/>
        </p:nvSpPr>
        <p:spPr>
          <a:xfrm>
            <a:off x="571500" y="3998993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4</a:t>
            </a:r>
            <a:endParaRPr lang="en-US" sz="600" dirty="0"/>
          </a:p>
        </p:txBody>
      </p:sp>
      <p:sp>
        <p:nvSpPr>
          <p:cNvPr id="19" name="Text 16"/>
          <p:cNvSpPr/>
          <p:nvPr/>
        </p:nvSpPr>
        <p:spPr>
          <a:xfrm>
            <a:off x="857250" y="4015067"/>
            <a:ext cx="685800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Add accents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571500" y="4252596"/>
            <a:ext cx="171450" cy="171450"/>
          </a:xfrm>
          <a:prstGeom prst="ellipse">
            <a:avLst/>
          </a:prstGeom>
          <a:solidFill>
            <a:srgbClr val="4A6741"/>
          </a:solidFill>
          <a:ln/>
        </p:spPr>
      </p:sp>
      <p:sp>
        <p:nvSpPr>
          <p:cNvPr id="21" name="Text 18"/>
          <p:cNvSpPr/>
          <p:nvPr/>
        </p:nvSpPr>
        <p:spPr>
          <a:xfrm>
            <a:off x="571500" y="4252596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5</a:t>
            </a:r>
            <a:endParaRPr lang="en-US" sz="600" dirty="0"/>
          </a:p>
        </p:txBody>
      </p:sp>
      <p:sp>
        <p:nvSpPr>
          <p:cNvPr id="22" name="Text 19"/>
          <p:cNvSpPr/>
          <p:nvPr/>
        </p:nvSpPr>
        <p:spPr>
          <a:xfrm>
            <a:off x="857250" y="4268670"/>
            <a:ext cx="1050131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Fill with filler stems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171950" y="571500"/>
            <a:ext cx="4400550" cy="400050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24" name="Shape 21"/>
          <p:cNvSpPr/>
          <p:nvPr/>
        </p:nvSpPr>
        <p:spPr>
          <a:xfrm>
            <a:off x="4171950" y="571500"/>
            <a:ext cx="7144" cy="4000500"/>
          </a:xfrm>
          <a:prstGeom prst="rect">
            <a:avLst/>
          </a:prstGeom>
          <a:solidFill>
            <a:srgbClr val="D0D0D0"/>
          </a:solidFill>
          <a:ln/>
        </p:spPr>
      </p:sp>
      <p:sp>
        <p:nvSpPr>
          <p:cNvPr id="25" name="Shape 22"/>
          <p:cNvSpPr/>
          <p:nvPr/>
        </p:nvSpPr>
        <p:spPr>
          <a:xfrm>
            <a:off x="4600575" y="621506"/>
            <a:ext cx="3971925" cy="846534"/>
          </a:xfrm>
          <a:prstGeom prst="rect">
            <a:avLst/>
          </a:prstGeom>
          <a:solidFill>
            <a:srgbClr val="EEF2ED"/>
          </a:solidFill>
          <a:ln/>
        </p:spPr>
      </p:sp>
      <p:sp>
        <p:nvSpPr>
          <p:cNvPr id="26" name="Shape 23"/>
          <p:cNvSpPr/>
          <p:nvPr/>
        </p:nvSpPr>
        <p:spPr>
          <a:xfrm>
            <a:off x="4600575" y="621506"/>
            <a:ext cx="28575" cy="846534"/>
          </a:xfrm>
          <a:prstGeom prst="rect">
            <a:avLst/>
          </a:prstGeom>
          <a:solidFill>
            <a:srgbClr val="4A6741"/>
          </a:solidFill>
          <a:ln/>
        </p:spPr>
      </p:sp>
      <p:sp>
        <p:nvSpPr>
          <p:cNvPr id="27" name="Text 24"/>
          <p:cNvSpPr/>
          <p:nvPr/>
        </p:nvSpPr>
        <p:spPr>
          <a:xfrm>
            <a:off x="4772025" y="792956"/>
            <a:ext cx="1271588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ormorant Garamond SemiBold" pitchFamily="34" charset="0"/>
                <a:ea typeface="Cormorant Garamond SemiBold" pitchFamily="34" charset="-122"/>
                <a:cs typeface="Cormorant Garamond SemiBold" pitchFamily="34" charset="-120"/>
              </a:rPr>
              <a:t>Blueprint JSON</a:t>
            </a:r>
            <a:endParaRPr lang="en-US" sz="1400" dirty="0"/>
          </a:p>
        </p:txBody>
      </p:sp>
      <p:sp>
        <p:nvSpPr>
          <p:cNvPr id="28" name="Shape 25"/>
          <p:cNvSpPr/>
          <p:nvPr/>
        </p:nvSpPr>
        <p:spPr>
          <a:xfrm>
            <a:off x="7958138" y="850106"/>
            <a:ext cx="442913" cy="189309"/>
          </a:xfrm>
          <a:prstGeom prst="rect">
            <a:avLst/>
          </a:prstGeom>
          <a:solidFill>
            <a:srgbClr val="4A6741">
              <a:alpha val="10000"/>
            </a:srgbClr>
          </a:solidFill>
          <a:ln/>
        </p:spPr>
      </p:sp>
      <p:sp>
        <p:nvSpPr>
          <p:cNvPr id="29" name="Text 26"/>
          <p:cNvSpPr/>
          <p:nvPr/>
        </p:nvSpPr>
        <p:spPr>
          <a:xfrm>
            <a:off x="7958138" y="850106"/>
            <a:ext cx="442913" cy="189309"/>
          </a:xfrm>
          <a:prstGeom prst="rect">
            <a:avLst/>
          </a:prstGeom>
          <a:noFill/>
          <a:ln/>
        </p:spPr>
        <p:txBody>
          <a:bodyPr wrap="none" lIns="68072" tIns="34036" rIns="68072" bIns="34036" rtlCol="0" anchor="t">
            <a:spAutoFit/>
          </a:bodyPr>
          <a:lstStyle/>
          <a:p>
            <a:pPr algn="l" indent="0" marL="0">
              <a:buNone/>
            </a:pPr>
            <a:r>
              <a:rPr lang="en-US" sz="750" spc="1" kern="0" dirty="0">
                <a:solidFill>
                  <a:srgbClr val="4A6741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.JSON</a:t>
            </a:r>
            <a:endParaRPr lang="en-US" sz="750" dirty="0"/>
          </a:p>
        </p:txBody>
      </p:sp>
      <p:sp>
        <p:nvSpPr>
          <p:cNvPr id="30" name="Text 27"/>
          <p:cNvSpPr/>
          <p:nvPr/>
        </p:nvSpPr>
        <p:spPr>
          <a:xfrm>
            <a:off x="4772025" y="1125141"/>
            <a:ext cx="362902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Machine-readable design record, versionable and resellable.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4600575" y="1639491"/>
            <a:ext cx="3971925" cy="846534"/>
          </a:xfrm>
          <a:prstGeom prst="rect">
            <a:avLst/>
          </a:prstGeom>
          <a:solidFill>
            <a:srgbClr val="EEF2ED"/>
          </a:solidFill>
          <a:ln/>
        </p:spPr>
      </p:sp>
      <p:sp>
        <p:nvSpPr>
          <p:cNvPr id="32" name="Shape 29"/>
          <p:cNvSpPr/>
          <p:nvPr/>
        </p:nvSpPr>
        <p:spPr>
          <a:xfrm>
            <a:off x="4600575" y="1639491"/>
            <a:ext cx="28575" cy="846534"/>
          </a:xfrm>
          <a:prstGeom prst="rect">
            <a:avLst/>
          </a:prstGeom>
          <a:solidFill>
            <a:srgbClr val="4A6741"/>
          </a:solidFill>
          <a:ln/>
        </p:spPr>
      </p:sp>
      <p:sp>
        <p:nvSpPr>
          <p:cNvPr id="33" name="Text 30"/>
          <p:cNvSpPr/>
          <p:nvPr/>
        </p:nvSpPr>
        <p:spPr>
          <a:xfrm>
            <a:off x="4772025" y="1810941"/>
            <a:ext cx="1117997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ormorant Garamond SemiBold" pitchFamily="34" charset="0"/>
                <a:ea typeface="Cormorant Garamond SemiBold" pitchFamily="34" charset="-122"/>
                <a:cs typeface="Cormorant Garamond SemiBold" pitchFamily="34" charset="-120"/>
              </a:rPr>
              <a:t>Builder Guide</a:t>
            </a:r>
            <a:endParaRPr lang="en-US" sz="1400" dirty="0"/>
          </a:p>
        </p:txBody>
      </p:sp>
      <p:sp>
        <p:nvSpPr>
          <p:cNvPr id="34" name="Shape 31"/>
          <p:cNvSpPr/>
          <p:nvPr/>
        </p:nvSpPr>
        <p:spPr>
          <a:xfrm>
            <a:off x="7366602" y="1868091"/>
            <a:ext cx="1034448" cy="189309"/>
          </a:xfrm>
          <a:prstGeom prst="rect">
            <a:avLst/>
          </a:prstGeom>
          <a:solidFill>
            <a:srgbClr val="4A6741">
              <a:alpha val="10000"/>
            </a:srgbClr>
          </a:solidFill>
          <a:ln/>
        </p:spPr>
      </p:sp>
      <p:sp>
        <p:nvSpPr>
          <p:cNvPr id="35" name="Text 32"/>
          <p:cNvSpPr/>
          <p:nvPr/>
        </p:nvSpPr>
        <p:spPr>
          <a:xfrm>
            <a:off x="7366602" y="1868091"/>
            <a:ext cx="1034448" cy="189309"/>
          </a:xfrm>
          <a:prstGeom prst="rect">
            <a:avLst/>
          </a:prstGeom>
          <a:noFill/>
          <a:ln/>
        </p:spPr>
        <p:txBody>
          <a:bodyPr wrap="none" lIns="68072" tIns="34036" rIns="68072" bIns="34036" rtlCol="0" anchor="t">
            <a:spAutoFit/>
          </a:bodyPr>
          <a:lstStyle/>
          <a:p>
            <a:pPr algn="l" indent="0" marL="0">
              <a:buNone/>
            </a:pPr>
            <a:r>
              <a:rPr lang="en-US" sz="750" spc="1" kern="0" dirty="0">
                <a:solidFill>
                  <a:srgbClr val="4A6741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MARKDOWN / PDF</a:t>
            </a:r>
            <a:endParaRPr lang="en-US" sz="750" dirty="0"/>
          </a:p>
        </p:txBody>
      </p:sp>
      <p:sp>
        <p:nvSpPr>
          <p:cNvPr id="36" name="Text 33"/>
          <p:cNvSpPr/>
          <p:nvPr/>
        </p:nvSpPr>
        <p:spPr>
          <a:xfrm>
            <a:off x="4772025" y="2143125"/>
            <a:ext cx="362902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Step-by-step placement instructions for the wreath maker.</a:t>
            </a:r>
            <a:endParaRPr lang="en-US" sz="850" dirty="0"/>
          </a:p>
        </p:txBody>
      </p:sp>
      <p:sp>
        <p:nvSpPr>
          <p:cNvPr id="37" name="Shape 34"/>
          <p:cNvSpPr/>
          <p:nvPr/>
        </p:nvSpPr>
        <p:spPr>
          <a:xfrm>
            <a:off x="4600575" y="2657475"/>
            <a:ext cx="3971925" cy="846534"/>
          </a:xfrm>
          <a:prstGeom prst="rect">
            <a:avLst/>
          </a:prstGeom>
          <a:solidFill>
            <a:srgbClr val="EEF2ED"/>
          </a:solidFill>
          <a:ln/>
        </p:spPr>
      </p:sp>
      <p:sp>
        <p:nvSpPr>
          <p:cNvPr id="38" name="Shape 35"/>
          <p:cNvSpPr/>
          <p:nvPr/>
        </p:nvSpPr>
        <p:spPr>
          <a:xfrm>
            <a:off x="4600575" y="2657475"/>
            <a:ext cx="28575" cy="846534"/>
          </a:xfrm>
          <a:prstGeom prst="rect">
            <a:avLst/>
          </a:prstGeom>
          <a:solidFill>
            <a:srgbClr val="4A6741"/>
          </a:solidFill>
          <a:ln/>
        </p:spPr>
      </p:sp>
      <p:sp>
        <p:nvSpPr>
          <p:cNvPr id="39" name="Text 36"/>
          <p:cNvSpPr/>
          <p:nvPr/>
        </p:nvSpPr>
        <p:spPr>
          <a:xfrm>
            <a:off x="4772025" y="2828925"/>
            <a:ext cx="1042988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ormorant Garamond SemiBold" pitchFamily="34" charset="0"/>
                <a:ea typeface="Cormorant Garamond SemiBold" pitchFamily="34" charset="-122"/>
                <a:cs typeface="Cormorant Garamond SemiBold" pitchFamily="34" charset="-120"/>
              </a:rPr>
              <a:t>SVG Preview</a:t>
            </a:r>
            <a:endParaRPr lang="en-US" sz="1400" dirty="0"/>
          </a:p>
        </p:txBody>
      </p:sp>
      <p:sp>
        <p:nvSpPr>
          <p:cNvPr id="40" name="Shape 37"/>
          <p:cNvSpPr/>
          <p:nvPr/>
        </p:nvSpPr>
        <p:spPr>
          <a:xfrm>
            <a:off x="8023827" y="2886075"/>
            <a:ext cx="377223" cy="189309"/>
          </a:xfrm>
          <a:prstGeom prst="rect">
            <a:avLst/>
          </a:prstGeom>
          <a:solidFill>
            <a:srgbClr val="4A6741">
              <a:alpha val="10000"/>
            </a:srgbClr>
          </a:solidFill>
          <a:ln/>
        </p:spPr>
      </p:sp>
      <p:sp>
        <p:nvSpPr>
          <p:cNvPr id="41" name="Text 38"/>
          <p:cNvSpPr/>
          <p:nvPr/>
        </p:nvSpPr>
        <p:spPr>
          <a:xfrm>
            <a:off x="8023827" y="2886075"/>
            <a:ext cx="377223" cy="189309"/>
          </a:xfrm>
          <a:prstGeom prst="rect">
            <a:avLst/>
          </a:prstGeom>
          <a:noFill/>
          <a:ln/>
        </p:spPr>
        <p:txBody>
          <a:bodyPr wrap="none" lIns="68072" tIns="34036" rIns="68072" bIns="34036" rtlCol="0" anchor="t">
            <a:spAutoFit/>
          </a:bodyPr>
          <a:lstStyle/>
          <a:p>
            <a:pPr algn="l" indent="0" marL="0">
              <a:buNone/>
            </a:pPr>
            <a:r>
              <a:rPr lang="en-US" sz="750" spc="1" kern="0" dirty="0">
                <a:solidFill>
                  <a:srgbClr val="4A6741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.SVG</a:t>
            </a:r>
            <a:endParaRPr lang="en-US" sz="750" dirty="0"/>
          </a:p>
        </p:txBody>
      </p:sp>
      <p:sp>
        <p:nvSpPr>
          <p:cNvPr id="42" name="Text 39"/>
          <p:cNvSpPr/>
          <p:nvPr/>
        </p:nvSpPr>
        <p:spPr>
          <a:xfrm>
            <a:off x="4772025" y="3161109"/>
            <a:ext cx="362902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Visual canvas preview of the polar placement layout.</a:t>
            </a:r>
            <a:endParaRPr lang="en-US" sz="850" dirty="0"/>
          </a:p>
        </p:txBody>
      </p:sp>
      <p:sp>
        <p:nvSpPr>
          <p:cNvPr id="43" name="Shape 40"/>
          <p:cNvSpPr/>
          <p:nvPr/>
        </p:nvSpPr>
        <p:spPr>
          <a:xfrm>
            <a:off x="4600575" y="3675459"/>
            <a:ext cx="3971925" cy="846534"/>
          </a:xfrm>
          <a:prstGeom prst="rect">
            <a:avLst/>
          </a:prstGeom>
          <a:solidFill>
            <a:srgbClr val="EEF2ED"/>
          </a:solidFill>
          <a:ln/>
        </p:spPr>
      </p:sp>
      <p:sp>
        <p:nvSpPr>
          <p:cNvPr id="44" name="Shape 41"/>
          <p:cNvSpPr/>
          <p:nvPr/>
        </p:nvSpPr>
        <p:spPr>
          <a:xfrm>
            <a:off x="4600575" y="3675459"/>
            <a:ext cx="28575" cy="846534"/>
          </a:xfrm>
          <a:prstGeom prst="rect">
            <a:avLst/>
          </a:prstGeom>
          <a:solidFill>
            <a:srgbClr val="4A6741"/>
          </a:solidFill>
          <a:ln/>
        </p:spPr>
      </p:sp>
      <p:sp>
        <p:nvSpPr>
          <p:cNvPr id="45" name="Text 42"/>
          <p:cNvSpPr/>
          <p:nvPr/>
        </p:nvSpPr>
        <p:spPr>
          <a:xfrm>
            <a:off x="4772025" y="3846909"/>
            <a:ext cx="1232297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ormorant Garamond SemiBold" pitchFamily="34" charset="0"/>
                <a:ea typeface="Cormorant Garamond SemiBold" pitchFamily="34" charset="-122"/>
                <a:cs typeface="Cormorant Garamond SemiBold" pitchFamily="34" charset="-120"/>
              </a:rPr>
              <a:t>Render Prompt</a:t>
            </a:r>
            <a:endParaRPr lang="en-US" sz="1400" dirty="0"/>
          </a:p>
        </p:txBody>
      </p:sp>
      <p:sp>
        <p:nvSpPr>
          <p:cNvPr id="46" name="Shape 43"/>
          <p:cNvSpPr/>
          <p:nvPr/>
        </p:nvSpPr>
        <p:spPr>
          <a:xfrm>
            <a:off x="8023827" y="3904059"/>
            <a:ext cx="377223" cy="189309"/>
          </a:xfrm>
          <a:prstGeom prst="rect">
            <a:avLst/>
          </a:prstGeom>
          <a:solidFill>
            <a:srgbClr val="4A6741">
              <a:alpha val="10000"/>
            </a:srgbClr>
          </a:solidFill>
          <a:ln/>
        </p:spPr>
      </p:sp>
      <p:sp>
        <p:nvSpPr>
          <p:cNvPr id="47" name="Text 44"/>
          <p:cNvSpPr/>
          <p:nvPr/>
        </p:nvSpPr>
        <p:spPr>
          <a:xfrm>
            <a:off x="8023827" y="3904059"/>
            <a:ext cx="377223" cy="189309"/>
          </a:xfrm>
          <a:prstGeom prst="rect">
            <a:avLst/>
          </a:prstGeom>
          <a:noFill/>
          <a:ln/>
        </p:spPr>
        <p:txBody>
          <a:bodyPr wrap="none" lIns="68072" tIns="34036" rIns="68072" bIns="34036" rtlCol="0" anchor="t">
            <a:spAutoFit/>
          </a:bodyPr>
          <a:lstStyle/>
          <a:p>
            <a:pPr algn="l" indent="0" marL="0">
              <a:buNone/>
            </a:pPr>
            <a:r>
              <a:rPr lang="en-US" sz="750" spc="1" kern="0" dirty="0">
                <a:solidFill>
                  <a:srgbClr val="4A6741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TEXT</a:t>
            </a:r>
            <a:endParaRPr lang="en-US" sz="750" dirty="0"/>
          </a:p>
        </p:txBody>
      </p:sp>
      <p:sp>
        <p:nvSpPr>
          <p:cNvPr id="48" name="Text 45"/>
          <p:cNvSpPr/>
          <p:nvPr/>
        </p:nvSpPr>
        <p:spPr>
          <a:xfrm>
            <a:off x="4772025" y="4179094"/>
            <a:ext cx="362902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Midjourney-ready photorealistic render prompt.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610177"/>
            <a:ext cx="3714750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spc="1" kern="0" dirty="0">
                <a:solidFill>
                  <a:srgbClr val="4A6741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FLORAL INTELLIGENCE</a:t>
            </a:r>
            <a:endParaRPr lang="en-US" sz="700" dirty="0"/>
          </a:p>
        </p:txBody>
      </p:sp>
      <p:sp>
        <p:nvSpPr>
          <p:cNvPr id="4" name="Text 1"/>
          <p:cNvSpPr/>
          <p:nvPr/>
        </p:nvSpPr>
        <p:spPr>
          <a:xfrm>
            <a:off x="571500" y="845920"/>
            <a:ext cx="3714750" cy="15086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250" b="1" dirty="0">
                <a:solidFill>
                  <a:srgbClr val="1A1A1A"/>
                </a:solidFill>
                <a:latin typeface="Cormorant Garamond SemiBold" pitchFamily="34" charset="0"/>
                <a:ea typeface="Cormorant Garamond SemiBold" pitchFamily="34" charset="-122"/>
                <a:cs typeface="Cormorant Garamond SemiBold" pitchFamily="34" charset="-120"/>
              </a:rPr>
              <a:t>Every stem behaves like a design organism with traits, roles, and substitution neighbors.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2440316"/>
            <a:ext cx="3714750" cy="1028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Floral Genome Engine represents each stem as a structured design object. Genome records capture physical traits, emotional resonance, and a substitution chain — enabling the engine to find replacements when inventory is missing items.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571500" y="3583205"/>
            <a:ext cx="3714750" cy="257175"/>
          </a:xfrm>
          <a:prstGeom prst="rect">
            <a:avLst/>
          </a:prstGeom>
          <a:noFill/>
          <a:ln/>
        </p:spPr>
        <p:txBody>
          <a:bodyPr wrap="square" lIns="0" tIns="0" rIns="0" bIns="51054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ormorant Garamond SemiBold" pitchFamily="34" charset="0"/>
                <a:ea typeface="Cormorant Garamond SemiBold" pitchFamily="34" charset="-122"/>
                <a:cs typeface="Cormorant Garamond SemiBold" pitchFamily="34" charset="-120"/>
              </a:rPr>
              <a:t>Substitution Similarity Weights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71500" y="3926105"/>
            <a:ext cx="34290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A6741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30%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914400" y="3931462"/>
            <a:ext cx="603647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Bloom Size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571500" y="4133273"/>
            <a:ext cx="34290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A6741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25%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914400" y="4138631"/>
            <a:ext cx="732234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Gesture Type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571500" y="4340442"/>
            <a:ext cx="34290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A6741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20%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914400" y="4345800"/>
            <a:ext cx="414338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Texture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571500" y="4547611"/>
            <a:ext cx="34290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A6741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15%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914400" y="4552969"/>
            <a:ext cx="671513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Color Family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571500" y="4754780"/>
            <a:ext cx="34290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A6741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10%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914400" y="4760137"/>
            <a:ext cx="735806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Emotion Tags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4572000" y="571500"/>
            <a:ext cx="4000500" cy="442912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18" name="Shape 15"/>
          <p:cNvSpPr/>
          <p:nvPr/>
        </p:nvSpPr>
        <p:spPr>
          <a:xfrm>
            <a:off x="4572000" y="571500"/>
            <a:ext cx="7144" cy="4429125"/>
          </a:xfrm>
          <a:prstGeom prst="rect">
            <a:avLst/>
          </a:prstGeom>
          <a:solidFill>
            <a:srgbClr val="D0D0D0"/>
          </a:solidFill>
          <a:ln/>
        </p:spPr>
      </p:sp>
      <p:sp>
        <p:nvSpPr>
          <p:cNvPr id="19" name="Shape 16"/>
          <p:cNvSpPr/>
          <p:nvPr/>
        </p:nvSpPr>
        <p:spPr>
          <a:xfrm>
            <a:off x="4857750" y="1744861"/>
            <a:ext cx="3714750" cy="1460897"/>
          </a:xfrm>
          <a:prstGeom prst="rect">
            <a:avLst/>
          </a:prstGeom>
          <a:solidFill>
            <a:srgbClr val="EEF2ED"/>
          </a:solidFill>
          <a:ln/>
        </p:spPr>
      </p:sp>
      <p:sp>
        <p:nvSpPr>
          <p:cNvPr id="20" name="Shape 17"/>
          <p:cNvSpPr/>
          <p:nvPr/>
        </p:nvSpPr>
        <p:spPr>
          <a:xfrm>
            <a:off x="4857750" y="1744861"/>
            <a:ext cx="28575" cy="1460897"/>
          </a:xfrm>
          <a:prstGeom prst="rect">
            <a:avLst/>
          </a:prstGeom>
          <a:solidFill>
            <a:srgbClr val="4A6741"/>
          </a:solidFill>
          <a:ln/>
        </p:spPr>
      </p:sp>
      <p:sp>
        <p:nvSpPr>
          <p:cNvPr id="21" name="Text 18"/>
          <p:cNvSpPr/>
          <p:nvPr/>
        </p:nvSpPr>
        <p:spPr>
          <a:xfrm>
            <a:off x="5000625" y="1887736"/>
            <a:ext cx="3429000" cy="275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ormorant Garamond SemiBold" pitchFamily="34" charset="0"/>
                <a:ea typeface="Cormorant Garamond SemiBold" pitchFamily="34" charset="-122"/>
                <a:cs typeface="Cormorant Garamond SemiBold" pitchFamily="34" charset="-120"/>
              </a:rPr>
              <a:t>Rose Tamora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5000625" y="2162770"/>
            <a:ext cx="3429000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spc="1" kern="0" dirty="0">
                <a:solidFill>
                  <a:srgbClr val="4A6741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SKU: 96532NT</a:t>
            </a:r>
            <a:endParaRPr lang="en-US" sz="750" dirty="0"/>
          </a:p>
        </p:txBody>
      </p:sp>
      <p:sp>
        <p:nvSpPr>
          <p:cNvPr id="23" name="Text 20"/>
          <p:cNvSpPr/>
          <p:nvPr/>
        </p:nvSpPr>
        <p:spPr>
          <a:xfrm>
            <a:off x="5000625" y="2409230"/>
            <a:ext cx="1657350" cy="103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DIMENSIONS</a:t>
            </a:r>
            <a:endParaRPr lang="en-US" sz="600" dirty="0"/>
          </a:p>
        </p:txBody>
      </p:sp>
      <p:sp>
        <p:nvSpPr>
          <p:cNvPr id="24" name="Text 21"/>
          <p:cNvSpPr/>
          <p:nvPr/>
        </p:nvSpPr>
        <p:spPr>
          <a:xfrm>
            <a:off x="5000625" y="2541389"/>
            <a:ext cx="1657350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3.8" Bloom · 18" Stem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6772275" y="2409230"/>
            <a:ext cx="1657350" cy="103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PHYSICAL TRAITS</a:t>
            </a:r>
            <a:endParaRPr lang="en-US" sz="600" dirty="0"/>
          </a:p>
        </p:txBody>
      </p:sp>
      <p:sp>
        <p:nvSpPr>
          <p:cNvPr id="26" name="Text 23"/>
          <p:cNvSpPr/>
          <p:nvPr/>
        </p:nvSpPr>
        <p:spPr>
          <a:xfrm>
            <a:off x="6772275" y="2541389"/>
            <a:ext cx="1657350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Cluster · Velvet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5000625" y="2777133"/>
            <a:ext cx="1657350" cy="103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ROLE CAPABILITIES</a:t>
            </a:r>
            <a:endParaRPr lang="en-US" sz="600" dirty="0"/>
          </a:p>
        </p:txBody>
      </p:sp>
      <p:sp>
        <p:nvSpPr>
          <p:cNvPr id="28" name="Shape 25"/>
          <p:cNvSpPr/>
          <p:nvPr/>
        </p:nvSpPr>
        <p:spPr>
          <a:xfrm>
            <a:off x="5000625" y="2909292"/>
            <a:ext cx="346472" cy="153591"/>
          </a:xfrm>
          <a:prstGeom prst="rect">
            <a:avLst/>
          </a:prstGeom>
          <a:solidFill>
            <a:srgbClr val="FFFFFF"/>
          </a:solidFill>
          <a:ln w="9144">
            <a:solidFill>
              <a:srgbClr val="D0D0D0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000625" y="2909292"/>
            <a:ext cx="346472" cy="153591"/>
          </a:xfrm>
          <a:prstGeom prst="rect">
            <a:avLst/>
          </a:prstGeom>
          <a:noFill/>
          <a:ln/>
        </p:spPr>
        <p:txBody>
          <a:bodyPr wrap="none" lIns="68072" tIns="17018" rIns="68072" bIns="17018" rtlCol="0" anchor="t">
            <a:sp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focal</a:t>
            </a:r>
            <a:endParaRPr lang="en-US" sz="650" dirty="0"/>
          </a:p>
        </p:txBody>
      </p:sp>
      <p:sp>
        <p:nvSpPr>
          <p:cNvPr id="30" name="Shape 27"/>
          <p:cNvSpPr/>
          <p:nvPr/>
        </p:nvSpPr>
        <p:spPr>
          <a:xfrm>
            <a:off x="5389959" y="2909292"/>
            <a:ext cx="596503" cy="153591"/>
          </a:xfrm>
          <a:prstGeom prst="rect">
            <a:avLst/>
          </a:prstGeom>
          <a:solidFill>
            <a:srgbClr val="FFFFFF"/>
          </a:solidFill>
          <a:ln w="9144">
            <a:solidFill>
              <a:srgbClr val="D0D0D0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389959" y="2909292"/>
            <a:ext cx="596503" cy="153591"/>
          </a:xfrm>
          <a:prstGeom prst="rect">
            <a:avLst/>
          </a:prstGeom>
          <a:noFill/>
          <a:ln/>
        </p:spPr>
        <p:txBody>
          <a:bodyPr wrap="none" lIns="68072" tIns="17018" rIns="68072" bIns="17018" rtlCol="0" anchor="t">
            <a:sp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secondary</a:t>
            </a:r>
            <a:endParaRPr lang="en-US" sz="650" dirty="0"/>
          </a:p>
        </p:txBody>
      </p:sp>
      <p:sp>
        <p:nvSpPr>
          <p:cNvPr id="32" name="Text 29"/>
          <p:cNvSpPr/>
          <p:nvPr/>
        </p:nvSpPr>
        <p:spPr>
          <a:xfrm>
            <a:off x="6772275" y="2777133"/>
            <a:ext cx="1657350" cy="103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EMOTION TAGS</a:t>
            </a:r>
            <a:endParaRPr lang="en-US" sz="600" dirty="0"/>
          </a:p>
        </p:txBody>
      </p:sp>
      <p:sp>
        <p:nvSpPr>
          <p:cNvPr id="33" name="Shape 30"/>
          <p:cNvSpPr/>
          <p:nvPr/>
        </p:nvSpPr>
        <p:spPr>
          <a:xfrm>
            <a:off x="6772275" y="2909292"/>
            <a:ext cx="517922" cy="153591"/>
          </a:xfrm>
          <a:prstGeom prst="rect">
            <a:avLst/>
          </a:prstGeom>
          <a:solidFill>
            <a:srgbClr val="FFFFFF"/>
          </a:solidFill>
          <a:ln w="9144">
            <a:solidFill>
              <a:srgbClr val="D0D0D0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6772275" y="2909292"/>
            <a:ext cx="517922" cy="153591"/>
          </a:xfrm>
          <a:prstGeom prst="rect">
            <a:avLst/>
          </a:prstGeom>
          <a:noFill/>
          <a:ln/>
        </p:spPr>
        <p:txBody>
          <a:bodyPr wrap="none" lIns="68072" tIns="17018" rIns="68072" bIns="17018" rtlCol="0" anchor="t">
            <a:sp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romantic</a:t>
            </a:r>
            <a:endParaRPr lang="en-US" sz="650" dirty="0"/>
          </a:p>
        </p:txBody>
      </p:sp>
      <p:sp>
        <p:nvSpPr>
          <p:cNvPr id="35" name="Shape 32"/>
          <p:cNvSpPr/>
          <p:nvPr/>
        </p:nvSpPr>
        <p:spPr>
          <a:xfrm>
            <a:off x="7333059" y="2909292"/>
            <a:ext cx="396478" cy="153591"/>
          </a:xfrm>
          <a:prstGeom prst="rect">
            <a:avLst/>
          </a:prstGeom>
          <a:solidFill>
            <a:srgbClr val="FFFFFF"/>
          </a:solidFill>
          <a:ln w="9144">
            <a:solidFill>
              <a:srgbClr val="D0D0D0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7333059" y="2909292"/>
            <a:ext cx="396478" cy="153591"/>
          </a:xfrm>
          <a:prstGeom prst="rect">
            <a:avLst/>
          </a:prstGeom>
          <a:noFill/>
          <a:ln/>
        </p:spPr>
        <p:txBody>
          <a:bodyPr wrap="none" lIns="68072" tIns="17018" rIns="68072" bIns="17018" rtlCol="0" anchor="t">
            <a:sp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luxury</a:t>
            </a:r>
            <a:endParaRPr lang="en-US" sz="650" dirty="0"/>
          </a:p>
        </p:txBody>
      </p:sp>
      <p:sp>
        <p:nvSpPr>
          <p:cNvPr id="37" name="Text 34"/>
          <p:cNvSpPr/>
          <p:nvPr/>
        </p:nvSpPr>
        <p:spPr>
          <a:xfrm>
            <a:off x="4857750" y="3312914"/>
            <a:ext cx="3714750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ormorant Garamond SemiBold" pitchFamily="34" charset="0"/>
                <a:ea typeface="Cormorant Garamond SemiBold" pitchFamily="34" charset="-122"/>
                <a:cs typeface="Cormorant Garamond SemiBold" pitchFamily="34" charset="-120"/>
              </a:rPr>
              <a:t>Substitution Neighbors</a:t>
            </a:r>
            <a:endParaRPr lang="en-US" sz="1200" dirty="0"/>
          </a:p>
        </p:txBody>
      </p:sp>
      <p:sp>
        <p:nvSpPr>
          <p:cNvPr id="38" name="Shape 35"/>
          <p:cNvSpPr/>
          <p:nvPr/>
        </p:nvSpPr>
        <p:spPr>
          <a:xfrm>
            <a:off x="4857750" y="3605808"/>
            <a:ext cx="1232297" cy="214313"/>
          </a:xfrm>
          <a:prstGeom prst="rect">
            <a:avLst/>
          </a:prstGeom>
          <a:solidFill>
            <a:srgbClr val="4A6741"/>
          </a:solidFill>
          <a:ln/>
        </p:spPr>
      </p:sp>
      <p:sp>
        <p:nvSpPr>
          <p:cNvPr id="39" name="Text 36"/>
          <p:cNvSpPr/>
          <p:nvPr/>
        </p:nvSpPr>
        <p:spPr>
          <a:xfrm>
            <a:off x="4857750" y="3605808"/>
            <a:ext cx="1232297" cy="214313"/>
          </a:xfrm>
          <a:prstGeom prst="rect">
            <a:avLst/>
          </a:prstGeom>
          <a:noFill/>
          <a:ln/>
        </p:spPr>
        <p:txBody>
          <a:bodyPr wrap="none" lIns="102108" tIns="51054" rIns="102108" bIns="51054" rtlCol="0" anchor="t">
            <a:sp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F9F7F4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English Garden Rose</a:t>
            </a:r>
            <a:endParaRPr lang="en-US" sz="800" dirty="0"/>
          </a:p>
        </p:txBody>
      </p:sp>
      <p:sp>
        <p:nvSpPr>
          <p:cNvPr id="40" name="Text 37"/>
          <p:cNvSpPr/>
          <p:nvPr/>
        </p:nvSpPr>
        <p:spPr>
          <a:xfrm>
            <a:off x="6147197" y="3643313"/>
            <a:ext cx="114300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A8A8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850" dirty="0"/>
          </a:p>
        </p:txBody>
      </p:sp>
      <p:sp>
        <p:nvSpPr>
          <p:cNvPr id="41" name="Shape 38"/>
          <p:cNvSpPr/>
          <p:nvPr/>
        </p:nvSpPr>
        <p:spPr>
          <a:xfrm>
            <a:off x="6318647" y="3605808"/>
            <a:ext cx="921544" cy="214313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42" name="Text 39"/>
          <p:cNvSpPr/>
          <p:nvPr/>
        </p:nvSpPr>
        <p:spPr>
          <a:xfrm>
            <a:off x="6318647" y="3605808"/>
            <a:ext cx="921544" cy="214313"/>
          </a:xfrm>
          <a:prstGeom prst="rect">
            <a:avLst/>
          </a:prstGeom>
          <a:noFill/>
          <a:ln/>
        </p:spPr>
        <p:txBody>
          <a:bodyPr wrap="none" lIns="102108" tIns="51054" rIns="102108" bIns="51054" rtlCol="0" anchor="t">
            <a:sp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F9F7F4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Cabbage Rose</a:t>
            </a:r>
            <a:endParaRPr lang="en-US" sz="800" dirty="0"/>
          </a:p>
        </p:txBody>
      </p:sp>
      <p:sp>
        <p:nvSpPr>
          <p:cNvPr id="43" name="Text 40"/>
          <p:cNvSpPr/>
          <p:nvPr/>
        </p:nvSpPr>
        <p:spPr>
          <a:xfrm>
            <a:off x="7297341" y="3643313"/>
            <a:ext cx="114300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A8A8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850" dirty="0"/>
          </a:p>
        </p:txBody>
      </p:sp>
      <p:sp>
        <p:nvSpPr>
          <p:cNvPr id="44" name="Shape 41"/>
          <p:cNvSpPr/>
          <p:nvPr/>
        </p:nvSpPr>
        <p:spPr>
          <a:xfrm>
            <a:off x="7468791" y="3605808"/>
            <a:ext cx="767953" cy="214313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45" name="Text 42"/>
          <p:cNvSpPr/>
          <p:nvPr/>
        </p:nvSpPr>
        <p:spPr>
          <a:xfrm>
            <a:off x="7468791" y="3605808"/>
            <a:ext cx="767953" cy="214313"/>
          </a:xfrm>
          <a:prstGeom prst="rect">
            <a:avLst/>
          </a:prstGeom>
          <a:noFill/>
          <a:ln/>
        </p:spPr>
        <p:txBody>
          <a:bodyPr wrap="none" lIns="102108" tIns="51054" rIns="102108" bIns="51054" rtlCol="0" anchor="t">
            <a:sp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F9F7F4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Ranunculus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571500"/>
            <a:ext cx="3443288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spc="1" kern="0" dirty="0">
                <a:solidFill>
                  <a:srgbClr val="4A6741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COMPOSITION FORMULAS</a:t>
            </a:r>
            <a:endParaRPr lang="en-US" sz="700" dirty="0"/>
          </a:p>
        </p:txBody>
      </p:sp>
      <p:sp>
        <p:nvSpPr>
          <p:cNvPr id="4" name="Text 1"/>
          <p:cNvSpPr/>
          <p:nvPr/>
        </p:nvSpPr>
        <p:spPr>
          <a:xfrm>
            <a:off x="428625" y="807244"/>
            <a:ext cx="3443288" cy="15086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250" b="1" dirty="0">
                <a:solidFill>
                  <a:srgbClr val="1A1A1A"/>
                </a:solidFill>
                <a:latin typeface="Cormorant Garamond SemiBold" pitchFamily="34" charset="0"/>
                <a:ea typeface="Cormorant Garamond SemiBold" pitchFamily="34" charset="-122"/>
                <a:cs typeface="Cormorant Garamond SemiBold" pitchFamily="34" charset="-120"/>
              </a:rPr>
              <a:t>Six registered formulas define the structural vocabulary of Evercrafted wreaths.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428625" y="2430214"/>
            <a:ext cx="3443288" cy="1028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Each formula is a complete wreath structure definition — anchor groups, zone arcs, density curves, and role bias ratios. The Formula Selector scores all six and picks the optimal match for the current emotional intent and inventory.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428625" y="3573103"/>
            <a:ext cx="3443288" cy="1138535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7" name="Shape 4"/>
          <p:cNvSpPr/>
          <p:nvPr/>
        </p:nvSpPr>
        <p:spPr>
          <a:xfrm>
            <a:off x="428625" y="3573103"/>
            <a:ext cx="28575" cy="1138535"/>
          </a:xfrm>
          <a:prstGeom prst="rect">
            <a:avLst/>
          </a:prstGeom>
          <a:solidFill>
            <a:srgbClr val="C4922A"/>
          </a:solidFill>
          <a:ln/>
        </p:spPr>
      </p:sp>
      <p:sp>
        <p:nvSpPr>
          <p:cNvPr id="8" name="Text 5"/>
          <p:cNvSpPr/>
          <p:nvPr/>
        </p:nvSpPr>
        <p:spPr>
          <a:xfrm>
            <a:off x="542925" y="3687403"/>
            <a:ext cx="3214688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spc="1" kern="0" dirty="0">
                <a:solidFill>
                  <a:srgbClr val="C4922A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FORMULA SCHEMA KEY FIELDS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542925" y="3865997"/>
            <a:ext cx="3214688" cy="7313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6B8F67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"</a:t>
            </a:r>
            <a:r>
              <a:rPr lang="en-US" sz="850" dirty="0">
                <a:solidFill>
                  <a:srgbClr val="EEF2ED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anchor_groups</a:t>
            </a:r>
            <a:r>
              <a:rPr lang="en-US" sz="850" dirty="0">
                <a:solidFill>
                  <a:srgbClr val="6B8F67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"</a:t>
            </a:r>
            <a:r>
              <a:rPr lang="en-US" sz="850" dirty="0">
                <a:solidFill>
                  <a:srgbClr val="EEF2ED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
</a:t>
            </a:r>
            <a:r>
              <a:rPr lang="en-US" sz="850" dirty="0">
                <a:solidFill>
                  <a:srgbClr val="6B8F67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"</a:t>
            </a:r>
            <a:r>
              <a:rPr lang="en-US" sz="850" dirty="0">
                <a:solidFill>
                  <a:srgbClr val="EEF2ED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zone_definitions</a:t>
            </a:r>
            <a:r>
              <a:rPr lang="en-US" sz="850" dirty="0">
                <a:solidFill>
                  <a:srgbClr val="6B8F67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"</a:t>
            </a:r>
            <a:r>
              <a:rPr lang="en-US" sz="850" dirty="0">
                <a:solidFill>
                  <a:srgbClr val="EEF2ED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
</a:t>
            </a:r>
            <a:r>
              <a:rPr lang="en-US" sz="850" dirty="0">
                <a:solidFill>
                  <a:srgbClr val="6B8F67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"</a:t>
            </a:r>
            <a:r>
              <a:rPr lang="en-US" sz="850" dirty="0">
                <a:solidFill>
                  <a:srgbClr val="EEF2ED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density_curve</a:t>
            </a:r>
            <a:r>
              <a:rPr lang="en-US" sz="850" dirty="0">
                <a:solidFill>
                  <a:srgbClr val="6B8F67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"</a:t>
            </a:r>
            <a:r>
              <a:rPr lang="en-US" sz="850" dirty="0">
                <a:solidFill>
                  <a:srgbClr val="EEF2ED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
</a:t>
            </a:r>
            <a:r>
              <a:rPr lang="en-US" sz="850" dirty="0">
                <a:solidFill>
                  <a:srgbClr val="6B8F67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"</a:t>
            </a:r>
            <a:r>
              <a:rPr lang="en-US" sz="850" dirty="0">
                <a:solidFill>
                  <a:srgbClr val="EEF2ED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role_bias</a:t>
            </a:r>
            <a:r>
              <a:rPr lang="en-US" sz="850" dirty="0">
                <a:solidFill>
                  <a:srgbClr val="6B8F67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"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4157663" y="571500"/>
            <a:ext cx="4557713" cy="428625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4157663" y="571500"/>
            <a:ext cx="7144" cy="4286250"/>
          </a:xfrm>
          <a:prstGeom prst="rect">
            <a:avLst/>
          </a:prstGeom>
          <a:solidFill>
            <a:srgbClr val="D0D0D0"/>
          </a:solidFill>
          <a:ln/>
        </p:spPr>
      </p:sp>
      <p:sp>
        <p:nvSpPr>
          <p:cNvPr id="12" name="Text 9"/>
          <p:cNvSpPr/>
          <p:nvPr/>
        </p:nvSpPr>
        <p:spPr>
          <a:xfrm>
            <a:off x="4443413" y="571500"/>
            <a:ext cx="1495165" cy="300038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700" b="1" spc="1" kern="0" dirty="0">
                <a:solidFill>
                  <a:srgbClr val="4A4A4A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FORMULA ID</a:t>
            </a:r>
            <a:endParaRPr lang="en-US" sz="700" dirty="0"/>
          </a:p>
        </p:txBody>
      </p:sp>
      <p:sp>
        <p:nvSpPr>
          <p:cNvPr id="13" name="Text 10"/>
          <p:cNvSpPr/>
          <p:nvPr/>
        </p:nvSpPr>
        <p:spPr>
          <a:xfrm>
            <a:off x="5938577" y="571500"/>
            <a:ext cx="1708752" cy="300038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700" b="1" spc="1" kern="0" dirty="0">
                <a:solidFill>
                  <a:srgbClr val="4A4A4A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NAME</a:t>
            </a:r>
            <a:endParaRPr lang="en-US" sz="700" dirty="0"/>
          </a:p>
        </p:txBody>
      </p:sp>
      <p:sp>
        <p:nvSpPr>
          <p:cNvPr id="14" name="Text 11"/>
          <p:cNvSpPr/>
          <p:nvPr/>
        </p:nvSpPr>
        <p:spPr>
          <a:xfrm>
            <a:off x="7647329" y="571500"/>
            <a:ext cx="1068046" cy="300038"/>
          </a:xfrm>
          <a:prstGeom prst="rect">
            <a:avLst/>
          </a:prstGeom>
          <a:noFill/>
          <a:ln/>
        </p:spPr>
        <p:txBody>
          <a:bodyPr wrap="none" lIns="102108" tIns="102108" rIns="102108" bIns="102108" rtlCol="0" anchor="ctr">
            <a:spAutoFit/>
          </a:bodyPr>
          <a:lstStyle/>
          <a:p>
            <a:pPr algn="r" indent="0" marL="0">
              <a:buNone/>
            </a:pPr>
            <a:r>
              <a:rPr lang="en-US" sz="700" b="1" spc="1" kern="0" dirty="0">
                <a:solidFill>
                  <a:srgbClr val="4A4A4A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CONFIDENCE</a:t>
            </a:r>
            <a:endParaRPr lang="en-US" sz="700" dirty="0"/>
          </a:p>
        </p:txBody>
      </p:sp>
      <p:sp>
        <p:nvSpPr>
          <p:cNvPr id="15" name="Shape 12"/>
          <p:cNvSpPr/>
          <p:nvPr/>
        </p:nvSpPr>
        <p:spPr>
          <a:xfrm>
            <a:off x="4443413" y="871538"/>
            <a:ext cx="4271963" cy="389334"/>
          </a:xfrm>
          <a:prstGeom prst="rect">
            <a:avLst/>
          </a:prstGeom>
          <a:solidFill>
            <a:srgbClr val="EEF2ED"/>
          </a:solidFill>
          <a:ln/>
        </p:spPr>
      </p:sp>
      <p:sp>
        <p:nvSpPr>
          <p:cNvPr id="16" name="Text 13"/>
          <p:cNvSpPr/>
          <p:nvPr/>
        </p:nvSpPr>
        <p:spPr>
          <a:xfrm>
            <a:off x="4443413" y="871538"/>
            <a:ext cx="1495165" cy="389334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crescent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5938577" y="871538"/>
            <a:ext cx="1708752" cy="389334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ormorant Garamond SemiBold" pitchFamily="34" charset="0"/>
                <a:ea typeface="Cormorant Garamond SemiBold" pitchFamily="34" charset="-122"/>
                <a:cs typeface="Cormorant Garamond SemiBold" pitchFamily="34" charset="-120"/>
              </a:rPr>
              <a:t>Crescent Sweep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8072438" y="984052"/>
            <a:ext cx="392906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4A6741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0.84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8522494" y="987623"/>
            <a:ext cx="107156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4A6741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✓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4443413" y="1260872"/>
            <a:ext cx="1495165" cy="385763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focal_trio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5938577" y="1260872"/>
            <a:ext cx="1708752" cy="385763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ormorant Garamond SemiBold" pitchFamily="34" charset="0"/>
                <a:ea typeface="Cormorant Garamond SemiBold" pitchFamily="34" charset="-122"/>
                <a:cs typeface="Cormorant Garamond SemiBold" pitchFamily="34" charset="-120"/>
              </a:rPr>
              <a:t>Focal Trio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7647329" y="1260872"/>
            <a:ext cx="1068046" cy="385763"/>
          </a:xfrm>
          <a:prstGeom prst="rect">
            <a:avLst/>
          </a:prstGeom>
          <a:noFill/>
          <a:ln/>
        </p:spPr>
        <p:txBody>
          <a:bodyPr wrap="none" lIns="102108" tIns="102108" rIns="102108" bIns="102108" rtlCol="0" anchor="ctr">
            <a:sp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0.81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4443413" y="1646634"/>
            <a:ext cx="1495165" cy="385763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triangular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5938577" y="1646634"/>
            <a:ext cx="1708752" cy="385763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ormorant Garamond SemiBold" pitchFamily="34" charset="0"/>
                <a:ea typeface="Cormorant Garamond SemiBold" pitchFamily="34" charset="-122"/>
                <a:cs typeface="Cormorant Garamond SemiBold" pitchFamily="34" charset="-120"/>
              </a:rPr>
              <a:t>Triangular Balance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7647329" y="1646634"/>
            <a:ext cx="1068046" cy="385763"/>
          </a:xfrm>
          <a:prstGeom prst="rect">
            <a:avLst/>
          </a:prstGeom>
          <a:noFill/>
          <a:ln/>
        </p:spPr>
        <p:txBody>
          <a:bodyPr wrap="none" lIns="102108" tIns="102108" rIns="102108" bIns="102108" rtlCol="0" anchor="ctr">
            <a:sp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0.79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4443413" y="2032397"/>
            <a:ext cx="1495165" cy="385763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asymmetric</a:t>
            </a: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5938577" y="2032397"/>
            <a:ext cx="1708752" cy="385763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ormorant Garamond SemiBold" pitchFamily="34" charset="0"/>
                <a:ea typeface="Cormorant Garamond SemiBold" pitchFamily="34" charset="-122"/>
                <a:cs typeface="Cormorant Garamond SemiBold" pitchFamily="34" charset="-120"/>
              </a:rPr>
              <a:t>Asymmetric Weight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7647329" y="2032397"/>
            <a:ext cx="1068046" cy="385763"/>
          </a:xfrm>
          <a:prstGeom prst="rect">
            <a:avLst/>
          </a:prstGeom>
          <a:noFill/>
          <a:ln/>
        </p:spPr>
        <p:txBody>
          <a:bodyPr wrap="none" lIns="102108" tIns="102108" rIns="102108" bIns="102108" rtlCol="0" anchor="ctr">
            <a:sp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0.76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4443413" y="2418159"/>
            <a:ext cx="1495165" cy="385763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full_ring</a:t>
            </a:r>
            <a:endParaRPr lang="en-US" sz="950" dirty="0"/>
          </a:p>
        </p:txBody>
      </p:sp>
      <p:sp>
        <p:nvSpPr>
          <p:cNvPr id="30" name="Text 27"/>
          <p:cNvSpPr/>
          <p:nvPr/>
        </p:nvSpPr>
        <p:spPr>
          <a:xfrm>
            <a:off x="5938577" y="2418159"/>
            <a:ext cx="1708752" cy="385763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ormorant Garamond SemiBold" pitchFamily="34" charset="0"/>
                <a:ea typeface="Cormorant Garamond SemiBold" pitchFamily="34" charset="-122"/>
                <a:cs typeface="Cormorant Garamond SemiBold" pitchFamily="34" charset="-120"/>
              </a:rPr>
              <a:t>Full Ring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7647329" y="2418159"/>
            <a:ext cx="1068046" cy="385763"/>
          </a:xfrm>
          <a:prstGeom prst="rect">
            <a:avLst/>
          </a:prstGeom>
          <a:noFill/>
          <a:ln/>
        </p:spPr>
        <p:txBody>
          <a:bodyPr wrap="none" lIns="102108" tIns="102108" rIns="102108" bIns="102108" rtlCol="0" anchor="ctr">
            <a:sp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0.71</a:t>
            </a:r>
            <a:endParaRPr lang="en-US" sz="950" dirty="0"/>
          </a:p>
        </p:txBody>
      </p:sp>
      <p:sp>
        <p:nvSpPr>
          <p:cNvPr id="32" name="Text 29"/>
          <p:cNvSpPr/>
          <p:nvPr/>
        </p:nvSpPr>
        <p:spPr>
          <a:xfrm>
            <a:off x="4443413" y="2803922"/>
            <a:ext cx="1495165" cy="382191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cascade</a:t>
            </a:r>
            <a:endParaRPr lang="en-US" sz="950" dirty="0"/>
          </a:p>
        </p:txBody>
      </p:sp>
      <p:sp>
        <p:nvSpPr>
          <p:cNvPr id="33" name="Text 30"/>
          <p:cNvSpPr/>
          <p:nvPr/>
        </p:nvSpPr>
        <p:spPr>
          <a:xfrm>
            <a:off x="5938577" y="2803922"/>
            <a:ext cx="1708752" cy="382191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ormorant Garamond SemiBold" pitchFamily="34" charset="0"/>
                <a:ea typeface="Cormorant Garamond SemiBold" pitchFamily="34" charset="-122"/>
                <a:cs typeface="Cormorant Garamond SemiBold" pitchFamily="34" charset="-120"/>
              </a:rPr>
              <a:t>Cascade Drop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7647329" y="2803922"/>
            <a:ext cx="1068046" cy="382191"/>
          </a:xfrm>
          <a:prstGeom prst="rect">
            <a:avLst/>
          </a:prstGeom>
          <a:noFill/>
          <a:ln/>
        </p:spPr>
        <p:txBody>
          <a:bodyPr wrap="none" lIns="102108" tIns="102108" rIns="102108" bIns="102108" rtlCol="0" anchor="ctr">
            <a:sp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0.67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786594"/>
            <a:ext cx="3714750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spc="1" kern="0" dirty="0">
                <a:solidFill>
                  <a:srgbClr val="4A6741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DESIGN FINGERPRINT</a:t>
            </a:r>
            <a:endParaRPr lang="en-US" sz="700" dirty="0"/>
          </a:p>
        </p:txBody>
      </p:sp>
      <p:sp>
        <p:nvSpPr>
          <p:cNvPr id="4" name="Text 1"/>
          <p:cNvSpPr/>
          <p:nvPr/>
        </p:nvSpPr>
        <p:spPr>
          <a:xfrm>
            <a:off x="571500" y="993763"/>
            <a:ext cx="3714750" cy="9900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4000"/>
              </a:lnSpc>
              <a:buNone/>
            </a:pPr>
            <a:r>
              <a:rPr lang="en-US" sz="2250" b="1" dirty="0">
                <a:solidFill>
                  <a:srgbClr val="1A1A1A"/>
                </a:solidFill>
                <a:latin typeface="Cormorant Garamond SemiBold" pitchFamily="34" charset="0"/>
                <a:ea typeface="Cormorant Garamond SemiBold" pitchFamily="34" charset="-122"/>
                <a:cs typeface="Cormorant Garamond SemiBold" pitchFamily="34" charset="-120"/>
              </a:rPr>
              <a:t>Every design is deterministic, versioned, and reproducible from its seed.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2040936"/>
            <a:ext cx="3714750" cy="8228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Evercrafted is not a random generator. It is a deterministic floral design engine. Every generated wreath receives a unique Blueprint DNA fingerprint, ensuring that identical inputs always produce identical designs.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571500" y="2935244"/>
            <a:ext cx="3714750" cy="592931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7" name="Shape 4"/>
          <p:cNvSpPr/>
          <p:nvPr/>
        </p:nvSpPr>
        <p:spPr>
          <a:xfrm>
            <a:off x="571500" y="2935244"/>
            <a:ext cx="28575" cy="592931"/>
          </a:xfrm>
          <a:prstGeom prst="rect">
            <a:avLst/>
          </a:prstGeom>
          <a:solidFill>
            <a:srgbClr val="C4922A"/>
          </a:solidFill>
          <a:ln/>
        </p:spPr>
      </p:sp>
      <p:sp>
        <p:nvSpPr>
          <p:cNvPr id="8" name="Text 5"/>
          <p:cNvSpPr/>
          <p:nvPr/>
        </p:nvSpPr>
        <p:spPr>
          <a:xfrm>
            <a:off x="614363" y="2978107"/>
            <a:ext cx="3629025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spc="1" kern="0" dirty="0">
                <a:solidFill>
                  <a:srgbClr val="C4922A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DETERMINISTIC SEED GENERATION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614363" y="3142413"/>
            <a:ext cx="36290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EEF2ED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seed = hash(</a:t>
            </a:r>
            <a:r>
              <a:rPr lang="en-US" sz="850" dirty="0">
                <a:solidFill>
                  <a:srgbClr val="6B8F67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memory_input</a:t>
            </a:r>
            <a:r>
              <a:rPr lang="en-US" sz="850" dirty="0">
                <a:solidFill>
                  <a:srgbClr val="EEF2ED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 + </a:t>
            </a:r>
            <a:r>
              <a:rPr lang="en-US" sz="850" dirty="0">
                <a:solidFill>
                  <a:srgbClr val="6B8F67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inventory_signature</a:t>
            </a:r>
            <a:r>
              <a:rPr lang="en-US" sz="850" dirty="0">
                <a:solidFill>
                  <a:srgbClr val="EEF2ED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 + </a:t>
            </a:r>
            <a:r>
              <a:rPr lang="en-US" sz="850" dirty="0">
                <a:solidFill>
                  <a:srgbClr val="6B8F67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formula_id</a:t>
            </a:r>
            <a:r>
              <a:rPr lang="en-US" sz="850" dirty="0">
                <a:solidFill>
                  <a:srgbClr val="EEF2ED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)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571500" y="3585325"/>
            <a:ext cx="3714750" cy="257175"/>
          </a:xfrm>
          <a:prstGeom prst="rect">
            <a:avLst/>
          </a:prstGeom>
          <a:noFill/>
          <a:ln/>
        </p:spPr>
        <p:txBody>
          <a:bodyPr wrap="square" lIns="0" tIns="0" rIns="0" bIns="51054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ormorant Garamond SemiBold" pitchFamily="34" charset="0"/>
                <a:ea typeface="Cormorant Garamond SemiBold" pitchFamily="34" charset="-122"/>
                <a:cs typeface="Cormorant Garamond SemiBold" pitchFamily="34" charset="-120"/>
              </a:rPr>
              <a:t>DNA Use Cases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71500" y="3946085"/>
            <a:ext cx="77688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4A67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■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720626" y="3885363"/>
            <a:ext cx="1708249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 identification and cataloging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571500" y="4249694"/>
            <a:ext cx="77688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4A67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■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720626" y="4258624"/>
            <a:ext cx="1600200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Blueprint resale and licensing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571500" y="4553303"/>
            <a:ext cx="77688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4A67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■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720626" y="4492582"/>
            <a:ext cx="1708249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Version control and design iteration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4572000" y="571500"/>
            <a:ext cx="4000500" cy="445770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18" name="Shape 15"/>
          <p:cNvSpPr/>
          <p:nvPr/>
        </p:nvSpPr>
        <p:spPr>
          <a:xfrm>
            <a:off x="4572000" y="571500"/>
            <a:ext cx="7144" cy="4457700"/>
          </a:xfrm>
          <a:prstGeom prst="rect">
            <a:avLst/>
          </a:prstGeom>
          <a:solidFill>
            <a:srgbClr val="D0D0D0"/>
          </a:solidFill>
          <a:ln/>
        </p:spPr>
      </p:sp>
      <p:sp>
        <p:nvSpPr>
          <p:cNvPr id="19" name="Shape 16"/>
          <p:cNvSpPr/>
          <p:nvPr/>
        </p:nvSpPr>
        <p:spPr>
          <a:xfrm>
            <a:off x="4857750" y="571500"/>
            <a:ext cx="3714750" cy="2308324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0" name="Text 17"/>
          <p:cNvSpPr/>
          <p:nvPr/>
        </p:nvSpPr>
        <p:spPr>
          <a:xfrm>
            <a:off x="4857750" y="571500"/>
            <a:ext cx="3714750" cy="2308324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F9F7F4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{
</a:t>
            </a:r>
            <a:r>
              <a:rPr lang="en-US" sz="850" dirty="0">
                <a:solidFill>
                  <a:srgbClr val="F9F7F4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  </a:t>
            </a:r>
            <a:r>
              <a:rPr lang="en-US" sz="850" dirty="0">
                <a:solidFill>
                  <a:srgbClr val="6B8F67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"formula"</a:t>
            </a:r>
            <a:r>
              <a:rPr lang="en-US" sz="850" dirty="0">
                <a:solidFill>
                  <a:srgbClr val="F9F7F4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:       </a:t>
            </a:r>
            <a:r>
              <a:rPr lang="en-US" sz="850" dirty="0">
                <a:solidFill>
                  <a:srgbClr val="C4922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"crescent"</a:t>
            </a:r>
            <a:r>
              <a:rPr lang="en-US" sz="850" dirty="0">
                <a:solidFill>
                  <a:srgbClr val="F9F7F4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,
</a:t>
            </a:r>
            <a:r>
              <a:rPr lang="en-US" sz="850" dirty="0">
                <a:solidFill>
                  <a:srgbClr val="F9F7F4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  </a:t>
            </a:r>
            <a:r>
              <a:rPr lang="en-US" sz="850" dirty="0">
                <a:solidFill>
                  <a:srgbClr val="6B8F67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"seed"</a:t>
            </a:r>
            <a:r>
              <a:rPr lang="en-US" sz="850" dirty="0">
                <a:solidFill>
                  <a:srgbClr val="F9F7F4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:          </a:t>
            </a:r>
            <a:r>
              <a:rPr lang="en-US" sz="850" dirty="0">
                <a:solidFill>
                  <a:srgbClr val="A8A8A8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92384723</a:t>
            </a:r>
            <a:r>
              <a:rPr lang="en-US" sz="850" dirty="0">
                <a:solidFill>
                  <a:srgbClr val="F9F7F4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,
</a:t>
            </a:r>
            <a:r>
              <a:rPr lang="en-US" sz="850" dirty="0">
                <a:solidFill>
                  <a:srgbClr val="F9F7F4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  </a:t>
            </a:r>
            <a:r>
              <a:rPr lang="en-US" sz="850" dirty="0">
                <a:solidFill>
                  <a:srgbClr val="6B8F67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"cluster_count"</a:t>
            </a:r>
            <a:r>
              <a:rPr lang="en-US" sz="850" dirty="0">
                <a:solidFill>
                  <a:srgbClr val="F9F7F4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: </a:t>
            </a:r>
            <a:r>
              <a:rPr lang="en-US" sz="850" dirty="0">
                <a:solidFill>
                  <a:srgbClr val="A8A8A8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2</a:t>
            </a:r>
            <a:r>
              <a:rPr lang="en-US" sz="850" dirty="0">
                <a:solidFill>
                  <a:srgbClr val="F9F7F4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,
</a:t>
            </a:r>
            <a:r>
              <a:rPr lang="en-US" sz="850" dirty="0">
                <a:solidFill>
                  <a:srgbClr val="F9F7F4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  </a:t>
            </a:r>
            <a:r>
              <a:rPr lang="en-US" sz="850" dirty="0">
                <a:solidFill>
                  <a:srgbClr val="6B8F67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"silence_arc"</a:t>
            </a:r>
            <a:r>
              <a:rPr lang="en-US" sz="850" dirty="0">
                <a:solidFill>
                  <a:srgbClr val="F9F7F4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:   [</a:t>
            </a:r>
            <a:r>
              <a:rPr lang="en-US" sz="850" dirty="0">
                <a:solidFill>
                  <a:srgbClr val="A8A8A8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280</a:t>
            </a:r>
            <a:r>
              <a:rPr lang="en-US" sz="850" dirty="0">
                <a:solidFill>
                  <a:srgbClr val="F9F7F4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, </a:t>
            </a:r>
            <a:r>
              <a:rPr lang="en-US" sz="850" dirty="0">
                <a:solidFill>
                  <a:srgbClr val="A8A8A8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330</a:t>
            </a:r>
            <a:r>
              <a:rPr lang="en-US" sz="850" dirty="0">
                <a:solidFill>
                  <a:srgbClr val="F9F7F4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],
</a:t>
            </a:r>
            <a:r>
              <a:rPr lang="en-US" sz="850" dirty="0">
                <a:solidFill>
                  <a:srgbClr val="F9F7F4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  </a:t>
            </a:r>
            <a:r>
              <a:rPr lang="en-US" sz="850" dirty="0">
                <a:solidFill>
                  <a:srgbClr val="6B8F67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"stem_count"</a:t>
            </a:r>
            <a:r>
              <a:rPr lang="en-US" sz="850" dirty="0">
                <a:solidFill>
                  <a:srgbClr val="F9F7F4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:    </a:t>
            </a:r>
            <a:r>
              <a:rPr lang="en-US" sz="850" dirty="0">
                <a:solidFill>
                  <a:srgbClr val="A8A8A8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58</a:t>
            </a:r>
            <a:r>
              <a:rPr lang="en-US" sz="850" dirty="0">
                <a:solidFill>
                  <a:srgbClr val="F9F7F4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,
</a:t>
            </a:r>
            <a:r>
              <a:rPr lang="en-US" sz="850" dirty="0">
                <a:solidFill>
                  <a:srgbClr val="F9F7F4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  </a:t>
            </a:r>
            <a:r>
              <a:rPr lang="en-US" sz="850" dirty="0">
                <a:solidFill>
                  <a:srgbClr val="6B8F67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"palette"</a:t>
            </a:r>
            <a:r>
              <a:rPr lang="en-US" sz="850" dirty="0">
                <a:solidFill>
                  <a:srgbClr val="F9F7F4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: [
</a:t>
            </a:r>
            <a:r>
              <a:rPr lang="en-US" sz="850" dirty="0">
                <a:solidFill>
                  <a:srgbClr val="F9F7F4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    </a:t>
            </a:r>
            <a:r>
              <a:rPr lang="en-US" sz="850" dirty="0">
                <a:solidFill>
                  <a:srgbClr val="C4922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"deep_red"</a:t>
            </a:r>
            <a:r>
              <a:rPr lang="en-US" sz="850" dirty="0">
                <a:solidFill>
                  <a:srgbClr val="F9F7F4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,
</a:t>
            </a:r>
            <a:r>
              <a:rPr lang="en-US" sz="850" dirty="0">
                <a:solidFill>
                  <a:srgbClr val="F9F7F4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    </a:t>
            </a:r>
            <a:r>
              <a:rPr lang="en-US" sz="850" dirty="0">
                <a:solidFill>
                  <a:srgbClr val="C4922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"pine_green"</a:t>
            </a:r>
            <a:r>
              <a:rPr lang="en-US" sz="850" dirty="0">
                <a:solidFill>
                  <a:srgbClr val="F9F7F4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,
</a:t>
            </a:r>
            <a:r>
              <a:rPr lang="en-US" sz="850" dirty="0">
                <a:solidFill>
                  <a:srgbClr val="F9F7F4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    </a:t>
            </a:r>
            <a:r>
              <a:rPr lang="en-US" sz="850" dirty="0">
                <a:solidFill>
                  <a:srgbClr val="C4922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"gold"</a:t>
            </a:r>
            <a:r>
              <a:rPr lang="en-US" sz="850" dirty="0">
                <a:solidFill>
                  <a:srgbClr val="F9F7F4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
</a:t>
            </a:r>
            <a:r>
              <a:rPr lang="en-US" sz="850" dirty="0">
                <a:solidFill>
                  <a:srgbClr val="F9F7F4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]
</a:t>
            </a:r>
            <a:r>
              <a:rPr lang="en-US" sz="850" dirty="0">
                <a:solidFill>
                  <a:srgbClr val="F9F7F4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}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001000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spc="1" kern="0" dirty="0">
                <a:solidFill>
                  <a:srgbClr val="4A6741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END-TO-END PIPELINE</a:t>
            </a:r>
            <a:endParaRPr lang="en-US" sz="700" dirty="0"/>
          </a:p>
        </p:txBody>
      </p:sp>
      <p:sp>
        <p:nvSpPr>
          <p:cNvPr id="4" name="Text 1"/>
          <p:cNvSpPr/>
          <p:nvPr/>
        </p:nvSpPr>
        <p:spPr>
          <a:xfrm>
            <a:off x="571500" y="635794"/>
            <a:ext cx="7143750" cy="7543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250" b="1" dirty="0">
                <a:solidFill>
                  <a:srgbClr val="1A1A1A"/>
                </a:solidFill>
                <a:latin typeface="Cormorant Garamond SemiBold" pitchFamily="34" charset="0"/>
                <a:ea typeface="Cormorant Garamond SemiBold" pitchFamily="34" charset="-122"/>
                <a:cs typeface="Cormorant Garamond SemiBold" pitchFamily="34" charset="-120"/>
              </a:rPr>
              <a:t>From a single memory to a builder-ready blueprint in ten deterministic steps.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1547292"/>
            <a:ext cx="342900" cy="5572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A6741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01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914400" y="1547292"/>
            <a:ext cx="3514725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ormorant Garamond SemiBold" pitchFamily="34" charset="0"/>
                <a:ea typeface="Cormorant Garamond SemiBold" pitchFamily="34" charset="-122"/>
                <a:cs typeface="Cormorant Garamond SemiBold" pitchFamily="34" charset="-120"/>
              </a:rPr>
              <a:t>Memory Interpreter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914400" y="1783035"/>
            <a:ext cx="3514725" cy="321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Parses emotional prompts into structured design intent and symbolic tags.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571500" y="2225948"/>
            <a:ext cx="342900" cy="5572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A6741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02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914400" y="2225948"/>
            <a:ext cx="3514725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ormorant Garamond SemiBold" pitchFamily="34" charset="0"/>
                <a:ea typeface="Cormorant Garamond SemiBold" pitchFamily="34" charset="-122"/>
                <a:cs typeface="Cormorant Garamond SemiBold" pitchFamily="34" charset="-120"/>
              </a:rPr>
              <a:t>Emotion Mapper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914400" y="2461692"/>
            <a:ext cx="3514725" cy="321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Converts emotional intent into concrete design signals like palette and contrast.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571500" y="2904604"/>
            <a:ext cx="342900" cy="5572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A6741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03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914400" y="2904604"/>
            <a:ext cx="3514725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ormorant Garamond SemiBold" pitchFamily="34" charset="0"/>
                <a:ea typeface="Cormorant Garamond SemiBold" pitchFamily="34" charset="-122"/>
                <a:cs typeface="Cormorant Garamond SemiBold" pitchFamily="34" charset="-120"/>
              </a:rPr>
              <a:t>Inventory Analyzer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914400" y="3140348"/>
            <a:ext cx="3514725" cy="321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Categorizes available stems into role pools and calculates flexibility scores.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571500" y="3583260"/>
            <a:ext cx="342900" cy="5572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A6741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04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914400" y="3583260"/>
            <a:ext cx="3514725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ormorant Garamond SemiBold" pitchFamily="34" charset="0"/>
                <a:ea typeface="Cormorant Garamond SemiBold" pitchFamily="34" charset="-122"/>
                <a:cs typeface="Cormorant Garamond SemiBold" pitchFamily="34" charset="-120"/>
              </a:rPr>
              <a:t>Formula Selector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914400" y="3819004"/>
            <a:ext cx="3514725" cy="321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Scores and selects the optimal structural formula based on intent and inventory.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571500" y="4261917"/>
            <a:ext cx="342900" cy="5572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A6741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05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914400" y="4261917"/>
            <a:ext cx="3514725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ormorant Garamond SemiBold" pitchFamily="34" charset="0"/>
                <a:ea typeface="Cormorant Garamond SemiBold" pitchFamily="34" charset="-122"/>
                <a:cs typeface="Cormorant Garamond SemiBold" pitchFamily="34" charset="-120"/>
              </a:rPr>
              <a:t>Anchor Generator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914400" y="4497660"/>
            <a:ext cx="3514725" cy="321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Transforms formula anchor groups into exact polar coordinates via seeded randomness.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4714875" y="1547292"/>
            <a:ext cx="342900" cy="5572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A6741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5057775" y="1547292"/>
            <a:ext cx="3514725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ormorant Garamond SemiBold" pitchFamily="34" charset="0"/>
                <a:ea typeface="Cormorant Garamond SemiBold" pitchFamily="34" charset="-122"/>
                <a:cs typeface="Cormorant Garamond SemiBold" pitchFamily="34" charset="-120"/>
              </a:rPr>
              <a:t>Zone Field Builder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5057775" y="1783035"/>
            <a:ext cx="3514725" cy="321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Divides the wreath into angular sectors with specific density targets and silence arcs.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4714875" y="2225948"/>
            <a:ext cx="342900" cy="5572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A6741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07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5057775" y="2225948"/>
            <a:ext cx="3514725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ormorant Garamond SemiBold" pitchFamily="34" charset="0"/>
                <a:ea typeface="Cormorant Garamond SemiBold" pitchFamily="34" charset="-122"/>
                <a:cs typeface="Cormorant Garamond SemiBold" pitchFamily="34" charset="-120"/>
              </a:rPr>
              <a:t>Stem Allocator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5057775" y="2461692"/>
            <a:ext cx="3514725" cy="321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Distributes the total stem count across the five structural roles (60/30/10 rule).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4714875" y="2904604"/>
            <a:ext cx="342900" cy="5572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A6741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08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5057775" y="2904604"/>
            <a:ext cx="3514725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ormorant Garamond SemiBold" pitchFamily="34" charset="0"/>
                <a:ea typeface="Cormorant Garamond SemiBold" pitchFamily="34" charset="-122"/>
                <a:cs typeface="Cormorant Garamond SemiBold" pitchFamily="34" charset="-120"/>
              </a:rPr>
              <a:t>Placement Solver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5057775" y="3140348"/>
            <a:ext cx="3514725" cy="321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Assigns every stem a precise polar address, depth layer, and direction vector.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4714875" y="3583260"/>
            <a:ext cx="342900" cy="5572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A6741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09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5057775" y="3583260"/>
            <a:ext cx="3514725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ormorant Garamond SemiBold" pitchFamily="34" charset="0"/>
                <a:ea typeface="Cormorant Garamond SemiBold" pitchFamily="34" charset="-122"/>
                <a:cs typeface="Cormorant Garamond SemiBold" pitchFamily="34" charset="-120"/>
              </a:rPr>
              <a:t>Repair Engine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5057775" y="3819004"/>
            <a:ext cx="3514725" cy="321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Runs iterative improvement passes until the design meets the 0.78 quality threshold.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4714875" y="4261917"/>
            <a:ext cx="342900" cy="5572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A6741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10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5057775" y="4261917"/>
            <a:ext cx="3514725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ormorant Garamond SemiBold" pitchFamily="34" charset="0"/>
                <a:ea typeface="Cormorant Garamond SemiBold" pitchFamily="34" charset="-122"/>
                <a:cs typeface="Cormorant Garamond SemiBold" pitchFamily="34" charset="-120"/>
              </a:rPr>
              <a:t>Blueprint Generator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5057775" y="4497660"/>
            <a:ext cx="3514725" cy="321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Serializes the solved design into JSON, builder guides, SVG previews, and render prompts.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1193843"/>
            <a:ext cx="3394677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spc="1" kern="0" dirty="0">
                <a:solidFill>
                  <a:srgbClr val="4A6741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INTEGRATION LAYER</a:t>
            </a:r>
            <a:endParaRPr lang="en-US" sz="700" dirty="0"/>
          </a:p>
        </p:txBody>
      </p:sp>
      <p:sp>
        <p:nvSpPr>
          <p:cNvPr id="4" name="Text 1"/>
          <p:cNvSpPr/>
          <p:nvPr/>
        </p:nvSpPr>
        <p:spPr>
          <a:xfrm>
            <a:off x="571500" y="1401012"/>
            <a:ext cx="3394677" cy="1234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450" b="1" dirty="0">
                <a:solidFill>
                  <a:srgbClr val="1A1A1A"/>
                </a:solidFill>
                <a:latin typeface="Cormorant Garamond SemiBold" pitchFamily="34" charset="0"/>
                <a:ea typeface="Cormorant Garamond SemiBold" pitchFamily="34" charset="-122"/>
                <a:cs typeface="Cormorant Garamond SemiBold" pitchFamily="34" charset="-120"/>
              </a:rPr>
              <a:t>Five endpoints expose the pipeline as a callable API.</a:t>
            </a:r>
            <a:endParaRPr lang="en-US" sz="2450" dirty="0"/>
          </a:p>
        </p:txBody>
      </p:sp>
      <p:sp>
        <p:nvSpPr>
          <p:cNvPr id="5" name="Text 2"/>
          <p:cNvSpPr/>
          <p:nvPr/>
        </p:nvSpPr>
        <p:spPr>
          <a:xfrm>
            <a:off x="571500" y="2749618"/>
            <a:ext cx="3394677" cy="1028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Evercrafted engine is designed to be headless. Every core function — from generation to scoring and rendering — is exposed via a RESTful API for seamless integration into frontends, e-commerce platforms, or third-party systems.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4251927" y="571500"/>
            <a:ext cx="4320518" cy="400050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4251927" y="571500"/>
            <a:ext cx="7144" cy="4000500"/>
          </a:xfrm>
          <a:prstGeom prst="rect">
            <a:avLst/>
          </a:prstGeom>
          <a:solidFill>
            <a:srgbClr val="D0D0D0"/>
          </a:solidFill>
          <a:ln/>
        </p:spPr>
      </p:sp>
      <p:sp>
        <p:nvSpPr>
          <p:cNvPr id="8" name="Shape 5"/>
          <p:cNvSpPr/>
          <p:nvPr/>
        </p:nvSpPr>
        <p:spPr>
          <a:xfrm>
            <a:off x="4537677" y="812602"/>
            <a:ext cx="405798" cy="189309"/>
          </a:xfrm>
          <a:prstGeom prst="rect">
            <a:avLst/>
          </a:prstGeom>
          <a:solidFill>
            <a:srgbClr val="4A6741"/>
          </a:solidFill>
          <a:ln/>
        </p:spPr>
      </p:sp>
      <p:sp>
        <p:nvSpPr>
          <p:cNvPr id="9" name="Text 6"/>
          <p:cNvSpPr/>
          <p:nvPr/>
        </p:nvSpPr>
        <p:spPr>
          <a:xfrm>
            <a:off x="4537677" y="812602"/>
            <a:ext cx="405798" cy="189309"/>
          </a:xfrm>
          <a:prstGeom prst="rect">
            <a:avLst/>
          </a:prstGeom>
          <a:noFill/>
          <a:ln/>
        </p:spPr>
        <p:txBody>
          <a:bodyPr wrap="none" lIns="85090" tIns="34036" rIns="85090" bIns="34036" rtlCol="0" anchor="t">
            <a:spAutoFit/>
          </a:bodyPr>
          <a:lstStyle/>
          <a:p>
            <a:pPr algn="l" indent="0" marL="0">
              <a:buNone/>
            </a:pPr>
            <a:r>
              <a:rPr lang="en-US" sz="700" b="1" spc="1" kern="0" dirty="0">
                <a:solidFill>
                  <a:srgbClr val="F9F7F4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POST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5029200" y="721519"/>
            <a:ext cx="1440135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/generate-blueprint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4537677" y="1150144"/>
            <a:ext cx="1931659" cy="685800"/>
          </a:xfrm>
          <a:prstGeom prst="rect">
            <a:avLst/>
          </a:prstGeom>
          <a:noFill/>
          <a:ln/>
        </p:spPr>
        <p:txBody>
          <a:bodyPr wrap="square" lIns="544322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Initiates the pipeline, taking memory and inventory to produce a solved blueprint.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6640785" y="721519"/>
            <a:ext cx="405798" cy="189309"/>
          </a:xfrm>
          <a:prstGeom prst="rect">
            <a:avLst/>
          </a:prstGeom>
          <a:solidFill>
            <a:srgbClr val="4A6741"/>
          </a:solidFill>
          <a:ln/>
        </p:spPr>
      </p:sp>
      <p:sp>
        <p:nvSpPr>
          <p:cNvPr id="13" name="Text 10"/>
          <p:cNvSpPr/>
          <p:nvPr/>
        </p:nvSpPr>
        <p:spPr>
          <a:xfrm>
            <a:off x="6640785" y="721519"/>
            <a:ext cx="405798" cy="189309"/>
          </a:xfrm>
          <a:prstGeom prst="rect">
            <a:avLst/>
          </a:prstGeom>
          <a:noFill/>
          <a:ln/>
        </p:spPr>
        <p:txBody>
          <a:bodyPr wrap="none" lIns="85090" tIns="34036" rIns="85090" bIns="34036" rtlCol="0" anchor="t">
            <a:spAutoFit/>
          </a:bodyPr>
          <a:lstStyle/>
          <a:p>
            <a:pPr algn="l" indent="0" marL="0">
              <a:buNone/>
            </a:pPr>
            <a:r>
              <a:rPr lang="en-US" sz="700" b="1" spc="1" kern="0" dirty="0">
                <a:solidFill>
                  <a:srgbClr val="F9F7F4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POST</a:t>
            </a:r>
            <a:endParaRPr lang="en-US" sz="700" dirty="0"/>
          </a:p>
        </p:txBody>
      </p:sp>
      <p:sp>
        <p:nvSpPr>
          <p:cNvPr id="14" name="Text 11"/>
          <p:cNvSpPr/>
          <p:nvPr/>
        </p:nvSpPr>
        <p:spPr>
          <a:xfrm>
            <a:off x="7132309" y="723305"/>
            <a:ext cx="1371600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/score-blueprint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6640785" y="967978"/>
            <a:ext cx="1931659" cy="685800"/>
          </a:xfrm>
          <a:prstGeom prst="rect">
            <a:avLst/>
          </a:prstGeom>
          <a:noFill/>
          <a:ln/>
        </p:spPr>
        <p:txBody>
          <a:bodyPr wrap="square" lIns="544322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Evaluates a blueprint against the seven professional composition metrics.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4537677" y="2105620"/>
            <a:ext cx="405798" cy="189309"/>
          </a:xfrm>
          <a:prstGeom prst="rect">
            <a:avLst/>
          </a:prstGeom>
          <a:solidFill>
            <a:srgbClr val="4A6741"/>
          </a:solidFill>
          <a:ln/>
        </p:spPr>
      </p:sp>
      <p:sp>
        <p:nvSpPr>
          <p:cNvPr id="17" name="Text 14"/>
          <p:cNvSpPr/>
          <p:nvPr/>
        </p:nvSpPr>
        <p:spPr>
          <a:xfrm>
            <a:off x="4537677" y="2105620"/>
            <a:ext cx="405798" cy="189309"/>
          </a:xfrm>
          <a:prstGeom prst="rect">
            <a:avLst/>
          </a:prstGeom>
          <a:noFill/>
          <a:ln/>
        </p:spPr>
        <p:txBody>
          <a:bodyPr wrap="none" lIns="85090" tIns="34036" rIns="85090" bIns="34036" rtlCol="0" anchor="t">
            <a:spAutoFit/>
          </a:bodyPr>
          <a:lstStyle/>
          <a:p>
            <a:pPr algn="l" indent="0" marL="0">
              <a:buNone/>
            </a:pPr>
            <a:r>
              <a:rPr lang="en-US" sz="700" b="1" spc="1" kern="0" dirty="0">
                <a:solidFill>
                  <a:srgbClr val="F9F7F4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POST</a:t>
            </a:r>
            <a:endParaRPr lang="en-US" sz="700" dirty="0"/>
          </a:p>
        </p:txBody>
      </p:sp>
      <p:sp>
        <p:nvSpPr>
          <p:cNvPr id="18" name="Text 15"/>
          <p:cNvSpPr/>
          <p:nvPr/>
        </p:nvSpPr>
        <p:spPr>
          <a:xfrm>
            <a:off x="5029200" y="2014538"/>
            <a:ext cx="1440135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/repair-blueprint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4537677" y="2443163"/>
            <a:ext cx="1931659" cy="685800"/>
          </a:xfrm>
          <a:prstGeom prst="rect">
            <a:avLst/>
          </a:prstGeom>
          <a:noFill/>
          <a:ln/>
        </p:spPr>
        <p:txBody>
          <a:bodyPr wrap="square" lIns="544322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Runs iterative improvement passes on a sub-threshold blueprint until convergence.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6640785" y="2105620"/>
            <a:ext cx="405798" cy="189309"/>
          </a:xfrm>
          <a:prstGeom prst="rect">
            <a:avLst/>
          </a:prstGeom>
          <a:solidFill>
            <a:srgbClr val="4A6741"/>
          </a:solidFill>
          <a:ln/>
        </p:spPr>
      </p:sp>
      <p:sp>
        <p:nvSpPr>
          <p:cNvPr id="21" name="Text 18"/>
          <p:cNvSpPr/>
          <p:nvPr/>
        </p:nvSpPr>
        <p:spPr>
          <a:xfrm>
            <a:off x="6640785" y="2105620"/>
            <a:ext cx="405798" cy="189309"/>
          </a:xfrm>
          <a:prstGeom prst="rect">
            <a:avLst/>
          </a:prstGeom>
          <a:noFill/>
          <a:ln/>
        </p:spPr>
        <p:txBody>
          <a:bodyPr wrap="none" lIns="85090" tIns="34036" rIns="85090" bIns="34036" rtlCol="0" anchor="t">
            <a:spAutoFit/>
          </a:bodyPr>
          <a:lstStyle/>
          <a:p>
            <a:pPr algn="l" indent="0" marL="0">
              <a:buNone/>
            </a:pPr>
            <a:r>
              <a:rPr lang="en-US" sz="700" b="1" spc="1" kern="0" dirty="0">
                <a:solidFill>
                  <a:srgbClr val="F9F7F4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POST</a:t>
            </a:r>
            <a:endParaRPr lang="en-US" sz="700" dirty="0"/>
          </a:p>
        </p:txBody>
      </p:sp>
      <p:sp>
        <p:nvSpPr>
          <p:cNvPr id="22" name="Text 19"/>
          <p:cNvSpPr/>
          <p:nvPr/>
        </p:nvSpPr>
        <p:spPr>
          <a:xfrm>
            <a:off x="7132309" y="2014538"/>
            <a:ext cx="1440135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/render-blueprint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6640785" y="2443163"/>
            <a:ext cx="1931659" cy="514350"/>
          </a:xfrm>
          <a:prstGeom prst="rect">
            <a:avLst/>
          </a:prstGeom>
          <a:noFill/>
          <a:ln/>
        </p:spPr>
        <p:txBody>
          <a:bodyPr wrap="square" lIns="544322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Generates SVG previews and photorealistic render prompts from a blueprint.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>
            <a:off x="4537677" y="3398639"/>
            <a:ext cx="405798" cy="189309"/>
          </a:xfrm>
          <a:prstGeom prst="rect">
            <a:avLst/>
          </a:prstGeom>
          <a:solidFill>
            <a:srgbClr val="4A6741"/>
          </a:solidFill>
          <a:ln/>
        </p:spPr>
      </p:sp>
      <p:sp>
        <p:nvSpPr>
          <p:cNvPr id="25" name="Text 22"/>
          <p:cNvSpPr/>
          <p:nvPr/>
        </p:nvSpPr>
        <p:spPr>
          <a:xfrm>
            <a:off x="4537677" y="3398639"/>
            <a:ext cx="405798" cy="189309"/>
          </a:xfrm>
          <a:prstGeom prst="rect">
            <a:avLst/>
          </a:prstGeom>
          <a:noFill/>
          <a:ln/>
        </p:spPr>
        <p:txBody>
          <a:bodyPr wrap="none" lIns="85090" tIns="34036" rIns="85090" bIns="34036" rtlCol="0" anchor="t">
            <a:spAutoFit/>
          </a:bodyPr>
          <a:lstStyle/>
          <a:p>
            <a:pPr algn="l" indent="0" marL="0">
              <a:buNone/>
            </a:pPr>
            <a:r>
              <a:rPr lang="en-US" sz="700" b="1" spc="1" kern="0" dirty="0">
                <a:solidFill>
                  <a:srgbClr val="F9F7F4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POST</a:t>
            </a:r>
            <a:endParaRPr lang="en-US" sz="700" dirty="0"/>
          </a:p>
        </p:txBody>
      </p:sp>
      <p:sp>
        <p:nvSpPr>
          <p:cNvPr id="26" name="Text 23"/>
          <p:cNvSpPr/>
          <p:nvPr/>
        </p:nvSpPr>
        <p:spPr>
          <a:xfrm>
            <a:off x="5029200" y="3307556"/>
            <a:ext cx="1440135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/export-blueprint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4537677" y="3736181"/>
            <a:ext cx="1931659" cy="685800"/>
          </a:xfrm>
          <a:prstGeom prst="rect">
            <a:avLst/>
          </a:prstGeom>
          <a:noFill/>
          <a:ln/>
        </p:spPr>
        <p:txBody>
          <a:bodyPr wrap="square" lIns="544322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Serializes the final design into a downloadable builder guide and JSON record.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571500"/>
            <a:ext cx="8001000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spc="1" kern="0" dirty="0">
                <a:solidFill>
                  <a:srgbClr val="4A6741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DEVELOPMENT ROADMAP</a:t>
            </a:r>
            <a:endParaRPr lang="en-US" sz="700" dirty="0"/>
          </a:p>
        </p:txBody>
      </p:sp>
      <p:sp>
        <p:nvSpPr>
          <p:cNvPr id="4" name="Text 1"/>
          <p:cNvSpPr/>
          <p:nvPr/>
        </p:nvSpPr>
        <p:spPr>
          <a:xfrm>
            <a:off x="571500" y="807244"/>
            <a:ext cx="7143750" cy="8228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450" b="1" dirty="0">
                <a:solidFill>
                  <a:srgbClr val="1A1A1A"/>
                </a:solidFill>
                <a:latin typeface="Cormorant Garamond SemiBold" pitchFamily="34" charset="0"/>
                <a:ea typeface="Cormorant Garamond SemiBold" pitchFamily="34" charset="-122"/>
                <a:cs typeface="Cormorant Garamond SemiBold" pitchFamily="34" charset="-120"/>
              </a:rPr>
              <a:t>The MVP ships the engine.</a:t>
            </a:r>
            <a:r>
              <a:rPr lang="en-US" sz="2450" b="1" dirty="0">
                <a:solidFill>
                  <a:srgbClr val="1A1A1A"/>
                </a:solidFill>
                <a:latin typeface="Cormorant Garamond SemiBold" pitchFamily="34" charset="0"/>
                <a:ea typeface="Cormorant Garamond SemiBold" pitchFamily="34" charset="-122"/>
                <a:cs typeface="Cormorant Garamond SemiBold" pitchFamily="34" charset="-120"/>
              </a:rPr>
              <a:t>
</a:t>
            </a:r>
            <a:r>
              <a:rPr lang="en-US" sz="2450" b="1" dirty="0">
                <a:solidFill>
                  <a:srgbClr val="1A1A1A"/>
                </a:solidFill>
                <a:latin typeface="Cormorant Garamond SemiBold" pitchFamily="34" charset="0"/>
                <a:ea typeface="Cormorant Garamond SemiBold" pitchFamily="34" charset="-122"/>
                <a:cs typeface="Cormorant Garamond SemiBold" pitchFamily="34" charset="-120"/>
              </a:rPr>
              <a:t>The vision ships the intelligence.</a:t>
            </a:r>
            <a:endParaRPr lang="en-US" sz="2450" dirty="0"/>
          </a:p>
        </p:txBody>
      </p:sp>
      <p:sp>
        <p:nvSpPr>
          <p:cNvPr id="5" name="Text 2"/>
          <p:cNvSpPr/>
          <p:nvPr/>
        </p:nvSpPr>
        <p:spPr>
          <a:xfrm>
            <a:off x="571500" y="1887289"/>
            <a:ext cx="3857625" cy="375047"/>
          </a:xfrm>
          <a:prstGeom prst="rect">
            <a:avLst/>
          </a:prstGeom>
          <a:noFill/>
          <a:ln/>
        </p:spPr>
        <p:txBody>
          <a:bodyPr wrap="square" lIns="0" tIns="0" rIns="0" bIns="102108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ormorant Garamond SemiBold" pitchFamily="34" charset="0"/>
                <a:ea typeface="Cormorant Garamond SemiBold" pitchFamily="34" charset="-122"/>
                <a:cs typeface="Cormorant Garamond SemiBold" pitchFamily="34" charset="-120"/>
              </a:rPr>
              <a:t>MVP Scope (The Engine)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71500" y="2376636"/>
            <a:ext cx="3857625" cy="339328"/>
          </a:xfrm>
          <a:prstGeom prst="rect">
            <a:avLst/>
          </a:prstGeom>
          <a:solidFill>
            <a:srgbClr val="EEF2ED"/>
          </a:solidFill>
          <a:ln/>
        </p:spPr>
      </p:sp>
      <p:sp>
        <p:nvSpPr>
          <p:cNvPr id="7" name="Shape 4"/>
          <p:cNvSpPr/>
          <p:nvPr/>
        </p:nvSpPr>
        <p:spPr>
          <a:xfrm>
            <a:off x="571500" y="2376636"/>
            <a:ext cx="28575" cy="339328"/>
          </a:xfrm>
          <a:prstGeom prst="rect">
            <a:avLst/>
          </a:prstGeom>
          <a:solidFill>
            <a:srgbClr val="4A6741"/>
          </a:solidFill>
          <a:ln/>
        </p:spPr>
      </p:sp>
      <p:sp>
        <p:nvSpPr>
          <p:cNvPr id="8" name="Text 5"/>
          <p:cNvSpPr/>
          <p:nvPr/>
        </p:nvSpPr>
        <p:spPr>
          <a:xfrm>
            <a:off x="714375" y="2462361"/>
            <a:ext cx="171450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A6741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01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971550" y="2467719"/>
            <a:ext cx="2364581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Inventory Analyzer &amp; Formula Selector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571500" y="2801689"/>
            <a:ext cx="3857625" cy="339328"/>
          </a:xfrm>
          <a:prstGeom prst="rect">
            <a:avLst/>
          </a:prstGeom>
          <a:solidFill>
            <a:srgbClr val="EEF2ED"/>
          </a:solidFill>
          <a:ln/>
        </p:spPr>
      </p:sp>
      <p:sp>
        <p:nvSpPr>
          <p:cNvPr id="11" name="Shape 8"/>
          <p:cNvSpPr/>
          <p:nvPr/>
        </p:nvSpPr>
        <p:spPr>
          <a:xfrm>
            <a:off x="571500" y="2801689"/>
            <a:ext cx="28575" cy="339328"/>
          </a:xfrm>
          <a:prstGeom prst="rect">
            <a:avLst/>
          </a:prstGeom>
          <a:solidFill>
            <a:srgbClr val="4A6741"/>
          </a:solidFill>
          <a:ln/>
        </p:spPr>
      </p:sp>
      <p:sp>
        <p:nvSpPr>
          <p:cNvPr id="12" name="Text 9"/>
          <p:cNvSpPr/>
          <p:nvPr/>
        </p:nvSpPr>
        <p:spPr>
          <a:xfrm>
            <a:off x="714375" y="2887414"/>
            <a:ext cx="171450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A6741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02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971550" y="2892772"/>
            <a:ext cx="2336006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Anchor Generator &amp; Placement Solver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571500" y="3226743"/>
            <a:ext cx="3857625" cy="339328"/>
          </a:xfrm>
          <a:prstGeom prst="rect">
            <a:avLst/>
          </a:prstGeom>
          <a:solidFill>
            <a:srgbClr val="EEF2ED"/>
          </a:solidFill>
          <a:ln/>
        </p:spPr>
      </p:sp>
      <p:sp>
        <p:nvSpPr>
          <p:cNvPr id="15" name="Shape 12"/>
          <p:cNvSpPr/>
          <p:nvPr/>
        </p:nvSpPr>
        <p:spPr>
          <a:xfrm>
            <a:off x="571500" y="3226743"/>
            <a:ext cx="28575" cy="339328"/>
          </a:xfrm>
          <a:prstGeom prst="rect">
            <a:avLst/>
          </a:prstGeom>
          <a:solidFill>
            <a:srgbClr val="4A6741"/>
          </a:solidFill>
          <a:ln/>
        </p:spPr>
      </p:sp>
      <p:sp>
        <p:nvSpPr>
          <p:cNvPr id="16" name="Text 13"/>
          <p:cNvSpPr/>
          <p:nvPr/>
        </p:nvSpPr>
        <p:spPr>
          <a:xfrm>
            <a:off x="714375" y="3312468"/>
            <a:ext cx="171450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A6741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03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971550" y="3317825"/>
            <a:ext cx="1935956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Repair Engine &amp; Scoring Engine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571500" y="3651796"/>
            <a:ext cx="3857625" cy="339328"/>
          </a:xfrm>
          <a:prstGeom prst="rect">
            <a:avLst/>
          </a:prstGeom>
          <a:solidFill>
            <a:srgbClr val="EEF2ED"/>
          </a:solidFill>
          <a:ln/>
        </p:spPr>
      </p:sp>
      <p:sp>
        <p:nvSpPr>
          <p:cNvPr id="19" name="Shape 16"/>
          <p:cNvSpPr/>
          <p:nvPr/>
        </p:nvSpPr>
        <p:spPr>
          <a:xfrm>
            <a:off x="571500" y="3651796"/>
            <a:ext cx="28575" cy="339328"/>
          </a:xfrm>
          <a:prstGeom prst="rect">
            <a:avLst/>
          </a:prstGeom>
          <a:solidFill>
            <a:srgbClr val="4A6741"/>
          </a:solidFill>
          <a:ln/>
        </p:spPr>
      </p:sp>
      <p:sp>
        <p:nvSpPr>
          <p:cNvPr id="20" name="Text 17"/>
          <p:cNvSpPr/>
          <p:nvPr/>
        </p:nvSpPr>
        <p:spPr>
          <a:xfrm>
            <a:off x="714375" y="3737521"/>
            <a:ext cx="171450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A6741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04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971550" y="3742879"/>
            <a:ext cx="1207294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Blueprint Generator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571500" y="4076849"/>
            <a:ext cx="3857625" cy="339328"/>
          </a:xfrm>
          <a:prstGeom prst="rect">
            <a:avLst/>
          </a:prstGeom>
          <a:solidFill>
            <a:srgbClr val="EEF2ED"/>
          </a:solidFill>
          <a:ln/>
        </p:spPr>
      </p:sp>
      <p:sp>
        <p:nvSpPr>
          <p:cNvPr id="23" name="Shape 20"/>
          <p:cNvSpPr/>
          <p:nvPr/>
        </p:nvSpPr>
        <p:spPr>
          <a:xfrm>
            <a:off x="571500" y="4076849"/>
            <a:ext cx="28575" cy="339328"/>
          </a:xfrm>
          <a:prstGeom prst="rect">
            <a:avLst/>
          </a:prstGeom>
          <a:solidFill>
            <a:srgbClr val="4A6741"/>
          </a:solidFill>
          <a:ln/>
        </p:spPr>
      </p:sp>
      <p:sp>
        <p:nvSpPr>
          <p:cNvPr id="24" name="Text 21"/>
          <p:cNvSpPr/>
          <p:nvPr/>
        </p:nvSpPr>
        <p:spPr>
          <a:xfrm>
            <a:off x="714375" y="4162574"/>
            <a:ext cx="171450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A6741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05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971550" y="4167932"/>
            <a:ext cx="1328738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Basic Render Preview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4714875" y="1887289"/>
            <a:ext cx="3857625" cy="375047"/>
          </a:xfrm>
          <a:prstGeom prst="rect">
            <a:avLst/>
          </a:prstGeom>
          <a:noFill/>
          <a:ln/>
        </p:spPr>
        <p:txBody>
          <a:bodyPr wrap="square" lIns="0" tIns="0" rIns="0" bIns="102108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ormorant Garamond SemiBold" pitchFamily="34" charset="0"/>
                <a:ea typeface="Cormorant Garamond SemiBold" pitchFamily="34" charset="-122"/>
                <a:cs typeface="Cormorant Garamond SemiBold" pitchFamily="34" charset="-120"/>
              </a:rPr>
              <a:t>Long-Term Systems (The Intelligence)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4714875" y="2376636"/>
            <a:ext cx="3857625" cy="346472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8" name="Shape 25"/>
          <p:cNvSpPr/>
          <p:nvPr/>
        </p:nvSpPr>
        <p:spPr>
          <a:xfrm>
            <a:off x="4714875" y="2376636"/>
            <a:ext cx="28575" cy="346472"/>
          </a:xfrm>
          <a:prstGeom prst="rect">
            <a:avLst/>
          </a:prstGeom>
          <a:solidFill>
            <a:srgbClr val="C4922A"/>
          </a:solidFill>
          <a:ln/>
        </p:spPr>
      </p:sp>
      <p:sp>
        <p:nvSpPr>
          <p:cNvPr id="29" name="Text 26"/>
          <p:cNvSpPr/>
          <p:nvPr/>
        </p:nvSpPr>
        <p:spPr>
          <a:xfrm>
            <a:off x="4857750" y="2462361"/>
            <a:ext cx="17145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4922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→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5114925" y="2471291"/>
            <a:ext cx="1493044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F9F7F4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AI Floral Image Analyzer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4714875" y="2808833"/>
            <a:ext cx="3857625" cy="346472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2" name="Shape 29"/>
          <p:cNvSpPr/>
          <p:nvPr/>
        </p:nvSpPr>
        <p:spPr>
          <a:xfrm>
            <a:off x="4714875" y="2808833"/>
            <a:ext cx="28575" cy="346472"/>
          </a:xfrm>
          <a:prstGeom prst="rect">
            <a:avLst/>
          </a:prstGeom>
          <a:solidFill>
            <a:srgbClr val="C4922A"/>
          </a:solidFill>
          <a:ln/>
        </p:spPr>
      </p:sp>
      <p:sp>
        <p:nvSpPr>
          <p:cNvPr id="33" name="Text 30"/>
          <p:cNvSpPr/>
          <p:nvPr/>
        </p:nvSpPr>
        <p:spPr>
          <a:xfrm>
            <a:off x="4857750" y="2894558"/>
            <a:ext cx="17145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4922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→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5114925" y="2903488"/>
            <a:ext cx="154305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F9F7F4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Learning Memory Engine</a:t>
            </a:r>
            <a:endParaRPr lang="en-US" sz="950" dirty="0"/>
          </a:p>
        </p:txBody>
      </p:sp>
      <p:sp>
        <p:nvSpPr>
          <p:cNvPr id="35" name="Shape 32"/>
          <p:cNvSpPr/>
          <p:nvPr/>
        </p:nvSpPr>
        <p:spPr>
          <a:xfrm>
            <a:off x="4714875" y="3241030"/>
            <a:ext cx="3857625" cy="346472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6" name="Shape 33"/>
          <p:cNvSpPr/>
          <p:nvPr/>
        </p:nvSpPr>
        <p:spPr>
          <a:xfrm>
            <a:off x="4714875" y="3241030"/>
            <a:ext cx="28575" cy="346472"/>
          </a:xfrm>
          <a:prstGeom prst="rect">
            <a:avLst/>
          </a:prstGeom>
          <a:solidFill>
            <a:srgbClr val="C4922A"/>
          </a:solidFill>
          <a:ln/>
        </p:spPr>
      </p:sp>
      <p:sp>
        <p:nvSpPr>
          <p:cNvPr id="37" name="Text 34"/>
          <p:cNvSpPr/>
          <p:nvPr/>
        </p:nvSpPr>
        <p:spPr>
          <a:xfrm>
            <a:off x="4857750" y="3326755"/>
            <a:ext cx="17145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4922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→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5114925" y="3335685"/>
            <a:ext cx="1103709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F9F7F4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Formula Evolution</a:t>
            </a:r>
            <a:endParaRPr lang="en-US" sz="950" dirty="0"/>
          </a:p>
        </p:txBody>
      </p:sp>
      <p:sp>
        <p:nvSpPr>
          <p:cNvPr id="39" name="Shape 36"/>
          <p:cNvSpPr/>
          <p:nvPr/>
        </p:nvSpPr>
        <p:spPr>
          <a:xfrm>
            <a:off x="4714875" y="3673227"/>
            <a:ext cx="3857625" cy="346472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40" name="Shape 37"/>
          <p:cNvSpPr/>
          <p:nvPr/>
        </p:nvSpPr>
        <p:spPr>
          <a:xfrm>
            <a:off x="4714875" y="3673227"/>
            <a:ext cx="28575" cy="346472"/>
          </a:xfrm>
          <a:prstGeom prst="rect">
            <a:avLst/>
          </a:prstGeom>
          <a:solidFill>
            <a:srgbClr val="C4922A"/>
          </a:solidFill>
          <a:ln/>
        </p:spPr>
      </p:sp>
      <p:sp>
        <p:nvSpPr>
          <p:cNvPr id="41" name="Text 38"/>
          <p:cNvSpPr/>
          <p:nvPr/>
        </p:nvSpPr>
        <p:spPr>
          <a:xfrm>
            <a:off x="4857750" y="3758952"/>
            <a:ext cx="17145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4922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→</a:t>
            </a:r>
            <a:endParaRPr lang="en-US" sz="900" dirty="0"/>
          </a:p>
        </p:txBody>
      </p:sp>
      <p:sp>
        <p:nvSpPr>
          <p:cNvPr id="42" name="Text 39"/>
          <p:cNvSpPr/>
          <p:nvPr/>
        </p:nvSpPr>
        <p:spPr>
          <a:xfrm>
            <a:off x="5114925" y="3767882"/>
            <a:ext cx="1107281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F9F7F4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Style Marketplace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792215" y="1038020"/>
            <a:ext cx="1559514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200" b="1" spc="4" kern="0" dirty="0">
                <a:solidFill>
                  <a:srgbClr val="4A6741"/>
                </a:solidFill>
                <a:latin typeface="Cormorant Garamond SemiBold" pitchFamily="34" charset="0"/>
                <a:ea typeface="Cormorant Garamond SemiBold" pitchFamily="34" charset="-122"/>
                <a:cs typeface="Cormorant Garamond SemiBold" pitchFamily="34" charset="-120"/>
              </a:rPr>
              <a:t>EVERCRAFTED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1802011" y="1773827"/>
            <a:ext cx="5539978" cy="10972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96000"/>
              </a:lnSpc>
              <a:buNone/>
            </a:pPr>
            <a:r>
              <a:rPr lang="en-US" sz="3300" b="1" dirty="0">
                <a:solidFill>
                  <a:srgbClr val="F9F7F4"/>
                </a:solidFill>
                <a:latin typeface="Cormorant Garamond SemiBold" pitchFamily="34" charset="0"/>
                <a:ea typeface="Cormorant Garamond SemiBold" pitchFamily="34" charset="-122"/>
                <a:cs typeface="Cormorant Garamond SemiBold" pitchFamily="34" charset="-120"/>
              </a:rPr>
              <a:t>A floral CAD system.</a:t>
            </a:r>
            <a:r>
              <a:rPr lang="en-US" sz="3300" b="1" dirty="0">
                <a:solidFill>
                  <a:srgbClr val="F9F7F4"/>
                </a:solidFill>
                <a:latin typeface="Cormorant Garamond SemiBold" pitchFamily="34" charset="0"/>
                <a:ea typeface="Cormorant Garamond SemiBold" pitchFamily="34" charset="-122"/>
                <a:cs typeface="Cormorant Garamond SemiBold" pitchFamily="34" charset="-120"/>
              </a:rPr>
              <a:t>
</a:t>
            </a:r>
            <a:r>
              <a:rPr lang="en-US" sz="3300" b="1" dirty="0">
                <a:solidFill>
                  <a:srgbClr val="F9F7F4"/>
                </a:solidFill>
                <a:latin typeface="Cormorant Garamond SemiBold" pitchFamily="34" charset="0"/>
                <a:ea typeface="Cormorant Garamond SemiBold" pitchFamily="34" charset="-122"/>
                <a:cs typeface="Cormorant Garamond SemiBold" pitchFamily="34" charset="-120"/>
              </a:rPr>
              <a:t>A </a:t>
            </a:r>
            <a:r>
              <a:rPr lang="en-US" sz="3300" b="1" i="1" dirty="0">
                <a:solidFill>
                  <a:srgbClr val="C4922A"/>
                </a:solidFill>
                <a:latin typeface="Cormorant Garamond SemiBold" pitchFamily="34" charset="0"/>
                <a:ea typeface="Cormorant Garamond SemiBold" pitchFamily="34" charset="-122"/>
                <a:cs typeface="Cormorant Garamond SemiBold" pitchFamily="34" charset="-120"/>
              </a:rPr>
              <a:t>design intelligence</a:t>
            </a:r>
            <a:r>
              <a:rPr lang="en-US" sz="3300" b="1" dirty="0">
                <a:solidFill>
                  <a:srgbClr val="F9F7F4"/>
                </a:solidFill>
                <a:latin typeface="Cormorant Garamond SemiBold" pitchFamily="34" charset="0"/>
                <a:ea typeface="Cormorant Garamond SemiBold" pitchFamily="34" charset="-122"/>
                <a:cs typeface="Cormorant Garamond SemiBold" pitchFamily="34" charset="-120"/>
              </a:rPr>
              <a:t> platform.</a:t>
            </a:r>
            <a:endParaRPr lang="en-US" sz="3300" dirty="0"/>
          </a:p>
        </p:txBody>
      </p:sp>
      <p:sp>
        <p:nvSpPr>
          <p:cNvPr id="5" name="Text 2"/>
          <p:cNvSpPr/>
          <p:nvPr/>
        </p:nvSpPr>
        <p:spPr>
          <a:xfrm>
            <a:off x="1714500" y="3099662"/>
            <a:ext cx="5715000" cy="5486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A8A8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Translating human emotion and physical inventory into mathematically balanced, reproducible, and professionally scored floral compositions.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3361134" y="4582716"/>
            <a:ext cx="2421731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50" spc="2" kern="0" dirty="0">
                <a:solidFill>
                  <a:srgbClr val="6B8F67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END OF DOCUMENT // ENGINE V1.0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2026-08-19T09:01:15Z</dcterms:created>
  <dcterms:modified xsi:type="dcterms:W3CDTF">2026-08-19T09:01:15Z</dcterms:modified>
</cp:coreProperties>
</file>