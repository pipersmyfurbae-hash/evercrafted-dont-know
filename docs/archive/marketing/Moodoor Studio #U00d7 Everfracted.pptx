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intentionally maintain a strict privacy boundary between production internals and consumer-facing projections. By limiting what we expose to the public layer, we protect proprietary supplier data, inventory levels, and internal margins while still providing rich, relevant product context. And this architectural discipline ensures our operational complexity never leaks into the customer experience. Let us now look at how these signals are evaluated deterministically.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relies entirely on a deterministic scoring function rather than black-box machine learning heuristics. Every product must first pass hard publication eligibility checks before it even enters the scoring pool. And notice how each matching signal family contributes a fixed, binary increment based on explicit textual overlap. This design guarantees that identical queries always yield identical rankings. Now let us trace how a top-tier product achieves a maximum score through this transparent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concrete trace shows how a perfectly aligned product hits the ceiling of our scoring model. We start with our base eligibility score, then add incremental weights for mood, season, door context, and inventory status. Because every increment is tied to explicit searchable evidence, the final score of one point zero is completely auditable. And notice how we break exact-score ties using alphabetical fallback rules to maintain consistent output. This predictability is what transforms search into a reliable recommendation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deserve complete transparency instead of inscrutable algorithmic guesses. Our matcher evaluates normalized text across public fields and surfaces the top contributing signals directly in the UI. If nothing clears our minimum threshold, we show a clean no-match state rather than forcing a weak recommendation. This commitment to explainable relevance builds real trust with every search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connects product, operations, and reliability. We bridge the public finder experience in pages/Moodoor.tsx with deterministic matching logic in our core services. And we ensure optional AI features fail gracefully at the edge so runtime stability remains uncompromised. This clean separation keeps our operational layers robust while supporting rapid iteration across the front end. Now let's examine how we validate these boundaries before shipping.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merge is validated; the launch boundary is explicit. Our deterministic fixtures pass cleanly, and the Vite production build verifies that finder rendering and mood progression work flawlessly in the browser. But we don't stop at initial validation; we're hardening production with strict Firestore rules and mandatory publication fields. These safeguards ensure that every public drop maintains our rigorous quality standards. Which brings us to the core philosophy of the entire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Moodoor makes selection feel considered. By combining private craft with public clarity, we turn complex floral inventory into an intuitive, deterministic discovery process. This is where engineering precision meets editorial design.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34326" y="1842027"/>
            <a:ext cx="3675348" cy="1320143"/>
          </a:xfrm>
          <a:prstGeom prst="rect">
            <a:avLst/>
          </a:prstGeom>
          <a:noFill/>
          <a:ln/>
        </p:spPr>
        <p:txBody>
          <a:bodyPr wrap="square" lIns="0" tIns="0" rIns="0" bIns="0" rtlCol="0" anchor="t">
            <a:spAutoFit/>
          </a:bodyPr>
          <a:lstStyle/>
          <a:p>
            <a:pPr algn="ctr" indent="0" marL="0">
              <a:lnSpc>
                <a:spcPct val="88000"/>
              </a:lnSpc>
              <a:buNone/>
            </a:pPr>
            <a:r>
              <a:rPr lang="en-US" sz="4650" spc="-1" kern="0" dirty="0">
                <a:solidFill>
                  <a:srgbClr val="F9F7F4"/>
                </a:solidFill>
                <a:latin typeface="Cormorant Garamond Light" pitchFamily="34" charset="0"/>
                <a:ea typeface="Cormorant Garamond Light" pitchFamily="34" charset="-122"/>
                <a:cs typeface="Cormorant Garamond Light" pitchFamily="34" charset="-120"/>
              </a:rPr>
              <a:t>Moodoor Studio </a:t>
            </a:r>
            <a:r>
              <a:rPr lang="en-US" sz="4650" spc="-1" kern="0" dirty="0">
                <a:solidFill>
                  <a:srgbClr val="F9F7F4"/>
                </a:solidFill>
                <a:latin typeface="Cormorant Garamond Light" pitchFamily="34" charset="0"/>
                <a:ea typeface="Cormorant Garamond Light" pitchFamily="34" charset="-122"/>
                <a:cs typeface="Cormorant Garamond Light" pitchFamily="34" charset="-120"/>
              </a:rPr>
              <a:t>
</a:t>
            </a:r>
            <a:r>
              <a:rPr lang="en-US" sz="4650" i="1" spc="-1" kern="0" dirty="0">
                <a:solidFill>
                  <a:srgbClr val="C9A84C"/>
                </a:solidFill>
                <a:latin typeface="Cormorant Garamond Light" pitchFamily="34" charset="0"/>
                <a:ea typeface="Cormorant Garamond Light" pitchFamily="34" charset="-122"/>
                <a:cs typeface="Cormorant Garamond Light" pitchFamily="34" charset="-120"/>
              </a:rPr>
              <a:t>×</a:t>
            </a:r>
            <a:r>
              <a:rPr lang="en-US" sz="4650" spc="-1" kern="0" dirty="0">
                <a:solidFill>
                  <a:srgbClr val="F9F7F4"/>
                </a:solidFill>
                <a:latin typeface="Cormorant Garamond Light" pitchFamily="34" charset="0"/>
                <a:ea typeface="Cormorant Garamond Light" pitchFamily="34" charset="-122"/>
                <a:cs typeface="Cormorant Garamond Light" pitchFamily="34" charset="-120"/>
              </a:rPr>
              <a:t> Everfracted</a:t>
            </a:r>
            <a:endParaRPr lang="en-US" sz="4650" dirty="0"/>
          </a:p>
        </p:txBody>
      </p:sp>
      <p:sp>
        <p:nvSpPr>
          <p:cNvPr id="4" name="Text 1"/>
          <p:cNvSpPr/>
          <p:nvPr/>
        </p:nvSpPr>
        <p:spPr>
          <a:xfrm>
            <a:off x="2105955" y="3333620"/>
            <a:ext cx="4932090" cy="210741"/>
          </a:xfrm>
          <a:prstGeom prst="rect">
            <a:avLst/>
          </a:prstGeom>
          <a:noFill/>
          <a:ln/>
        </p:spPr>
        <p:txBody>
          <a:bodyPr wrap="square" lIns="0" tIns="0" rIns="0" bIns="0" rtlCol="0" anchor="t">
            <a:spAutoFit/>
          </a:bodyPr>
          <a:lstStyle/>
          <a:p>
            <a:pPr algn="ctr" indent="0" marL="0">
              <a:buNone/>
            </a:pPr>
            <a:r>
              <a:rPr lang="en-US" sz="1250" spc="2" kern="0" dirty="0">
                <a:solidFill>
                  <a:srgbClr val="A8A8A8"/>
                </a:solidFill>
                <a:latin typeface="Inter" pitchFamily="34" charset="0"/>
                <a:ea typeface="Inter" pitchFamily="34" charset="-122"/>
                <a:cs typeface="Inter" pitchFamily="34" charset="-120"/>
              </a:rPr>
              <a:t>A SHARED-DATA, SEPARATE-EXPERIENCE MERGER</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714375" y="571500"/>
            <a:ext cx="7715250" cy="482203"/>
          </a:xfrm>
          <a:prstGeom prst="rect">
            <a:avLst/>
          </a:prstGeom>
          <a:noFill/>
          <a:ln/>
        </p:spPr>
        <p:txBody>
          <a:bodyPr wrap="square" lIns="0" tIns="0" rIns="0" bIns="0" rtlCol="0" anchor="t">
            <a:spAutoFit/>
          </a:bodyPr>
          <a:lstStyle/>
          <a:p>
            <a:pPr algn="ctr" indent="0" marL="0">
              <a:buNone/>
            </a:pPr>
            <a:r>
              <a:rPr lang="en-US" sz="3050" dirty="0">
                <a:solidFill>
                  <a:srgbClr val="C9A84C"/>
                </a:solidFill>
                <a:latin typeface="Cormorant Garamond" pitchFamily="34" charset="0"/>
                <a:ea typeface="Cormorant Garamond" pitchFamily="34" charset="-122"/>
                <a:cs typeface="Cormorant Garamond" pitchFamily="34" charset="-120"/>
              </a:rPr>
              <a:t>One source of truth. Two purposeful experiences.</a:t>
            </a:r>
            <a:endParaRPr lang="en-US" sz="3050" dirty="0"/>
          </a:p>
        </p:txBody>
      </p:sp>
      <p:sp>
        <p:nvSpPr>
          <p:cNvPr id="4" name="Text 1"/>
          <p:cNvSpPr/>
          <p:nvPr/>
        </p:nvSpPr>
        <p:spPr>
          <a:xfrm>
            <a:off x="714375" y="1482328"/>
            <a:ext cx="3571875" cy="314325"/>
          </a:xfrm>
          <a:prstGeom prst="rect">
            <a:avLst/>
          </a:prstGeom>
          <a:noFill/>
          <a:ln/>
        </p:spPr>
        <p:txBody>
          <a:bodyPr wrap="square" lIns="0" tIns="0" rIns="0" bIns="0" rtlCol="0" anchor="t">
            <a:spAutoFit/>
          </a:bodyPr>
          <a:lstStyle/>
          <a:p>
            <a:pPr algn="l" indent="0" marL="0">
              <a:buNone/>
            </a:pPr>
            <a:r>
              <a:rPr lang="en-US" sz="1800" b="1" dirty="0">
                <a:solidFill>
                  <a:srgbClr val="4A6741"/>
                </a:solidFill>
                <a:latin typeface="Cormorant Garamond SemiBold" pitchFamily="34" charset="0"/>
                <a:ea typeface="Cormorant Garamond SemiBold" pitchFamily="34" charset="-122"/>
                <a:cs typeface="Cormorant Garamond SemiBold" pitchFamily="34" charset="-120"/>
              </a:rPr>
              <a:t>Evercrafted</a:t>
            </a:r>
            <a:endParaRPr lang="en-US" sz="1800" dirty="0"/>
          </a:p>
        </p:txBody>
      </p:sp>
      <p:sp>
        <p:nvSpPr>
          <p:cNvPr id="5" name="Text 2"/>
          <p:cNvSpPr/>
          <p:nvPr/>
        </p:nvSpPr>
        <p:spPr>
          <a:xfrm>
            <a:off x="714375" y="1968103"/>
            <a:ext cx="3571875" cy="6858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Remains the definitive maker-facing system for design, inventory management, marketplace publishing, and quality review.</a:t>
            </a:r>
            <a:endParaRPr lang="en-US" sz="1050" dirty="0"/>
          </a:p>
        </p:txBody>
      </p:sp>
      <p:sp>
        <p:nvSpPr>
          <p:cNvPr id="6" name="Text 3"/>
          <p:cNvSpPr/>
          <p:nvPr/>
        </p:nvSpPr>
        <p:spPr>
          <a:xfrm>
            <a:off x="4857750" y="1482328"/>
            <a:ext cx="3571875" cy="314325"/>
          </a:xfrm>
          <a:prstGeom prst="rect">
            <a:avLst/>
          </a:prstGeom>
          <a:noFill/>
          <a:ln/>
        </p:spPr>
        <p:txBody>
          <a:bodyPr wrap="square" lIns="0" tIns="0" rIns="0" bIns="0" rtlCol="0" anchor="t">
            <a:spAutoFit/>
          </a:bodyPr>
          <a:lstStyle/>
          <a:p>
            <a:pPr algn="l" indent="0" marL="0">
              <a:buNone/>
            </a:pPr>
            <a:r>
              <a:rPr lang="en-US" sz="1800" b="1" dirty="0">
                <a:solidFill>
                  <a:srgbClr val="F9F7F4"/>
                </a:solidFill>
                <a:latin typeface="Cormorant Garamond SemiBold" pitchFamily="34" charset="0"/>
                <a:ea typeface="Cormorant Garamond SemiBold" pitchFamily="34" charset="-122"/>
                <a:cs typeface="Cormorant Garamond SemiBold" pitchFamily="34" charset="-120"/>
              </a:rPr>
              <a:t>Moodoor</a:t>
            </a:r>
            <a:endParaRPr lang="en-US" sz="1800" dirty="0"/>
          </a:p>
        </p:txBody>
      </p:sp>
      <p:sp>
        <p:nvSpPr>
          <p:cNvPr id="7" name="Text 4"/>
          <p:cNvSpPr/>
          <p:nvPr/>
        </p:nvSpPr>
        <p:spPr>
          <a:xfrm>
            <a:off x="4857750" y="1968103"/>
            <a:ext cx="3571875" cy="6858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Becomes the customer-facing editorial finder: a gentle, curated three-step route to the right available wreath.</a:t>
            </a:r>
            <a:endParaRPr lang="en-US" sz="1050" dirty="0"/>
          </a:p>
        </p:txBody>
      </p:sp>
      <p:sp>
        <p:nvSpPr>
          <p:cNvPr id="8" name="Shape 5"/>
          <p:cNvSpPr/>
          <p:nvPr/>
        </p:nvSpPr>
        <p:spPr>
          <a:xfrm>
            <a:off x="714375" y="3082528"/>
            <a:ext cx="7715250" cy="714375"/>
          </a:xfrm>
          <a:prstGeom prst="rect">
            <a:avLst/>
          </a:prstGeom>
          <a:solidFill>
            <a:srgbClr val="C9A84C">
              <a:alpha val="5000"/>
            </a:srgbClr>
          </a:solidFill>
          <a:ln/>
        </p:spPr>
      </p:sp>
      <p:sp>
        <p:nvSpPr>
          <p:cNvPr id="9" name="Shape 6"/>
          <p:cNvSpPr/>
          <p:nvPr/>
        </p:nvSpPr>
        <p:spPr>
          <a:xfrm>
            <a:off x="714375" y="3082528"/>
            <a:ext cx="28575" cy="714375"/>
          </a:xfrm>
          <a:prstGeom prst="rect">
            <a:avLst/>
          </a:prstGeom>
          <a:solidFill>
            <a:srgbClr val="C9A84C"/>
          </a:solidFill>
          <a:ln/>
        </p:spPr>
      </p:sp>
      <p:sp>
        <p:nvSpPr>
          <p:cNvPr id="10" name="Text 7"/>
          <p:cNvSpPr/>
          <p:nvPr/>
        </p:nvSpPr>
        <p:spPr>
          <a:xfrm>
            <a:off x="942975" y="3253978"/>
            <a:ext cx="7258050" cy="471488"/>
          </a:xfrm>
          <a:prstGeom prst="rect">
            <a:avLst/>
          </a:prstGeom>
          <a:noFill/>
          <a:ln/>
        </p:spPr>
        <p:txBody>
          <a:bodyPr wrap="square" lIns="0" tIns="0" rIns="0" bIns="0" rtlCol="0" anchor="t">
            <a:spAutoFit/>
          </a:bodyPr>
          <a:lstStyle/>
          <a:p>
            <a:pPr algn="l" indent="0" marL="0">
              <a:lnSpc>
                <a:spcPct val="120000"/>
              </a:lnSpc>
              <a:buNone/>
            </a:pPr>
            <a:r>
              <a:rPr lang="en-US" sz="1150" dirty="0">
                <a:solidFill>
                  <a:srgbClr val="F9F7F4"/>
                </a:solidFill>
                <a:latin typeface="Inter" pitchFamily="34" charset="0"/>
                <a:ea typeface="Inter" pitchFamily="34" charset="-122"/>
                <a:cs typeface="Inter" pitchFamily="34" charset="-120"/>
              </a:rPr>
              <a:t>The merger brings Moodoor’s public-publishing and explainable-matching principles into Everfracted, rather than operating a parallel, disconnected application.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714375" y="571500"/>
            <a:ext cx="7715250" cy="964406"/>
          </a:xfrm>
          <a:prstGeom prst="rect">
            <a:avLst/>
          </a:prstGeom>
          <a:noFill/>
          <a:ln/>
        </p:spPr>
        <p:txBody>
          <a:bodyPr wrap="square" lIns="0" tIns="0" rIns="0" bIns="0" rtlCol="0" anchor="t">
            <a:spAutoFit/>
          </a:bodyPr>
          <a:lstStyle/>
          <a:p>
            <a:pPr algn="l" indent="0" marL="0">
              <a:buNone/>
            </a:pPr>
            <a:r>
              <a:rPr lang="en-US" sz="3050" dirty="0">
                <a:solidFill>
                  <a:srgbClr val="C9A84C"/>
                </a:solidFill>
                <a:latin typeface="Cormorant Garamond" pitchFamily="34" charset="0"/>
                <a:ea typeface="Cormorant Garamond" pitchFamily="34" charset="-122"/>
                <a:cs typeface="Cormorant Garamond" pitchFamily="34" charset="-120"/>
              </a:rPr>
              <a:t>Adapt the durable logic — not the duplicate runtime.</a:t>
            </a:r>
            <a:endParaRPr lang="en-US" sz="3050" dirty="0"/>
          </a:p>
        </p:txBody>
      </p:sp>
      <p:sp>
        <p:nvSpPr>
          <p:cNvPr id="4" name="Text 1"/>
          <p:cNvSpPr/>
          <p:nvPr/>
        </p:nvSpPr>
        <p:spPr>
          <a:xfrm>
            <a:off x="714375" y="1707356"/>
            <a:ext cx="6429375" cy="471488"/>
          </a:xfrm>
          <a:prstGeom prst="rect">
            <a:avLst/>
          </a:prstGeom>
          <a:noFill/>
          <a:ln/>
        </p:spPr>
        <p:txBody>
          <a:bodyPr wrap="square" lIns="0" tIns="0" rIns="0" bIns="0" rtlCol="0" anchor="t">
            <a:spAutoFit/>
          </a:bodyPr>
          <a:lstStyle/>
          <a:p>
            <a:pPr algn="l" indent="0" marL="0">
              <a:lnSpc>
                <a:spcPct val="120000"/>
              </a:lnSpc>
              <a:buNone/>
            </a:pPr>
            <a:r>
              <a:rPr lang="en-US" sz="1150" dirty="0">
                <a:solidFill>
                  <a:srgbClr val="D0D0D0"/>
                </a:solidFill>
                <a:latin typeface="Inter Light" pitchFamily="34" charset="0"/>
                <a:ea typeface="Inter Light" pitchFamily="34" charset="-122"/>
                <a:cs typeface="Inter Light" pitchFamily="34" charset="-120"/>
              </a:rPr>
              <a:t>The uploaded archive contained a full React/Vite/Express workspace with a Wouter router and browser-local repositories. We extracted principles, not platforms.</a:t>
            </a:r>
            <a:endParaRPr lang="en-US" sz="1150" dirty="0"/>
          </a:p>
        </p:txBody>
      </p:sp>
      <p:sp>
        <p:nvSpPr>
          <p:cNvPr id="5" name="Text 2"/>
          <p:cNvSpPr/>
          <p:nvPr/>
        </p:nvSpPr>
        <p:spPr>
          <a:xfrm>
            <a:off x="714375" y="2793206"/>
            <a:ext cx="2381213" cy="275034"/>
          </a:xfrm>
          <a:prstGeom prst="rect">
            <a:avLst/>
          </a:prstGeom>
          <a:noFill/>
          <a:ln/>
        </p:spPr>
        <p:txBody>
          <a:bodyPr wrap="square" lIns="0" tIns="0" rIns="0" bIns="0" rtlCol="0" anchor="t">
            <a:spAutoFit/>
          </a:bodyPr>
          <a:lstStyle/>
          <a:p>
            <a:pPr algn="l" indent="0" marL="0">
              <a:buNone/>
            </a:pPr>
            <a:r>
              <a:rPr lang="en-US" sz="1600" b="1" dirty="0">
                <a:solidFill>
                  <a:srgbClr val="4A6741"/>
                </a:solidFill>
                <a:latin typeface="Cormorant Garamond SemiBold" pitchFamily="34" charset="0"/>
                <a:ea typeface="Cormorant Garamond SemiBold" pitchFamily="34" charset="-122"/>
                <a:cs typeface="Cormorant Garamond SemiBold" pitchFamily="34" charset="-120"/>
              </a:rPr>
              <a:t>Adapted</a:t>
            </a:r>
            <a:endParaRPr lang="en-US" sz="1600" dirty="0"/>
          </a:p>
        </p:txBody>
      </p:sp>
      <p:sp>
        <p:nvSpPr>
          <p:cNvPr id="6" name="Text 3"/>
          <p:cNvSpPr/>
          <p:nvPr/>
        </p:nvSpPr>
        <p:spPr>
          <a:xfrm>
            <a:off x="714375" y="3211116"/>
            <a:ext cx="2381213"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E8E8E8"/>
                </a:solidFill>
                <a:latin typeface="Inter Light" pitchFamily="34" charset="0"/>
                <a:ea typeface="Inter Light" pitchFamily="34" charset="-122"/>
                <a:cs typeface="Inter Light" pitchFamily="34" charset="-120"/>
              </a:rPr>
              <a:t>Public customer flow and presentation principles.</a:t>
            </a:r>
            <a:endParaRPr lang="en-US" sz="950" dirty="0"/>
          </a:p>
        </p:txBody>
      </p:sp>
      <p:sp>
        <p:nvSpPr>
          <p:cNvPr id="7" name="Text 4"/>
          <p:cNvSpPr/>
          <p:nvPr/>
        </p:nvSpPr>
        <p:spPr>
          <a:xfrm>
            <a:off x="714375" y="3736851"/>
            <a:ext cx="2381213"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E8E8E8"/>
                </a:solidFill>
                <a:latin typeface="Inter Light" pitchFamily="34" charset="0"/>
                <a:ea typeface="Inter Light" pitchFamily="34" charset="-122"/>
                <a:cs typeface="Inter Light" pitchFamily="34" charset="-120"/>
              </a:rPr>
              <a:t>Explicit publishing boundary for makers.</a:t>
            </a:r>
            <a:endParaRPr lang="en-US" sz="950" dirty="0"/>
          </a:p>
        </p:txBody>
      </p:sp>
      <p:sp>
        <p:nvSpPr>
          <p:cNvPr id="8" name="Text 5"/>
          <p:cNvSpPr/>
          <p:nvPr/>
        </p:nvSpPr>
        <p:spPr>
          <a:xfrm>
            <a:off x="714375" y="4262586"/>
            <a:ext cx="2381213"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E8E8E8"/>
                </a:solidFill>
                <a:latin typeface="Inter Light" pitchFamily="34" charset="0"/>
                <a:ea typeface="Inter Light" pitchFamily="34" charset="-122"/>
                <a:cs typeface="Inter Light" pitchFamily="34" charset="-120"/>
              </a:rPr>
              <a:t>Deterministic, explainable memory matching.</a:t>
            </a:r>
            <a:endParaRPr lang="en-US" sz="950" dirty="0"/>
          </a:p>
        </p:txBody>
      </p:sp>
      <p:sp>
        <p:nvSpPr>
          <p:cNvPr id="9" name="Text 6"/>
          <p:cNvSpPr/>
          <p:nvPr/>
        </p:nvSpPr>
        <p:spPr>
          <a:xfrm>
            <a:off x="714375" y="3211116"/>
            <a:ext cx="7143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E8E8E8">
                    <a:alpha val="50000"/>
                  </a:srgbClr>
                </a:solidFill>
                <a:latin typeface="Inter Light" pitchFamily="34" charset="0"/>
                <a:ea typeface="Inter Light" pitchFamily="34" charset="-122"/>
                <a:cs typeface="Inter Light" pitchFamily="34" charset="-120"/>
              </a:rPr>
              <a:t>•</a:t>
            </a:r>
            <a:endParaRPr lang="en-US" sz="950" dirty="0"/>
          </a:p>
        </p:txBody>
      </p:sp>
      <p:sp>
        <p:nvSpPr>
          <p:cNvPr id="10" name="Text 7"/>
          <p:cNvSpPr/>
          <p:nvPr/>
        </p:nvSpPr>
        <p:spPr>
          <a:xfrm>
            <a:off x="714375" y="3736851"/>
            <a:ext cx="7143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E8E8E8">
                    <a:alpha val="50000"/>
                  </a:srgbClr>
                </a:solidFill>
                <a:latin typeface="Inter Light" pitchFamily="34" charset="0"/>
                <a:ea typeface="Inter Light" pitchFamily="34" charset="-122"/>
                <a:cs typeface="Inter Light" pitchFamily="34" charset="-120"/>
              </a:rPr>
              <a:t>•</a:t>
            </a:r>
            <a:endParaRPr lang="en-US" sz="950" dirty="0"/>
          </a:p>
        </p:txBody>
      </p:sp>
      <p:sp>
        <p:nvSpPr>
          <p:cNvPr id="11" name="Text 8"/>
          <p:cNvSpPr/>
          <p:nvPr/>
        </p:nvSpPr>
        <p:spPr>
          <a:xfrm>
            <a:off x="714375" y="4262586"/>
            <a:ext cx="7143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E8E8E8">
                    <a:alpha val="50000"/>
                  </a:srgbClr>
                </a:solidFill>
                <a:latin typeface="Inter Light" pitchFamily="34" charset="0"/>
                <a:ea typeface="Inter Light" pitchFamily="34" charset="-122"/>
                <a:cs typeface="Inter Light" pitchFamily="34" charset="-120"/>
              </a:rPr>
              <a:t>•</a:t>
            </a:r>
            <a:endParaRPr lang="en-US" sz="950" dirty="0"/>
          </a:p>
        </p:txBody>
      </p:sp>
      <p:sp>
        <p:nvSpPr>
          <p:cNvPr id="12" name="Text 9"/>
          <p:cNvSpPr/>
          <p:nvPr/>
        </p:nvSpPr>
        <p:spPr>
          <a:xfrm>
            <a:off x="3381338" y="2793206"/>
            <a:ext cx="2381269" cy="275034"/>
          </a:xfrm>
          <a:prstGeom prst="rect">
            <a:avLst/>
          </a:prstGeom>
          <a:noFill/>
          <a:ln/>
        </p:spPr>
        <p:txBody>
          <a:bodyPr wrap="square" lIns="0" tIns="0" rIns="0" bIns="0" rtlCol="0" anchor="t">
            <a:spAutoFit/>
          </a:bodyPr>
          <a:lstStyle/>
          <a:p>
            <a:pPr algn="l" indent="0" marL="0">
              <a:buNone/>
            </a:pPr>
            <a:r>
              <a:rPr lang="en-US" sz="1600" b="1" dirty="0">
                <a:solidFill>
                  <a:srgbClr val="B94040"/>
                </a:solidFill>
                <a:latin typeface="Cormorant Garamond SemiBold" pitchFamily="34" charset="0"/>
                <a:ea typeface="Cormorant Garamond SemiBold" pitchFamily="34" charset="-122"/>
                <a:cs typeface="Cormorant Garamond SemiBold" pitchFamily="34" charset="-120"/>
              </a:rPr>
              <a:t>Excluded</a:t>
            </a:r>
            <a:endParaRPr lang="en-US" sz="1600" dirty="0"/>
          </a:p>
        </p:txBody>
      </p:sp>
      <p:sp>
        <p:nvSpPr>
          <p:cNvPr id="13" name="Text 10"/>
          <p:cNvSpPr/>
          <p:nvPr/>
        </p:nvSpPr>
        <p:spPr>
          <a:xfrm>
            <a:off x="3381338" y="3211116"/>
            <a:ext cx="2381269"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E8E8E8"/>
                </a:solidFill>
                <a:latin typeface="Inter Light" pitchFamily="34" charset="0"/>
                <a:ea typeface="Inter Light" pitchFamily="34" charset="-122"/>
                <a:cs typeface="Inter Light" pitchFamily="34" charset="-120"/>
              </a:rPr>
              <a:t>Standalone Wouter shell (Everfracted already handles routing).</a:t>
            </a:r>
            <a:endParaRPr lang="en-US" sz="950" dirty="0"/>
          </a:p>
        </p:txBody>
      </p:sp>
      <p:sp>
        <p:nvSpPr>
          <p:cNvPr id="14" name="Text 11"/>
          <p:cNvSpPr/>
          <p:nvPr/>
        </p:nvSpPr>
        <p:spPr>
          <a:xfrm>
            <a:off x="3381338" y="3736851"/>
            <a:ext cx="2381269"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E8E8E8"/>
                </a:solidFill>
                <a:latin typeface="Inter Light" pitchFamily="34" charset="0"/>
                <a:ea typeface="Inter Light" pitchFamily="34" charset="-122"/>
                <a:cs typeface="Inter Light" pitchFamily="34" charset="-120"/>
              </a:rPr>
              <a:t>Local state repositories (divergent from Firestore).</a:t>
            </a:r>
            <a:endParaRPr lang="en-US" sz="950" dirty="0"/>
          </a:p>
        </p:txBody>
      </p:sp>
      <p:sp>
        <p:nvSpPr>
          <p:cNvPr id="15" name="Text 12"/>
          <p:cNvSpPr/>
          <p:nvPr/>
        </p:nvSpPr>
        <p:spPr>
          <a:xfrm>
            <a:off x="3381338" y="4262586"/>
            <a:ext cx="2381269"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E8E8E8"/>
                </a:solidFill>
                <a:latin typeface="Inter Light" pitchFamily="34" charset="0"/>
                <a:ea typeface="Inter Light" pitchFamily="34" charset="-122"/>
                <a:cs typeface="Inter Light" pitchFamily="34" charset="-120"/>
              </a:rPr>
              <a:t>Unreviewed third-party dependencies.</a:t>
            </a:r>
            <a:endParaRPr lang="en-US" sz="950" dirty="0"/>
          </a:p>
        </p:txBody>
      </p:sp>
      <p:sp>
        <p:nvSpPr>
          <p:cNvPr id="16" name="Text 13"/>
          <p:cNvSpPr/>
          <p:nvPr/>
        </p:nvSpPr>
        <p:spPr>
          <a:xfrm>
            <a:off x="3381338" y="3211116"/>
            <a:ext cx="7143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E8E8E8">
                    <a:alpha val="50000"/>
                  </a:srgbClr>
                </a:solidFill>
                <a:latin typeface="Inter Light" pitchFamily="34" charset="0"/>
                <a:ea typeface="Inter Light" pitchFamily="34" charset="-122"/>
                <a:cs typeface="Inter Light" pitchFamily="34" charset="-120"/>
              </a:rPr>
              <a:t>•</a:t>
            </a:r>
            <a:endParaRPr lang="en-US" sz="950" dirty="0"/>
          </a:p>
        </p:txBody>
      </p:sp>
      <p:sp>
        <p:nvSpPr>
          <p:cNvPr id="17" name="Text 14"/>
          <p:cNvSpPr/>
          <p:nvPr/>
        </p:nvSpPr>
        <p:spPr>
          <a:xfrm>
            <a:off x="3381338" y="3736851"/>
            <a:ext cx="7143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E8E8E8">
                    <a:alpha val="50000"/>
                  </a:srgbClr>
                </a:solidFill>
                <a:latin typeface="Inter Light" pitchFamily="34" charset="0"/>
                <a:ea typeface="Inter Light" pitchFamily="34" charset="-122"/>
                <a:cs typeface="Inter Light" pitchFamily="34" charset="-120"/>
              </a:rPr>
              <a:t>•</a:t>
            </a:r>
            <a:endParaRPr lang="en-US" sz="950" dirty="0"/>
          </a:p>
        </p:txBody>
      </p:sp>
      <p:sp>
        <p:nvSpPr>
          <p:cNvPr id="18" name="Text 15"/>
          <p:cNvSpPr/>
          <p:nvPr/>
        </p:nvSpPr>
        <p:spPr>
          <a:xfrm>
            <a:off x="3381338" y="4262586"/>
            <a:ext cx="7143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E8E8E8">
                    <a:alpha val="50000"/>
                  </a:srgbClr>
                </a:solidFill>
                <a:latin typeface="Inter Light" pitchFamily="34" charset="0"/>
                <a:ea typeface="Inter Light" pitchFamily="34" charset="-122"/>
                <a:cs typeface="Inter Light" pitchFamily="34" charset="-120"/>
              </a:rPr>
              <a:t>•</a:t>
            </a:r>
            <a:endParaRPr lang="en-US" sz="950" dirty="0"/>
          </a:p>
        </p:txBody>
      </p:sp>
      <p:sp>
        <p:nvSpPr>
          <p:cNvPr id="19" name="Text 16"/>
          <p:cNvSpPr/>
          <p:nvPr/>
        </p:nvSpPr>
        <p:spPr>
          <a:xfrm>
            <a:off x="6048356" y="2793206"/>
            <a:ext cx="2381269" cy="275034"/>
          </a:xfrm>
          <a:prstGeom prst="rect">
            <a:avLst/>
          </a:prstGeom>
          <a:noFill/>
          <a:ln/>
        </p:spPr>
        <p:txBody>
          <a:bodyPr wrap="square" lIns="0" tIns="0" rIns="0" bIns="0" rtlCol="0" anchor="t">
            <a:spAutoFit/>
          </a:bodyPr>
          <a:lstStyle/>
          <a:p>
            <a:pPr algn="l" indent="0" marL="0">
              <a:buNone/>
            </a:pPr>
            <a:r>
              <a:rPr lang="en-US" sz="1600" b="1" dirty="0">
                <a:solidFill>
                  <a:srgbClr val="C4922A"/>
                </a:solidFill>
                <a:latin typeface="Cormorant Garamond SemiBold" pitchFamily="34" charset="0"/>
                <a:ea typeface="Cormorant Garamond SemiBold" pitchFamily="34" charset="-122"/>
                <a:cs typeface="Cormorant Garamond SemiBold" pitchFamily="34" charset="-120"/>
              </a:rPr>
              <a:t>Deferred</a:t>
            </a:r>
            <a:endParaRPr lang="en-US" sz="1600" dirty="0"/>
          </a:p>
        </p:txBody>
      </p:sp>
      <p:sp>
        <p:nvSpPr>
          <p:cNvPr id="20" name="Text 17"/>
          <p:cNvSpPr/>
          <p:nvPr/>
        </p:nvSpPr>
        <p:spPr>
          <a:xfrm>
            <a:off x="6048356" y="3211116"/>
            <a:ext cx="2381269"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E8E8E8"/>
                </a:solidFill>
                <a:latin typeface="Inter Light" pitchFamily="34" charset="0"/>
                <a:ea typeface="Inter Light" pitchFamily="34" charset="-122"/>
                <a:cs typeface="Inter Light" pitchFamily="34" charset="-120"/>
              </a:rPr>
              <a:t>Collection, campaign, launch, and lookbook modules.</a:t>
            </a:r>
            <a:endParaRPr lang="en-US" sz="950" dirty="0"/>
          </a:p>
        </p:txBody>
      </p:sp>
      <p:sp>
        <p:nvSpPr>
          <p:cNvPr id="21" name="Text 18"/>
          <p:cNvSpPr/>
          <p:nvPr/>
        </p:nvSpPr>
        <p:spPr>
          <a:xfrm>
            <a:off x="6048356" y="3736851"/>
            <a:ext cx="2381269" cy="617153"/>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E8E8E8"/>
                </a:solidFill>
                <a:latin typeface="Inter Light" pitchFamily="34" charset="0"/>
                <a:ea typeface="Inter Light" pitchFamily="34" charset="-122"/>
                <a:cs typeface="Inter Light" pitchFamily="34" charset="-120"/>
              </a:rPr>
              <a:t>To be integrated once authoritative Everfracted schemas and maker workflows mature.</a:t>
            </a:r>
            <a:endParaRPr lang="en-US" sz="950" dirty="0"/>
          </a:p>
        </p:txBody>
      </p:sp>
      <p:sp>
        <p:nvSpPr>
          <p:cNvPr id="22" name="Text 19"/>
          <p:cNvSpPr/>
          <p:nvPr/>
        </p:nvSpPr>
        <p:spPr>
          <a:xfrm>
            <a:off x="6048356" y="3211116"/>
            <a:ext cx="7143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E8E8E8">
                    <a:alpha val="50000"/>
                  </a:srgbClr>
                </a:solidFill>
                <a:latin typeface="Inter Light" pitchFamily="34" charset="0"/>
                <a:ea typeface="Inter Light" pitchFamily="34" charset="-122"/>
                <a:cs typeface="Inter Light" pitchFamily="34" charset="-120"/>
              </a:rPr>
              <a:t>•</a:t>
            </a:r>
            <a:endParaRPr lang="en-US" sz="950" dirty="0"/>
          </a:p>
        </p:txBody>
      </p:sp>
      <p:sp>
        <p:nvSpPr>
          <p:cNvPr id="23" name="Text 20"/>
          <p:cNvSpPr/>
          <p:nvPr/>
        </p:nvSpPr>
        <p:spPr>
          <a:xfrm>
            <a:off x="6048356" y="3736851"/>
            <a:ext cx="7143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E8E8E8">
                    <a:alpha val="50000"/>
                  </a:srgbClr>
                </a:solidFill>
                <a:latin typeface="Inter Light" pitchFamily="34" charset="0"/>
                <a:ea typeface="Inter Light" pitchFamily="34" charset="-122"/>
                <a:cs typeface="Inter Light" pitchFamily="34" charset="-120"/>
              </a:rPr>
              <a: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93506"/>
          </a:xfrm>
          <a:prstGeom prst="rect">
            <a:avLst/>
          </a:prstGeom>
        </p:spPr>
      </p:pic>
      <p:sp>
        <p:nvSpPr>
          <p:cNvPr id="3" name="Text 0"/>
          <p:cNvSpPr/>
          <p:nvPr/>
        </p:nvSpPr>
        <p:spPr>
          <a:xfrm>
            <a:off x="714375" y="571500"/>
            <a:ext cx="7715250" cy="964406"/>
          </a:xfrm>
          <a:prstGeom prst="rect">
            <a:avLst/>
          </a:prstGeom>
          <a:noFill/>
          <a:ln/>
        </p:spPr>
        <p:txBody>
          <a:bodyPr wrap="square" lIns="0" tIns="0" rIns="0" bIns="0" rtlCol="0" anchor="t">
            <a:spAutoFit/>
          </a:bodyPr>
          <a:lstStyle/>
          <a:p>
            <a:pPr algn="l" indent="0" marL="0">
              <a:buNone/>
            </a:pPr>
            <a:r>
              <a:rPr lang="en-US" sz="3050" dirty="0">
                <a:solidFill>
                  <a:srgbClr val="C9A84C"/>
                </a:solidFill>
                <a:latin typeface="Cormorant Garamond" pitchFamily="34" charset="0"/>
                <a:ea typeface="Cormorant Garamond" pitchFamily="34" charset="-122"/>
                <a:cs typeface="Cormorant Garamond" pitchFamily="34" charset="-120"/>
              </a:rPr>
              <a:t>The merger adds two routes, not a second platform.</a:t>
            </a:r>
            <a:endParaRPr lang="en-US" sz="3050" dirty="0"/>
          </a:p>
        </p:txBody>
      </p:sp>
      <p:sp>
        <p:nvSpPr>
          <p:cNvPr id="4" name="Shape 1"/>
          <p:cNvSpPr/>
          <p:nvPr/>
        </p:nvSpPr>
        <p:spPr>
          <a:xfrm>
            <a:off x="714375" y="1964531"/>
            <a:ext cx="7715250" cy="1171575"/>
          </a:xfrm>
          <a:prstGeom prst="rect">
            <a:avLst/>
          </a:prstGeom>
          <a:solidFill>
            <a:srgbClr val="000000">
              <a:alpha val="0"/>
            </a:srgbClr>
          </a:solidFill>
          <a:ln/>
        </p:spPr>
      </p:sp>
      <p:sp>
        <p:nvSpPr>
          <p:cNvPr id="5" name="Shape 2"/>
          <p:cNvSpPr/>
          <p:nvPr/>
        </p:nvSpPr>
        <p:spPr>
          <a:xfrm>
            <a:off x="714375" y="1964531"/>
            <a:ext cx="28575" cy="1171575"/>
          </a:xfrm>
          <a:prstGeom prst="rect">
            <a:avLst/>
          </a:prstGeom>
          <a:solidFill>
            <a:srgbClr val="C9A84C"/>
          </a:solidFill>
          <a:ln/>
        </p:spPr>
      </p:sp>
      <p:sp>
        <p:nvSpPr>
          <p:cNvPr id="6" name="Text 3"/>
          <p:cNvSpPr/>
          <p:nvPr/>
        </p:nvSpPr>
        <p:spPr>
          <a:xfrm>
            <a:off x="928688" y="1964531"/>
            <a:ext cx="1428750" cy="1171575"/>
          </a:xfrm>
          <a:prstGeom prst="rect">
            <a:avLst/>
          </a:prstGeom>
          <a:noFill/>
          <a:ln/>
        </p:spPr>
        <p:txBody>
          <a:bodyPr wrap="square" lIns="0" tIns="85090" rIns="0" bIns="0" rtlCol="0" anchor="t">
            <a:spAutoFit/>
          </a:bodyPr>
          <a:lstStyle/>
          <a:p>
            <a:pPr algn="l" indent="0" marL="0">
              <a:buNone/>
            </a:pPr>
            <a:r>
              <a:rPr lang="en-US" sz="1600" b="1" dirty="0">
                <a:solidFill>
                  <a:srgbClr val="C9A84C"/>
                </a:solidFill>
                <a:latin typeface="Cormorant Garamond SemiBold" pitchFamily="34" charset="0"/>
                <a:ea typeface="Cormorant Garamond SemiBold" pitchFamily="34" charset="-122"/>
                <a:cs typeface="Cormorant Garamond SemiBold" pitchFamily="34" charset="-120"/>
              </a:rPr>
              <a:t>Consumer</a:t>
            </a:r>
            <a:endParaRPr lang="en-US" sz="1600" dirty="0"/>
          </a:p>
        </p:txBody>
      </p:sp>
      <p:sp>
        <p:nvSpPr>
          <p:cNvPr id="7" name="Shape 4"/>
          <p:cNvSpPr/>
          <p:nvPr/>
        </p:nvSpPr>
        <p:spPr>
          <a:xfrm>
            <a:off x="2357438" y="1964531"/>
            <a:ext cx="2893219" cy="1171575"/>
          </a:xfrm>
          <a:prstGeom prst="rect">
            <a:avLst/>
          </a:prstGeom>
          <a:solidFill>
            <a:srgbClr val="FFFFFF">
              <a:alpha val="3000"/>
            </a:srgbClr>
          </a:solidFill>
          <a:ln w="9144">
            <a:solidFill>
              <a:srgbClr val="FFFFFF">
                <a:alpha val="10000"/>
              </a:srgbClr>
            </a:solidFill>
            <a:prstDash val="solid"/>
          </a:ln>
        </p:spPr>
      </p:sp>
      <p:sp>
        <p:nvSpPr>
          <p:cNvPr id="8" name="Text 5"/>
          <p:cNvSpPr/>
          <p:nvPr/>
        </p:nvSpPr>
        <p:spPr>
          <a:xfrm>
            <a:off x="2528888" y="2135981"/>
            <a:ext cx="2543175" cy="150019"/>
          </a:xfrm>
          <a:prstGeom prst="rect">
            <a:avLst/>
          </a:prstGeom>
          <a:noFill/>
          <a:ln/>
        </p:spPr>
        <p:txBody>
          <a:bodyPr wrap="square" lIns="0" tIns="0" rIns="0" bIns="0" rtlCol="0" anchor="t">
            <a:spAutoFit/>
          </a:bodyPr>
          <a:lstStyle/>
          <a:p>
            <a:pPr algn="l" indent="0" marL="0">
              <a:buNone/>
            </a:pPr>
            <a:r>
              <a:rPr lang="en-US" sz="850" dirty="0">
                <a:solidFill>
                  <a:srgbClr val="A8A8A8"/>
                </a:solidFill>
                <a:latin typeface="DM Mono" pitchFamily="34" charset="0"/>
                <a:ea typeface="DM Mono" pitchFamily="34" charset="-122"/>
                <a:cs typeface="DM Mono" pitchFamily="34" charset="-120"/>
              </a:rPr>
              <a:t>/moodoor</a:t>
            </a:r>
            <a:endParaRPr lang="en-US" sz="850" dirty="0"/>
          </a:p>
        </p:txBody>
      </p:sp>
      <p:sp>
        <p:nvSpPr>
          <p:cNvPr id="9" name="Text 6"/>
          <p:cNvSpPr/>
          <p:nvPr/>
        </p:nvSpPr>
        <p:spPr>
          <a:xfrm>
            <a:off x="2528888" y="2371725"/>
            <a:ext cx="2543175"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D0D0D0"/>
                </a:solidFill>
                <a:latin typeface="Inter Light" pitchFamily="34" charset="0"/>
                <a:ea typeface="Inter Light" pitchFamily="34" charset="-122"/>
                <a:cs typeface="Inter Light" pitchFamily="34" charset="-120"/>
              </a:rPr>
              <a:t>Remains the public editorial landing page; calls to action now lead directly into the finder.</a:t>
            </a:r>
            <a:endParaRPr lang="en-US" sz="950" dirty="0"/>
          </a:p>
        </p:txBody>
      </p:sp>
      <p:sp>
        <p:nvSpPr>
          <p:cNvPr id="10" name="Shape 7"/>
          <p:cNvSpPr/>
          <p:nvPr/>
        </p:nvSpPr>
        <p:spPr>
          <a:xfrm>
            <a:off x="5529263" y="1964531"/>
            <a:ext cx="2900363" cy="1157288"/>
          </a:xfrm>
          <a:prstGeom prst="rect">
            <a:avLst/>
          </a:prstGeom>
          <a:solidFill>
            <a:srgbClr val="FFFFFF">
              <a:alpha val="3000"/>
            </a:srgbClr>
          </a:solidFill>
          <a:ln w="9144">
            <a:solidFill>
              <a:srgbClr val="FFFFFF">
                <a:alpha val="10000"/>
              </a:srgbClr>
            </a:solidFill>
            <a:prstDash val="solid"/>
          </a:ln>
        </p:spPr>
      </p:sp>
      <p:sp>
        <p:nvSpPr>
          <p:cNvPr id="11" name="Text 8"/>
          <p:cNvSpPr/>
          <p:nvPr/>
        </p:nvSpPr>
        <p:spPr>
          <a:xfrm>
            <a:off x="5707856" y="2135981"/>
            <a:ext cx="2550319" cy="150019"/>
          </a:xfrm>
          <a:prstGeom prst="rect">
            <a:avLst/>
          </a:prstGeom>
          <a:noFill/>
          <a:ln/>
        </p:spPr>
        <p:txBody>
          <a:bodyPr wrap="square" lIns="0" tIns="0" rIns="0" bIns="0" rtlCol="0" anchor="t">
            <a:spAutoFit/>
          </a:bodyPr>
          <a:lstStyle/>
          <a:p>
            <a:pPr algn="l" indent="0" marL="0">
              <a:buNone/>
            </a:pPr>
            <a:r>
              <a:rPr lang="en-US" sz="850" dirty="0">
                <a:solidFill>
                  <a:srgbClr val="A8A8A8"/>
                </a:solidFill>
                <a:latin typeface="DM Mono" pitchFamily="34" charset="0"/>
                <a:ea typeface="DM Mono" pitchFamily="34" charset="-122"/>
                <a:cs typeface="DM Mono" pitchFamily="34" charset="-120"/>
              </a:rPr>
              <a:t>/moodoor/find</a:t>
            </a:r>
            <a:endParaRPr lang="en-US" sz="850" dirty="0"/>
          </a:p>
        </p:txBody>
      </p:sp>
      <p:sp>
        <p:nvSpPr>
          <p:cNvPr id="12" name="Text 9"/>
          <p:cNvSpPr/>
          <p:nvPr/>
        </p:nvSpPr>
        <p:spPr>
          <a:xfrm>
            <a:off x="5707856" y="2371725"/>
            <a:ext cx="2550319"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D0D0D0"/>
                </a:solidFill>
                <a:latin typeface="Inter Light" pitchFamily="34" charset="0"/>
                <a:ea typeface="Inter Light" pitchFamily="34" charset="-122"/>
                <a:cs typeface="Inter Light" pitchFamily="34" charset="-120"/>
              </a:rPr>
              <a:t>A public three-step flow: Feeling → Season → Door → Curated edit.</a:t>
            </a:r>
            <a:endParaRPr lang="en-US" sz="950" dirty="0"/>
          </a:p>
        </p:txBody>
      </p:sp>
      <p:sp>
        <p:nvSpPr>
          <p:cNvPr id="13" name="Shape 10"/>
          <p:cNvSpPr/>
          <p:nvPr/>
        </p:nvSpPr>
        <p:spPr>
          <a:xfrm>
            <a:off x="714375" y="3407569"/>
            <a:ext cx="7715250" cy="785813"/>
          </a:xfrm>
          <a:prstGeom prst="rect">
            <a:avLst/>
          </a:prstGeom>
          <a:solidFill>
            <a:srgbClr val="000000">
              <a:alpha val="0"/>
            </a:srgbClr>
          </a:solidFill>
          <a:ln/>
        </p:spPr>
      </p:sp>
      <p:sp>
        <p:nvSpPr>
          <p:cNvPr id="14" name="Shape 11"/>
          <p:cNvSpPr/>
          <p:nvPr/>
        </p:nvSpPr>
        <p:spPr>
          <a:xfrm>
            <a:off x="714375" y="3407569"/>
            <a:ext cx="28575" cy="785813"/>
          </a:xfrm>
          <a:prstGeom prst="rect">
            <a:avLst/>
          </a:prstGeom>
          <a:solidFill>
            <a:srgbClr val="4A6741"/>
          </a:solidFill>
          <a:ln/>
        </p:spPr>
      </p:sp>
      <p:sp>
        <p:nvSpPr>
          <p:cNvPr id="15" name="Text 12"/>
          <p:cNvSpPr/>
          <p:nvPr/>
        </p:nvSpPr>
        <p:spPr>
          <a:xfrm>
            <a:off x="928688" y="3407569"/>
            <a:ext cx="1428750" cy="785813"/>
          </a:xfrm>
          <a:prstGeom prst="rect">
            <a:avLst/>
          </a:prstGeom>
          <a:noFill/>
          <a:ln/>
        </p:spPr>
        <p:txBody>
          <a:bodyPr wrap="square" lIns="0" tIns="85090" rIns="0" bIns="0" rtlCol="0" anchor="t">
            <a:spAutoFit/>
          </a:bodyPr>
          <a:lstStyle/>
          <a:p>
            <a:pPr algn="l" indent="0" marL="0">
              <a:buNone/>
            </a:pPr>
            <a:r>
              <a:rPr lang="en-US" sz="1600" b="1" dirty="0">
                <a:solidFill>
                  <a:srgbClr val="4A6741"/>
                </a:solidFill>
                <a:latin typeface="Cormorant Garamond SemiBold" pitchFamily="34" charset="0"/>
                <a:ea typeface="Cormorant Garamond SemiBold" pitchFamily="34" charset="-122"/>
                <a:cs typeface="Cormorant Garamond SemiBold" pitchFamily="34" charset="-120"/>
              </a:rPr>
              <a:t>Maker</a:t>
            </a:r>
            <a:endParaRPr lang="en-US" sz="1600" dirty="0"/>
          </a:p>
        </p:txBody>
      </p:sp>
      <p:sp>
        <p:nvSpPr>
          <p:cNvPr id="16" name="Shape 13"/>
          <p:cNvSpPr/>
          <p:nvPr/>
        </p:nvSpPr>
        <p:spPr>
          <a:xfrm>
            <a:off x="2357438" y="3407569"/>
            <a:ext cx="6072188" cy="785813"/>
          </a:xfrm>
          <a:prstGeom prst="rect">
            <a:avLst/>
          </a:prstGeom>
          <a:solidFill>
            <a:srgbClr val="FFFFFF">
              <a:alpha val="3000"/>
            </a:srgbClr>
          </a:solidFill>
          <a:ln w="9144">
            <a:solidFill>
              <a:srgbClr val="FFFFFF">
                <a:alpha val="10000"/>
              </a:srgbClr>
            </a:solidFill>
            <a:prstDash val="solid"/>
          </a:ln>
        </p:spPr>
      </p:sp>
      <p:sp>
        <p:nvSpPr>
          <p:cNvPr id="17" name="Text 14"/>
          <p:cNvSpPr/>
          <p:nvPr/>
        </p:nvSpPr>
        <p:spPr>
          <a:xfrm>
            <a:off x="2528888" y="3579019"/>
            <a:ext cx="5729288" cy="150019"/>
          </a:xfrm>
          <a:prstGeom prst="rect">
            <a:avLst/>
          </a:prstGeom>
          <a:noFill/>
          <a:ln/>
        </p:spPr>
        <p:txBody>
          <a:bodyPr wrap="square" lIns="0" tIns="0" rIns="0" bIns="0" rtlCol="0" anchor="t">
            <a:spAutoFit/>
          </a:bodyPr>
          <a:lstStyle/>
          <a:p>
            <a:pPr algn="l" indent="0" marL="0">
              <a:buNone/>
            </a:pPr>
            <a:r>
              <a:rPr lang="en-US" sz="850" dirty="0">
                <a:solidFill>
                  <a:srgbClr val="A8A8A8"/>
                </a:solidFill>
                <a:latin typeface="DM Mono" pitchFamily="34" charset="0"/>
                <a:ea typeface="DM Mono" pitchFamily="34" charset="-122"/>
                <a:cs typeface="DM Mono" pitchFamily="34" charset="-120"/>
              </a:rPr>
              <a:t>/app/moodoor-studio</a:t>
            </a:r>
            <a:endParaRPr lang="en-US" sz="850" dirty="0"/>
          </a:p>
        </p:txBody>
      </p:sp>
      <p:sp>
        <p:nvSpPr>
          <p:cNvPr id="18" name="Text 15"/>
          <p:cNvSpPr/>
          <p:nvPr/>
        </p:nvSpPr>
        <p:spPr>
          <a:xfrm>
            <a:off x="2528888" y="3814763"/>
            <a:ext cx="5729288" cy="192881"/>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D0D0D0"/>
                </a:solidFill>
                <a:latin typeface="Inter Light" pitchFamily="34" charset="0"/>
                <a:ea typeface="Inter Light" pitchFamily="34" charset="-122"/>
                <a:cs typeface="Inter Light" pitchFamily="34" charset="-120"/>
              </a:rPr>
              <a:t>A Studio-tier maker workspace to review, release, or remove eligible marketplace designs.</a:t>
            </a:r>
            <a:endParaRPr lang="en-US" sz="950" dirty="0"/>
          </a:p>
        </p:txBody>
      </p:sp>
      <p:sp>
        <p:nvSpPr>
          <p:cNvPr id="19" name="Shape 16"/>
          <p:cNvSpPr/>
          <p:nvPr/>
        </p:nvSpPr>
        <p:spPr>
          <a:xfrm>
            <a:off x="714375" y="4464844"/>
            <a:ext cx="7715250" cy="378619"/>
          </a:xfrm>
          <a:prstGeom prst="rect">
            <a:avLst/>
          </a:prstGeom>
          <a:solidFill>
            <a:srgbClr val="000000">
              <a:alpha val="0"/>
            </a:srgbClr>
          </a:solidFill>
          <a:ln/>
        </p:spPr>
      </p:sp>
      <p:sp>
        <p:nvSpPr>
          <p:cNvPr id="20" name="Shape 17"/>
          <p:cNvSpPr/>
          <p:nvPr/>
        </p:nvSpPr>
        <p:spPr>
          <a:xfrm>
            <a:off x="714375" y="4464844"/>
            <a:ext cx="7715250" cy="7144"/>
          </a:xfrm>
          <a:prstGeom prst="rect">
            <a:avLst/>
          </a:prstGeom>
          <a:solidFill>
            <a:srgbClr val="FFFFFF"/>
          </a:solidFill>
          <a:ln/>
        </p:spPr>
      </p:sp>
      <p:sp>
        <p:nvSpPr>
          <p:cNvPr id="21" name="Text 18"/>
          <p:cNvSpPr/>
          <p:nvPr/>
        </p:nvSpPr>
        <p:spPr>
          <a:xfrm>
            <a:off x="714375" y="4464844"/>
            <a:ext cx="7715250" cy="378619"/>
          </a:xfrm>
          <a:prstGeom prst="rect">
            <a:avLst/>
          </a:prstGeom>
          <a:noFill/>
          <a:ln/>
        </p:spPr>
        <p:txBody>
          <a:bodyPr wrap="square" lIns="0" tIns="255143" rIns="0" bIns="0" rtlCol="0" anchor="t">
            <a:spAutoFit/>
          </a:bodyPr>
          <a:lstStyle/>
          <a:p>
            <a:pPr algn="ctr" indent="0" marL="0">
              <a:buNone/>
            </a:pPr>
            <a:r>
              <a:rPr lang="en-US" sz="950" spc="1" kern="0" dirty="0">
                <a:solidFill>
                  <a:srgbClr val="787878"/>
                </a:solidFill>
                <a:latin typeface="Inter" pitchFamily="34" charset="0"/>
                <a:ea typeface="Inter" pitchFamily="34" charset="-122"/>
                <a:cs typeface="Inter" pitchFamily="34" charset="-120"/>
              </a:rPr>
              <a:t>BUILT ON EVERFRACTED'S EXISTING REACT ROUTER, FIREBASE, AUTHENTICATION, AND TIER GUARD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714375" y="571500"/>
            <a:ext cx="7715250" cy="482203"/>
          </a:xfrm>
          <a:prstGeom prst="rect">
            <a:avLst/>
          </a:prstGeom>
          <a:noFill/>
          <a:ln/>
        </p:spPr>
        <p:txBody>
          <a:bodyPr wrap="square" lIns="0" tIns="0" rIns="0" bIns="0" rtlCol="0" anchor="t">
            <a:spAutoFit/>
          </a:bodyPr>
          <a:lstStyle/>
          <a:p>
            <a:pPr algn="l" indent="0" marL="0">
              <a:buNone/>
            </a:pPr>
            <a:r>
              <a:rPr lang="en-US" sz="3050" dirty="0">
                <a:solidFill>
                  <a:srgbClr val="C9A84C"/>
                </a:solidFill>
                <a:latin typeface="Cormorant Garamond" pitchFamily="34" charset="0"/>
                <a:ea typeface="Cormorant Garamond" pitchFamily="34" charset="-122"/>
                <a:cs typeface="Cormorant Garamond" pitchFamily="34" charset="-120"/>
              </a:rPr>
              <a:t>Publication is an explicit quality gate.</a:t>
            </a:r>
            <a:endParaRPr lang="en-US" sz="3050" dirty="0"/>
          </a:p>
        </p:txBody>
      </p:sp>
      <p:sp>
        <p:nvSpPr>
          <p:cNvPr id="4" name="Shape 1"/>
          <p:cNvSpPr/>
          <p:nvPr/>
        </p:nvSpPr>
        <p:spPr>
          <a:xfrm>
            <a:off x="714375" y="1482328"/>
            <a:ext cx="1571625" cy="857250"/>
          </a:xfrm>
          <a:prstGeom prst="rect">
            <a:avLst/>
          </a:prstGeom>
          <a:solidFill>
            <a:srgbClr val="4A6741">
              <a:alpha val="5000"/>
            </a:srgbClr>
          </a:solidFill>
          <a:ln w="9144">
            <a:solidFill>
              <a:srgbClr val="4A6741"/>
            </a:solidFill>
            <a:prstDash val="solid"/>
          </a:ln>
        </p:spPr>
      </p:sp>
      <p:sp>
        <p:nvSpPr>
          <p:cNvPr id="5" name="Text 2"/>
          <p:cNvSpPr/>
          <p:nvPr/>
        </p:nvSpPr>
        <p:spPr>
          <a:xfrm>
            <a:off x="1078706" y="1615939"/>
            <a:ext cx="842963" cy="411435"/>
          </a:xfrm>
          <a:prstGeom prst="rect">
            <a:avLst/>
          </a:prstGeom>
          <a:noFill/>
          <a:ln/>
        </p:spPr>
        <p:txBody>
          <a:bodyPr wrap="square" lIns="0" tIns="0" rIns="0" bIns="0" rtlCol="0" anchor="t">
            <a:spAutoFit/>
          </a:bodyPr>
          <a:lstStyle/>
          <a:p>
            <a:pPr algn="ctr" indent="0" marL="0">
              <a:lnSpc>
                <a:spcPct val="96000"/>
              </a:lnSpc>
              <a:buNone/>
            </a:pPr>
            <a:r>
              <a:rPr lang="en-US" sz="1200" b="1" dirty="0">
                <a:solidFill>
                  <a:srgbClr val="F9F7F4"/>
                </a:solidFill>
                <a:latin typeface="Cormorant Garamond SemiBold" pitchFamily="34" charset="0"/>
                <a:ea typeface="Cormorant Garamond SemiBold" pitchFamily="34" charset="-122"/>
                <a:cs typeface="Cormorant Garamond SemiBold" pitchFamily="34" charset="-120"/>
              </a:rPr>
              <a:t>Marketplace</a:t>
            </a:r>
            <a:r>
              <a:rPr lang="en-US" sz="1200" b="1" dirty="0">
                <a:solidFill>
                  <a:srgbClr val="F9F7F4"/>
                </a:solidFill>
                <a:latin typeface="Cormorant Garamond SemiBold" pitchFamily="34" charset="0"/>
                <a:ea typeface="Cormorant Garamond SemiBold" pitchFamily="34" charset="-122"/>
                <a:cs typeface="Cormorant Garamond SemiBold" pitchFamily="34" charset="-120"/>
              </a:rPr>
              <a:t>
</a:t>
            </a:r>
            <a:r>
              <a:rPr lang="en-US" sz="1200" b="1" dirty="0">
                <a:solidFill>
                  <a:srgbClr val="F9F7F4"/>
                </a:solidFill>
                <a:latin typeface="Cormorant Garamond SemiBold" pitchFamily="34" charset="0"/>
                <a:ea typeface="Cormorant Garamond SemiBold" pitchFamily="34" charset="-122"/>
                <a:cs typeface="Cormorant Garamond SemiBold" pitchFamily="34" charset="-120"/>
              </a:rPr>
              <a:t>Published</a:t>
            </a:r>
            <a:endParaRPr lang="en-US" sz="1200" dirty="0"/>
          </a:p>
        </p:txBody>
      </p:sp>
      <p:sp>
        <p:nvSpPr>
          <p:cNvPr id="6" name="Text 3"/>
          <p:cNvSpPr/>
          <p:nvPr/>
        </p:nvSpPr>
        <p:spPr>
          <a:xfrm>
            <a:off x="1136917" y="2084524"/>
            <a:ext cx="726542" cy="121444"/>
          </a:xfrm>
          <a:prstGeom prst="rect">
            <a:avLst/>
          </a:prstGeom>
          <a:noFill/>
          <a:ln/>
        </p:spPr>
        <p:txBody>
          <a:bodyPr wrap="none" lIns="0" tIns="0" rIns="0" bIns="0" rtlCol="0" anchor="t">
            <a:spAutoFit/>
          </a:bodyPr>
          <a:lstStyle/>
          <a:p>
            <a:pPr algn="ctr" indent="0" marL="0">
              <a:buNone/>
            </a:pPr>
            <a:r>
              <a:rPr lang="en-US" sz="750" spc="1" kern="0" dirty="0">
                <a:solidFill>
                  <a:srgbClr val="A8A8A8"/>
                </a:solidFill>
                <a:latin typeface="Inter Light" pitchFamily="34" charset="0"/>
                <a:ea typeface="Inter Light" pitchFamily="34" charset="-122"/>
                <a:cs typeface="Inter Light" pitchFamily="34" charset="-120"/>
              </a:rPr>
              <a:t>BASE STATUS</a:t>
            </a:r>
            <a:endParaRPr lang="en-US" sz="750" dirty="0"/>
          </a:p>
        </p:txBody>
      </p:sp>
      <p:sp>
        <p:nvSpPr>
          <p:cNvPr id="7" name="Shape 4"/>
          <p:cNvSpPr/>
          <p:nvPr/>
        </p:nvSpPr>
        <p:spPr>
          <a:xfrm>
            <a:off x="2400300" y="1907381"/>
            <a:ext cx="247631" cy="7144"/>
          </a:xfrm>
          <a:prstGeom prst="rect">
            <a:avLst/>
          </a:prstGeom>
          <a:solidFill>
            <a:srgbClr val="4A4A4A"/>
          </a:solidFill>
          <a:ln/>
        </p:spPr>
      </p:sp>
      <p:sp>
        <p:nvSpPr>
          <p:cNvPr id="8" name="Shape 5"/>
          <p:cNvSpPr/>
          <p:nvPr/>
        </p:nvSpPr>
        <p:spPr>
          <a:xfrm>
            <a:off x="2762231" y="1482328"/>
            <a:ext cx="1571625" cy="857250"/>
          </a:xfrm>
          <a:prstGeom prst="rect">
            <a:avLst/>
          </a:prstGeom>
          <a:solidFill>
            <a:srgbClr val="C9A84C">
              <a:alpha val="8000"/>
            </a:srgbClr>
          </a:solidFill>
          <a:ln w="18288">
            <a:solidFill>
              <a:srgbClr val="C9A84C"/>
            </a:solidFill>
            <a:prstDash val="solid"/>
          </a:ln>
        </p:spPr>
      </p:sp>
      <p:sp>
        <p:nvSpPr>
          <p:cNvPr id="9" name="Text 6"/>
          <p:cNvSpPr/>
          <p:nvPr/>
        </p:nvSpPr>
        <p:spPr>
          <a:xfrm>
            <a:off x="3208716" y="1615939"/>
            <a:ext cx="678656" cy="411435"/>
          </a:xfrm>
          <a:prstGeom prst="rect">
            <a:avLst/>
          </a:prstGeom>
          <a:noFill/>
          <a:ln/>
        </p:spPr>
        <p:txBody>
          <a:bodyPr wrap="square" lIns="0" tIns="0" rIns="0" bIns="0" rtlCol="0" anchor="t">
            <a:spAutoFit/>
          </a:bodyPr>
          <a:lstStyle/>
          <a:p>
            <a:pPr algn="ctr" indent="0" marL="0">
              <a:lnSpc>
                <a:spcPct val="96000"/>
              </a:lnSpc>
              <a:buNone/>
            </a:pPr>
            <a:r>
              <a:rPr lang="en-US" sz="1200" b="1" dirty="0">
                <a:solidFill>
                  <a:srgbClr val="C9A84C"/>
                </a:solidFill>
                <a:latin typeface="Cormorant Garamond SemiBold" pitchFamily="34" charset="0"/>
                <a:ea typeface="Cormorant Garamond SemiBold" pitchFamily="34" charset="-122"/>
                <a:cs typeface="Cormorant Garamond SemiBold" pitchFamily="34" charset="-120"/>
              </a:rPr>
              <a:t>Quality</a:t>
            </a:r>
            <a:r>
              <a:rPr lang="en-US" sz="1200" b="1" dirty="0">
                <a:solidFill>
                  <a:srgbClr val="C9A84C"/>
                </a:solidFill>
                <a:latin typeface="Cormorant Garamond SemiBold" pitchFamily="34" charset="0"/>
                <a:ea typeface="Cormorant Garamond SemiBold" pitchFamily="34" charset="-122"/>
                <a:cs typeface="Cormorant Garamond SemiBold" pitchFamily="34" charset="-120"/>
              </a:rPr>
              <a:t>
</a:t>
            </a:r>
            <a:r>
              <a:rPr lang="en-US" sz="1200" b="1" dirty="0">
                <a:solidFill>
                  <a:srgbClr val="C9A84C"/>
                </a:solidFill>
                <a:latin typeface="Cormorant Garamond SemiBold" pitchFamily="34" charset="0"/>
                <a:ea typeface="Cormorant Garamond SemiBold" pitchFamily="34" charset="-122"/>
                <a:cs typeface="Cormorant Garamond SemiBold" pitchFamily="34" charset="-120"/>
              </a:rPr>
              <a:t>Approved</a:t>
            </a:r>
            <a:endParaRPr lang="en-US" sz="1200" dirty="0"/>
          </a:p>
        </p:txBody>
      </p:sp>
      <p:sp>
        <p:nvSpPr>
          <p:cNvPr id="10" name="Text 7"/>
          <p:cNvSpPr/>
          <p:nvPr/>
        </p:nvSpPr>
        <p:spPr>
          <a:xfrm>
            <a:off x="3192307" y="2084524"/>
            <a:ext cx="711417" cy="121444"/>
          </a:xfrm>
          <a:prstGeom prst="rect">
            <a:avLst/>
          </a:prstGeom>
          <a:noFill/>
          <a:ln/>
        </p:spPr>
        <p:txBody>
          <a:bodyPr wrap="none" lIns="0" tIns="0" rIns="0" bIns="0" rtlCol="0" anchor="t">
            <a:spAutoFit/>
          </a:bodyPr>
          <a:lstStyle/>
          <a:p>
            <a:pPr algn="ctr" indent="0" marL="0">
              <a:buNone/>
            </a:pPr>
            <a:r>
              <a:rPr lang="en-US" sz="750" spc="1" kern="0" dirty="0">
                <a:solidFill>
                  <a:srgbClr val="A8A8A8"/>
                </a:solidFill>
                <a:latin typeface="Inter Light" pitchFamily="34" charset="0"/>
                <a:ea typeface="Inter Light" pitchFamily="34" charset="-122"/>
                <a:cs typeface="Inter Light" pitchFamily="34" charset="-120"/>
              </a:rPr>
              <a:t>≥ 0.78 SCORE</a:t>
            </a:r>
            <a:endParaRPr lang="en-US" sz="750" dirty="0"/>
          </a:p>
        </p:txBody>
      </p:sp>
      <p:sp>
        <p:nvSpPr>
          <p:cNvPr id="11" name="Shape 8"/>
          <p:cNvSpPr/>
          <p:nvPr/>
        </p:nvSpPr>
        <p:spPr>
          <a:xfrm>
            <a:off x="4448156" y="1907381"/>
            <a:ext cx="247631" cy="7144"/>
          </a:xfrm>
          <a:prstGeom prst="rect">
            <a:avLst/>
          </a:prstGeom>
          <a:solidFill>
            <a:srgbClr val="4A4A4A"/>
          </a:solidFill>
          <a:ln/>
        </p:spPr>
      </p:sp>
      <p:sp>
        <p:nvSpPr>
          <p:cNvPr id="12" name="Shape 9"/>
          <p:cNvSpPr/>
          <p:nvPr/>
        </p:nvSpPr>
        <p:spPr>
          <a:xfrm>
            <a:off x="4810088" y="1482328"/>
            <a:ext cx="1571625" cy="857250"/>
          </a:xfrm>
          <a:prstGeom prst="rect">
            <a:avLst/>
          </a:prstGeom>
          <a:solidFill>
            <a:srgbClr val="4A6741">
              <a:alpha val="5000"/>
            </a:srgbClr>
          </a:solidFill>
          <a:ln w="9144">
            <a:solidFill>
              <a:srgbClr val="4A6741"/>
            </a:solidFill>
            <a:prstDash val="solid"/>
          </a:ln>
        </p:spPr>
      </p:sp>
      <p:sp>
        <p:nvSpPr>
          <p:cNvPr id="13" name="Text 10"/>
          <p:cNvSpPr/>
          <p:nvPr/>
        </p:nvSpPr>
        <p:spPr>
          <a:xfrm>
            <a:off x="5315508" y="1615939"/>
            <a:ext cx="560784" cy="411435"/>
          </a:xfrm>
          <a:prstGeom prst="rect">
            <a:avLst/>
          </a:prstGeom>
          <a:noFill/>
          <a:ln/>
        </p:spPr>
        <p:txBody>
          <a:bodyPr wrap="square" lIns="0" tIns="0" rIns="0" bIns="0" rtlCol="0" anchor="t">
            <a:spAutoFit/>
          </a:bodyPr>
          <a:lstStyle/>
          <a:p>
            <a:pPr algn="ctr" indent="0" marL="0">
              <a:lnSpc>
                <a:spcPct val="96000"/>
              </a:lnSpc>
              <a:buNone/>
            </a:pPr>
            <a:r>
              <a:rPr lang="en-US" sz="1200" b="1" dirty="0">
                <a:solidFill>
                  <a:srgbClr val="F9F7F4"/>
                </a:solidFill>
                <a:latin typeface="Cormorant Garamond SemiBold" pitchFamily="34" charset="0"/>
                <a:ea typeface="Cormorant Garamond SemiBold" pitchFamily="34" charset="-122"/>
                <a:cs typeface="Cormorant Garamond SemiBold" pitchFamily="34" charset="-120"/>
              </a:rPr>
              <a:t>Maker</a:t>
            </a:r>
            <a:r>
              <a:rPr lang="en-US" sz="1200" b="1" dirty="0">
                <a:solidFill>
                  <a:srgbClr val="F9F7F4"/>
                </a:solidFill>
                <a:latin typeface="Cormorant Garamond SemiBold" pitchFamily="34" charset="0"/>
                <a:ea typeface="Cormorant Garamond SemiBold" pitchFamily="34" charset="-122"/>
                <a:cs typeface="Cormorant Garamond SemiBold" pitchFamily="34" charset="-120"/>
              </a:rPr>
              <a:t>
</a:t>
            </a:r>
            <a:r>
              <a:rPr lang="en-US" sz="1200" b="1" dirty="0">
                <a:solidFill>
                  <a:srgbClr val="F9F7F4"/>
                </a:solidFill>
                <a:latin typeface="Cormorant Garamond SemiBold" pitchFamily="34" charset="0"/>
                <a:ea typeface="Cormorant Garamond SemiBold" pitchFamily="34" charset="-122"/>
                <a:cs typeface="Cormorant Garamond SemiBold" pitchFamily="34" charset="-120"/>
              </a:rPr>
              <a:t>Releases</a:t>
            </a:r>
            <a:endParaRPr lang="en-US" sz="1200" dirty="0"/>
          </a:p>
        </p:txBody>
      </p:sp>
      <p:sp>
        <p:nvSpPr>
          <p:cNvPr id="14" name="Text 11"/>
          <p:cNvSpPr/>
          <p:nvPr/>
        </p:nvSpPr>
        <p:spPr>
          <a:xfrm>
            <a:off x="5226211" y="2084524"/>
            <a:ext cx="739378" cy="121444"/>
          </a:xfrm>
          <a:prstGeom prst="rect">
            <a:avLst/>
          </a:prstGeom>
          <a:noFill/>
          <a:ln/>
        </p:spPr>
        <p:txBody>
          <a:bodyPr wrap="none" lIns="0" tIns="0" rIns="0" bIns="0" rtlCol="0" anchor="t">
            <a:spAutoFit/>
          </a:bodyPr>
          <a:lstStyle/>
          <a:p>
            <a:pPr algn="ctr" indent="0" marL="0">
              <a:buNone/>
            </a:pPr>
            <a:r>
              <a:rPr lang="en-US" sz="750" spc="1" kern="0" dirty="0">
                <a:solidFill>
                  <a:srgbClr val="A8A8A8"/>
                </a:solidFill>
                <a:latin typeface="Inter Light" pitchFamily="34" charset="0"/>
                <a:ea typeface="Inter Light" pitchFamily="34" charset="-122"/>
                <a:cs typeface="Inter Light" pitchFamily="34" charset="-120"/>
              </a:rPr>
              <a:t>TO MOODOOR</a:t>
            </a:r>
            <a:endParaRPr lang="en-US" sz="750" dirty="0"/>
          </a:p>
        </p:txBody>
      </p:sp>
      <p:sp>
        <p:nvSpPr>
          <p:cNvPr id="15" name="Shape 12"/>
          <p:cNvSpPr/>
          <p:nvPr/>
        </p:nvSpPr>
        <p:spPr>
          <a:xfrm>
            <a:off x="6496013" y="1907381"/>
            <a:ext cx="247631" cy="7144"/>
          </a:xfrm>
          <a:prstGeom prst="rect">
            <a:avLst/>
          </a:prstGeom>
          <a:solidFill>
            <a:srgbClr val="4A4A4A"/>
          </a:solidFill>
          <a:ln/>
        </p:spPr>
      </p:sp>
      <p:sp>
        <p:nvSpPr>
          <p:cNvPr id="16" name="Shape 13"/>
          <p:cNvSpPr/>
          <p:nvPr/>
        </p:nvSpPr>
        <p:spPr>
          <a:xfrm>
            <a:off x="6857944" y="1482328"/>
            <a:ext cx="1571625" cy="857250"/>
          </a:xfrm>
          <a:prstGeom prst="rect">
            <a:avLst/>
          </a:prstGeom>
          <a:solidFill>
            <a:srgbClr val="4A6741">
              <a:alpha val="5000"/>
            </a:srgbClr>
          </a:solidFill>
          <a:ln w="9144">
            <a:solidFill>
              <a:srgbClr val="4A6741"/>
            </a:solidFill>
            <a:prstDash val="solid"/>
          </a:ln>
        </p:spPr>
      </p:sp>
      <p:sp>
        <p:nvSpPr>
          <p:cNvPr id="17" name="Text 14"/>
          <p:cNvSpPr/>
          <p:nvPr/>
        </p:nvSpPr>
        <p:spPr>
          <a:xfrm>
            <a:off x="7293713" y="1615939"/>
            <a:ext cx="700088" cy="411435"/>
          </a:xfrm>
          <a:prstGeom prst="rect">
            <a:avLst/>
          </a:prstGeom>
          <a:noFill/>
          <a:ln/>
        </p:spPr>
        <p:txBody>
          <a:bodyPr wrap="square" lIns="0" tIns="0" rIns="0" bIns="0" rtlCol="0" anchor="t">
            <a:spAutoFit/>
          </a:bodyPr>
          <a:lstStyle/>
          <a:p>
            <a:pPr algn="ctr" indent="0" marL="0">
              <a:lnSpc>
                <a:spcPct val="96000"/>
              </a:lnSpc>
              <a:buNone/>
            </a:pPr>
            <a:r>
              <a:rPr lang="en-US" sz="1200" b="1" dirty="0">
                <a:solidFill>
                  <a:srgbClr val="F9F7F4"/>
                </a:solidFill>
                <a:latin typeface="Cormorant Garamond SemiBold" pitchFamily="34" charset="0"/>
                <a:ea typeface="Cormorant Garamond SemiBold" pitchFamily="34" charset="-122"/>
                <a:cs typeface="Cormorant Garamond SemiBold" pitchFamily="34" charset="-120"/>
              </a:rPr>
              <a:t>Consumer</a:t>
            </a:r>
            <a:r>
              <a:rPr lang="en-US" sz="1200" b="1" dirty="0">
                <a:solidFill>
                  <a:srgbClr val="F9F7F4"/>
                </a:solidFill>
                <a:latin typeface="Cormorant Garamond SemiBold" pitchFamily="34" charset="0"/>
                <a:ea typeface="Cormorant Garamond SemiBold" pitchFamily="34" charset="-122"/>
                <a:cs typeface="Cormorant Garamond SemiBold" pitchFamily="34" charset="-120"/>
              </a:rPr>
              <a:t>
</a:t>
            </a:r>
            <a:r>
              <a:rPr lang="en-US" sz="1200" b="1" dirty="0">
                <a:solidFill>
                  <a:srgbClr val="F9F7F4"/>
                </a:solidFill>
                <a:latin typeface="Cormorant Garamond SemiBold" pitchFamily="34" charset="0"/>
                <a:ea typeface="Cormorant Garamond SemiBold" pitchFamily="34" charset="-122"/>
                <a:cs typeface="Cormorant Garamond SemiBold" pitchFamily="34" charset="-120"/>
              </a:rPr>
              <a:t>Visible</a:t>
            </a:r>
            <a:endParaRPr lang="en-US" sz="1200" dirty="0"/>
          </a:p>
        </p:txBody>
      </p:sp>
      <p:sp>
        <p:nvSpPr>
          <p:cNvPr id="18" name="Text 15"/>
          <p:cNvSpPr/>
          <p:nvPr/>
        </p:nvSpPr>
        <p:spPr>
          <a:xfrm>
            <a:off x="7390823" y="2084524"/>
            <a:ext cx="505811" cy="121444"/>
          </a:xfrm>
          <a:prstGeom prst="rect">
            <a:avLst/>
          </a:prstGeom>
          <a:noFill/>
          <a:ln/>
        </p:spPr>
        <p:txBody>
          <a:bodyPr wrap="none" lIns="0" tIns="0" rIns="0" bIns="0" rtlCol="0" anchor="t">
            <a:spAutoFit/>
          </a:bodyPr>
          <a:lstStyle/>
          <a:p>
            <a:pPr algn="ctr" indent="0" marL="0">
              <a:buNone/>
            </a:pPr>
            <a:r>
              <a:rPr lang="en-US" sz="750" spc="1" kern="0" dirty="0">
                <a:solidFill>
                  <a:srgbClr val="A8A8A8"/>
                </a:solidFill>
                <a:latin typeface="Inter Light" pitchFamily="34" charset="0"/>
                <a:ea typeface="Inter Light" pitchFamily="34" charset="-122"/>
                <a:cs typeface="Inter Light" pitchFamily="34" charset="-120"/>
              </a:rPr>
              <a:t>LIVE EDIT</a:t>
            </a:r>
            <a:endParaRPr lang="en-US" sz="750" dirty="0"/>
          </a:p>
        </p:txBody>
      </p:sp>
      <p:sp>
        <p:nvSpPr>
          <p:cNvPr id="19" name="Text 16"/>
          <p:cNvSpPr/>
          <p:nvPr/>
        </p:nvSpPr>
        <p:spPr>
          <a:xfrm>
            <a:off x="942975" y="2911078"/>
            <a:ext cx="3414713" cy="4572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A consumer listing must have a marketplace status </a:t>
            </a:r>
            <a:r>
              <a:rPr lang="en-US" sz="1050" dirty="0">
                <a:solidFill>
                  <a:srgbClr val="D0D0D0"/>
                </a:solidFill>
                <a:latin typeface="Inter Light" pitchFamily="34" charset="0"/>
                <a:ea typeface="Inter Light" pitchFamily="34" charset="-122"/>
                <a:cs typeface="Inter Light" pitchFamily="34" charset="-120"/>
              </a:rPr>
              <a:t>of </a:t>
            </a:r>
            <a:r>
              <a:rPr lang="en-US" sz="1050" dirty="0">
                <a:solidFill>
                  <a:srgbClr val="F9F7F4"/>
                </a:solidFill>
                <a:latin typeface="Inter" pitchFamily="34" charset="0"/>
                <a:ea typeface="Inter" pitchFamily="34" charset="-122"/>
                <a:cs typeface="Inter" pitchFamily="34" charset="-120"/>
              </a:rPr>
              <a:t>published</a:t>
            </a:r>
            <a:r>
              <a:rPr lang="en-US" sz="1050" dirty="0">
                <a:solidFill>
                  <a:srgbClr val="D0D0D0"/>
                </a:solidFill>
                <a:latin typeface="Inter Light" pitchFamily="34" charset="0"/>
                <a:ea typeface="Inter Light" pitchFamily="34" charset="-122"/>
                <a:cs typeface="Inter Light" pitchFamily="34" charset="-120"/>
              </a:rPr>
              <a:t>.</a:t>
            </a:r>
            <a:endParaRPr lang="en-US" sz="1050" dirty="0"/>
          </a:p>
        </p:txBody>
      </p:sp>
      <p:sp>
        <p:nvSpPr>
          <p:cNvPr id="20" name="Text 17"/>
          <p:cNvSpPr/>
          <p:nvPr/>
        </p:nvSpPr>
        <p:spPr>
          <a:xfrm>
            <a:off x="942975" y="3539728"/>
            <a:ext cx="3414713" cy="4572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It must be available and either explicitly approved </a:t>
            </a:r>
            <a:r>
              <a:rPr lang="en-US" sz="1050" dirty="0">
                <a:solidFill>
                  <a:srgbClr val="D0D0D0"/>
                </a:solidFill>
                <a:latin typeface="Inter Light" pitchFamily="34" charset="0"/>
                <a:ea typeface="Inter Light" pitchFamily="34" charset="-122"/>
                <a:cs typeface="Inter Light" pitchFamily="34" charset="-120"/>
              </a:rPr>
              <a:t>or meet the </a:t>
            </a:r>
            <a:r>
              <a:rPr lang="en-US" sz="1050" dirty="0">
                <a:solidFill>
                  <a:srgbClr val="F9F7F4"/>
                </a:solidFill>
                <a:latin typeface="Inter" pitchFamily="34" charset="0"/>
                <a:ea typeface="Inter" pitchFamily="34" charset="-122"/>
                <a:cs typeface="Inter" pitchFamily="34" charset="-120"/>
              </a:rPr>
              <a:t>0.78</a:t>
            </a:r>
            <a:r>
              <a:rPr lang="en-US" sz="1050" dirty="0">
                <a:solidFill>
                  <a:srgbClr val="D0D0D0"/>
                </a:solidFill>
                <a:latin typeface="Inter Light" pitchFamily="34" charset="0"/>
                <a:ea typeface="Inter Light" pitchFamily="34" charset="-122"/>
                <a:cs typeface="Inter Light" pitchFamily="34" charset="-120"/>
              </a:rPr>
              <a:t> quality threshold.</a:t>
            </a:r>
            <a:endParaRPr lang="en-US" sz="1050" dirty="0"/>
          </a:p>
        </p:txBody>
      </p:sp>
      <p:sp>
        <p:nvSpPr>
          <p:cNvPr id="21" name="Text 18"/>
          <p:cNvSpPr/>
          <p:nvPr/>
        </p:nvSpPr>
        <p:spPr>
          <a:xfrm>
            <a:off x="5014913" y="2936081"/>
            <a:ext cx="1946672" cy="175022"/>
          </a:xfrm>
          <a:prstGeom prst="rect">
            <a:avLst/>
          </a:prstGeom>
          <a:noFill/>
          <a:ln/>
        </p:spPr>
        <p:txBody>
          <a:bodyPr wrap="none" lIns="0"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It must be explicitly released:</a:t>
            </a:r>
            <a:endParaRPr lang="en-US" sz="1050" dirty="0"/>
          </a:p>
        </p:txBody>
      </p:sp>
      <p:sp>
        <p:nvSpPr>
          <p:cNvPr id="22" name="Shape 19"/>
          <p:cNvSpPr/>
          <p:nvPr/>
        </p:nvSpPr>
        <p:spPr>
          <a:xfrm>
            <a:off x="5014913" y="2932509"/>
            <a:ext cx="3403997" cy="425053"/>
          </a:xfrm>
          <a:prstGeom prst="rect">
            <a:avLst/>
          </a:prstGeom>
          <a:solidFill>
            <a:srgbClr val="FFFFFF">
              <a:alpha val="5000"/>
            </a:srgbClr>
          </a:solidFill>
          <a:ln/>
        </p:spPr>
      </p:sp>
      <p:sp>
        <p:nvSpPr>
          <p:cNvPr id="23" name="Text 20"/>
          <p:cNvSpPr/>
          <p:nvPr/>
        </p:nvSpPr>
        <p:spPr>
          <a:xfrm>
            <a:off x="5014913" y="2932509"/>
            <a:ext cx="3403997" cy="425053"/>
          </a:xfrm>
          <a:prstGeom prst="rect">
            <a:avLst/>
          </a:prstGeom>
          <a:noFill/>
          <a:ln/>
        </p:spPr>
        <p:txBody>
          <a:bodyPr wrap="square" lIns="51054" tIns="17018" rIns="51054" bIns="17018" rtlCol="0" anchor="t">
            <a:spAutoFit/>
          </a:bodyPr>
          <a:lstStyle/>
          <a:p>
            <a:pPr algn="l" indent="0" marL="0">
              <a:lnSpc>
                <a:spcPct val="128000"/>
              </a:lnSpc>
              <a:buNone/>
            </a:pPr>
            <a:r>
              <a:rPr lang="en-US" sz="950" dirty="0">
                <a:solidFill>
                  <a:srgbClr val="C9A84C"/>
                </a:solidFill>
                <a:latin typeface="DM Mono" pitchFamily="34" charset="0"/>
                <a:ea typeface="DM Mono" pitchFamily="34" charset="-122"/>
                <a:cs typeface="DM Mono" pitchFamily="34" charset="-120"/>
              </a:rPr>
              <a:t>moodoorPublished = true</a:t>
            </a:r>
            <a:endParaRPr lang="en-US" sz="950" dirty="0"/>
          </a:p>
        </p:txBody>
      </p:sp>
      <p:sp>
        <p:nvSpPr>
          <p:cNvPr id="24" name="Text 21"/>
          <p:cNvSpPr/>
          <p:nvPr/>
        </p:nvSpPr>
        <p:spPr>
          <a:xfrm>
            <a:off x="5372100" y="3164681"/>
            <a:ext cx="214313" cy="175022"/>
          </a:xfrm>
          <a:prstGeom prst="rect">
            <a:avLst/>
          </a:prstGeom>
          <a:noFill/>
          <a:ln/>
        </p:spPr>
        <p:txBody>
          <a:bodyPr wrap="none" lIns="0"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or</a:t>
            </a:r>
            <a:endParaRPr lang="en-US" sz="1050" dirty="0"/>
          </a:p>
        </p:txBody>
      </p:sp>
      <p:sp>
        <p:nvSpPr>
          <p:cNvPr id="25" name="Shape 22"/>
          <p:cNvSpPr/>
          <p:nvPr/>
        </p:nvSpPr>
        <p:spPr>
          <a:xfrm>
            <a:off x="5586413" y="3161109"/>
            <a:ext cx="2207419" cy="196453"/>
          </a:xfrm>
          <a:prstGeom prst="rect">
            <a:avLst/>
          </a:prstGeom>
          <a:solidFill>
            <a:srgbClr val="FFFFFF">
              <a:alpha val="5000"/>
            </a:srgbClr>
          </a:solidFill>
          <a:ln/>
        </p:spPr>
      </p:sp>
      <p:sp>
        <p:nvSpPr>
          <p:cNvPr id="26" name="Text 23"/>
          <p:cNvSpPr/>
          <p:nvPr/>
        </p:nvSpPr>
        <p:spPr>
          <a:xfrm>
            <a:off x="5586413" y="3161109"/>
            <a:ext cx="2207419" cy="196453"/>
          </a:xfrm>
          <a:prstGeom prst="rect">
            <a:avLst/>
          </a:prstGeom>
          <a:noFill/>
          <a:ln/>
        </p:spPr>
        <p:txBody>
          <a:bodyPr wrap="none" lIns="51054" tIns="17018" rIns="51054" bIns="17018" rtlCol="0" anchor="t">
            <a:spAutoFit/>
          </a:bodyPr>
          <a:lstStyle/>
          <a:p>
            <a:pPr algn="l" indent="0" marL="0">
              <a:lnSpc>
                <a:spcPct val="128000"/>
              </a:lnSpc>
              <a:buNone/>
            </a:pPr>
            <a:r>
              <a:rPr lang="en-US" sz="950" dirty="0">
                <a:solidFill>
                  <a:srgbClr val="C9A84C"/>
                </a:solidFill>
                <a:latin typeface="DM Mono" pitchFamily="34" charset="0"/>
                <a:ea typeface="DM Mono" pitchFamily="34" charset="-122"/>
                <a:cs typeface="DM Mono" pitchFamily="34" charset="-120"/>
              </a:rPr>
              <a:t>moodoorStatus = 'published'</a:t>
            </a:r>
            <a:endParaRPr lang="en-US" sz="950" dirty="0"/>
          </a:p>
        </p:txBody>
      </p:sp>
      <p:sp>
        <p:nvSpPr>
          <p:cNvPr id="27" name="Text 24"/>
          <p:cNvSpPr/>
          <p:nvPr/>
        </p:nvSpPr>
        <p:spPr>
          <a:xfrm>
            <a:off x="7793831" y="3164681"/>
            <a:ext cx="39291" cy="175022"/>
          </a:xfrm>
          <a:prstGeom prst="rect">
            <a:avLst/>
          </a:prstGeom>
          <a:noFill/>
          <a:ln/>
        </p:spPr>
        <p:txBody>
          <a:bodyPr wrap="none" lIns="0"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a:t>
            </a:r>
            <a:endParaRPr lang="en-US" sz="1050" dirty="0"/>
          </a:p>
        </p:txBody>
      </p:sp>
      <p:sp>
        <p:nvSpPr>
          <p:cNvPr id="28" name="Text 25"/>
          <p:cNvSpPr/>
          <p:nvPr/>
        </p:nvSpPr>
        <p:spPr>
          <a:xfrm>
            <a:off x="5014913" y="3539728"/>
            <a:ext cx="3414713" cy="4572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A maker may see eligible candidates in Studio before releasing them; consumers cannot.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714375" y="571500"/>
            <a:ext cx="7715250" cy="482203"/>
          </a:xfrm>
          <a:prstGeom prst="rect">
            <a:avLst/>
          </a:prstGeom>
          <a:noFill/>
          <a:ln/>
        </p:spPr>
        <p:txBody>
          <a:bodyPr wrap="square" lIns="0" tIns="0" rIns="0" bIns="0" rtlCol="0" anchor="t">
            <a:spAutoFit/>
          </a:bodyPr>
          <a:lstStyle/>
          <a:p>
            <a:pPr algn="l" indent="0" marL="0">
              <a:buNone/>
            </a:pPr>
            <a:r>
              <a:rPr lang="en-US" sz="3050" dirty="0">
                <a:solidFill>
                  <a:srgbClr val="C9A84C"/>
                </a:solidFill>
                <a:latin typeface="Cormorant Garamond" pitchFamily="34" charset="0"/>
                <a:ea typeface="Cormorant Garamond" pitchFamily="34" charset="-122"/>
                <a:cs typeface="Cormorant Garamond" pitchFamily="34" charset="-120"/>
              </a:rPr>
              <a:t>The public projection stays intentionally small.</a:t>
            </a:r>
            <a:endParaRPr lang="en-US" sz="3050" dirty="0"/>
          </a:p>
        </p:txBody>
      </p:sp>
      <p:sp>
        <p:nvSpPr>
          <p:cNvPr id="5" name="Shape 1"/>
          <p:cNvSpPr/>
          <p:nvPr/>
        </p:nvSpPr>
        <p:spPr>
          <a:xfrm>
            <a:off x="714375" y="1339453"/>
            <a:ext cx="3714750" cy="3146822"/>
          </a:xfrm>
          <a:prstGeom prst="rect">
            <a:avLst/>
          </a:prstGeom>
          <a:solidFill>
            <a:srgbClr val="4A6741">
              <a:alpha val="5000"/>
            </a:srgbClr>
          </a:solidFill>
          <a:ln/>
        </p:spPr>
      </p:sp>
      <p:sp>
        <p:nvSpPr>
          <p:cNvPr id="6" name="Shape 2"/>
          <p:cNvSpPr/>
          <p:nvPr/>
        </p:nvSpPr>
        <p:spPr>
          <a:xfrm>
            <a:off x="714375" y="1339453"/>
            <a:ext cx="3714750" cy="28575"/>
          </a:xfrm>
          <a:prstGeom prst="rect">
            <a:avLst/>
          </a:prstGeom>
          <a:solidFill>
            <a:srgbClr val="4A6741"/>
          </a:solidFill>
          <a:ln/>
        </p:spPr>
      </p:sp>
      <p:sp>
        <p:nvSpPr>
          <p:cNvPr id="7" name="Text 3"/>
          <p:cNvSpPr/>
          <p:nvPr/>
        </p:nvSpPr>
        <p:spPr>
          <a:xfrm>
            <a:off x="1000125" y="1568053"/>
            <a:ext cx="3143250" cy="275034"/>
          </a:xfrm>
          <a:prstGeom prst="rect">
            <a:avLst/>
          </a:prstGeom>
          <a:noFill/>
          <a:ln/>
        </p:spPr>
        <p:txBody>
          <a:bodyPr wrap="square" lIns="0" tIns="0" rIns="0" bIns="0" rtlCol="0" anchor="t">
            <a:spAutoFit/>
          </a:bodyPr>
          <a:lstStyle/>
          <a:p>
            <a:pPr algn="l" indent="0" marL="0">
              <a:buNone/>
            </a:pPr>
            <a:r>
              <a:rPr lang="en-US" sz="1600" b="1" dirty="0">
                <a:solidFill>
                  <a:srgbClr val="6B8F67"/>
                </a:solidFill>
                <a:latin typeface="Cormorant Garamond SemiBold" pitchFamily="34" charset="0"/>
                <a:ea typeface="Cormorant Garamond SemiBold" pitchFamily="34" charset="-122"/>
                <a:cs typeface="Cormorant Garamond SemiBold" pitchFamily="34" charset="-120"/>
              </a:rPr>
              <a:t>Moodoor can use</a:t>
            </a:r>
            <a:endParaRPr lang="en-US" sz="1600" dirty="0"/>
          </a:p>
        </p:txBody>
      </p:sp>
      <p:sp>
        <p:nvSpPr>
          <p:cNvPr id="8" name="Text 4"/>
          <p:cNvSpPr/>
          <p:nvPr/>
        </p:nvSpPr>
        <p:spPr>
          <a:xfrm>
            <a:off x="1000125" y="2071688"/>
            <a:ext cx="3143250" cy="192881"/>
          </a:xfrm>
          <a:prstGeom prst="rect">
            <a:avLst/>
          </a:prstGeom>
          <a:noFill/>
          <a:ln/>
        </p:spPr>
        <p:txBody>
          <a:bodyPr wrap="none" lIns="204089" tIns="0" rIns="0" bIns="0" rtlCol="0" anchor="t">
            <a:spAutoFit/>
          </a:bodyPr>
          <a:lstStyle/>
          <a:p>
            <a:pPr algn="l" indent="0" marL="0">
              <a:lnSpc>
                <a:spcPct val="120000"/>
              </a:lnSpc>
              <a:buNone/>
            </a:pPr>
            <a:r>
              <a:rPr lang="en-US" sz="950" dirty="0">
                <a:solidFill>
                  <a:srgbClr val="E8E8E8"/>
                </a:solidFill>
                <a:latin typeface="Inter Light" pitchFamily="34" charset="0"/>
                <a:ea typeface="Inter Light" pitchFamily="34" charset="-122"/>
                <a:cs typeface="Inter Light" pitchFamily="34" charset="-120"/>
              </a:rPr>
              <a:t>Title, summary, approved image, and price</a:t>
            </a:r>
            <a:endParaRPr lang="en-US" sz="950" dirty="0"/>
          </a:p>
        </p:txBody>
      </p:sp>
      <p:sp>
        <p:nvSpPr>
          <p:cNvPr id="9" name="Text 5"/>
          <p:cNvSpPr/>
          <p:nvPr/>
        </p:nvSpPr>
        <p:spPr>
          <a:xfrm>
            <a:off x="1000125" y="2436019"/>
            <a:ext cx="3143250" cy="192881"/>
          </a:xfrm>
          <a:prstGeom prst="rect">
            <a:avLst/>
          </a:prstGeom>
          <a:noFill/>
          <a:ln/>
        </p:spPr>
        <p:txBody>
          <a:bodyPr wrap="none" lIns="204089" tIns="0" rIns="0" bIns="0" rtlCol="0" anchor="t">
            <a:spAutoFit/>
          </a:bodyPr>
          <a:lstStyle/>
          <a:p>
            <a:pPr algn="l" indent="0" marL="0">
              <a:lnSpc>
                <a:spcPct val="120000"/>
              </a:lnSpc>
              <a:buNone/>
            </a:pPr>
            <a:r>
              <a:rPr lang="en-US" sz="950" dirty="0">
                <a:solidFill>
                  <a:srgbClr val="E8E8E8"/>
                </a:solidFill>
                <a:latin typeface="Inter Light" pitchFamily="34" charset="0"/>
                <a:ea typeface="Inter Light" pitchFamily="34" charset="-122"/>
                <a:cs typeface="Inter Light" pitchFamily="34" charset="-120"/>
              </a:rPr>
              <a:t>Availability label (e.g., "In stock", "Limited")</a:t>
            </a:r>
            <a:endParaRPr lang="en-US" sz="950" dirty="0"/>
          </a:p>
        </p:txBody>
      </p:sp>
      <p:sp>
        <p:nvSpPr>
          <p:cNvPr id="10" name="Text 6"/>
          <p:cNvSpPr/>
          <p:nvPr/>
        </p:nvSpPr>
        <p:spPr>
          <a:xfrm>
            <a:off x="1000125" y="2800350"/>
            <a:ext cx="3143250" cy="192881"/>
          </a:xfrm>
          <a:prstGeom prst="rect">
            <a:avLst/>
          </a:prstGeom>
          <a:noFill/>
          <a:ln/>
        </p:spPr>
        <p:txBody>
          <a:bodyPr wrap="none" lIns="204089" tIns="0" rIns="0" bIns="0" rtlCol="0" anchor="t">
            <a:spAutoFit/>
          </a:bodyPr>
          <a:lstStyle/>
          <a:p>
            <a:pPr algn="l" indent="0" marL="0">
              <a:lnSpc>
                <a:spcPct val="120000"/>
              </a:lnSpc>
              <a:buNone/>
            </a:pPr>
            <a:r>
              <a:rPr lang="en-US" sz="950" dirty="0">
                <a:solidFill>
                  <a:srgbClr val="E8E8E8"/>
                </a:solidFill>
                <a:latin typeface="Inter Light" pitchFamily="34" charset="0"/>
                <a:ea typeface="Inter Light" pitchFamily="34" charset="-122"/>
                <a:cs typeface="Inter Light" pitchFamily="34" charset="-120"/>
              </a:rPr>
              <a:t>Public mood, season, palette, and formula tags</a:t>
            </a:r>
            <a:endParaRPr lang="en-US" sz="950" dirty="0"/>
          </a:p>
        </p:txBody>
      </p:sp>
      <p:sp>
        <p:nvSpPr>
          <p:cNvPr id="11" name="Text 7"/>
          <p:cNvSpPr/>
          <p:nvPr/>
        </p:nvSpPr>
        <p:spPr>
          <a:xfrm>
            <a:off x="1000125" y="3164681"/>
            <a:ext cx="3143250" cy="192881"/>
          </a:xfrm>
          <a:prstGeom prst="rect">
            <a:avLst/>
          </a:prstGeom>
          <a:noFill/>
          <a:ln/>
        </p:spPr>
        <p:txBody>
          <a:bodyPr wrap="none" lIns="204089" tIns="0" rIns="0" bIns="0" rtlCol="0" anchor="t">
            <a:spAutoFit/>
          </a:bodyPr>
          <a:lstStyle/>
          <a:p>
            <a:pPr algn="l" indent="0" marL="0">
              <a:lnSpc>
                <a:spcPct val="120000"/>
              </a:lnSpc>
              <a:buNone/>
            </a:pPr>
            <a:r>
              <a:rPr lang="en-US" sz="950" dirty="0">
                <a:solidFill>
                  <a:srgbClr val="E8E8E8"/>
                </a:solidFill>
                <a:latin typeface="Inter Light" pitchFamily="34" charset="0"/>
                <a:ea typeface="Inter Light" pitchFamily="34" charset="-122"/>
                <a:cs typeface="Inter Light" pitchFamily="34" charset="-120"/>
              </a:rPr>
              <a:t>Short, customer-safe match explanation</a:t>
            </a:r>
            <a:endParaRPr lang="en-US" sz="950" dirty="0"/>
          </a:p>
        </p:txBody>
      </p:sp>
      <p:sp>
        <p:nvSpPr>
          <p:cNvPr id="12" name="Shape 8"/>
          <p:cNvSpPr/>
          <p:nvPr/>
        </p:nvSpPr>
        <p:spPr>
          <a:xfrm>
            <a:off x="4714875" y="1339453"/>
            <a:ext cx="3714750" cy="3146822"/>
          </a:xfrm>
          <a:prstGeom prst="rect">
            <a:avLst/>
          </a:prstGeom>
          <a:solidFill>
            <a:srgbClr val="FFFFFF">
              <a:alpha val="2000"/>
            </a:srgbClr>
          </a:solidFill>
          <a:ln/>
        </p:spPr>
      </p:sp>
      <p:sp>
        <p:nvSpPr>
          <p:cNvPr id="13" name="Shape 9"/>
          <p:cNvSpPr/>
          <p:nvPr/>
        </p:nvSpPr>
        <p:spPr>
          <a:xfrm>
            <a:off x="4714875" y="1339453"/>
            <a:ext cx="3714750" cy="28575"/>
          </a:xfrm>
          <a:prstGeom prst="rect">
            <a:avLst/>
          </a:prstGeom>
          <a:solidFill>
            <a:srgbClr val="2E2E2E"/>
          </a:solidFill>
          <a:ln/>
        </p:spPr>
      </p:sp>
      <p:sp>
        <p:nvSpPr>
          <p:cNvPr id="14" name="Text 10"/>
          <p:cNvSpPr/>
          <p:nvPr/>
        </p:nvSpPr>
        <p:spPr>
          <a:xfrm>
            <a:off x="1000125" y="2071688"/>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4A6741"/>
                </a:solidFill>
                <a:latin typeface="Inter SemiBold" pitchFamily="34" charset="0"/>
                <a:ea typeface="Inter SemiBold" pitchFamily="34" charset="-122"/>
                <a:cs typeface="Inter SemiBold" pitchFamily="34" charset="-120"/>
              </a:rPr>
              <a:t>✓</a:t>
            </a:r>
            <a:endParaRPr lang="en-US" sz="900" dirty="0"/>
          </a:p>
        </p:txBody>
      </p:sp>
      <p:sp>
        <p:nvSpPr>
          <p:cNvPr id="15" name="Text 11"/>
          <p:cNvSpPr/>
          <p:nvPr/>
        </p:nvSpPr>
        <p:spPr>
          <a:xfrm>
            <a:off x="1000125" y="2436019"/>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4A6741"/>
                </a:solidFill>
                <a:latin typeface="Inter SemiBold" pitchFamily="34" charset="0"/>
                <a:ea typeface="Inter SemiBold" pitchFamily="34" charset="-122"/>
                <a:cs typeface="Inter SemiBold" pitchFamily="34" charset="-120"/>
              </a:rPr>
              <a:t>✓</a:t>
            </a:r>
            <a:endParaRPr lang="en-US" sz="900" dirty="0"/>
          </a:p>
        </p:txBody>
      </p:sp>
      <p:sp>
        <p:nvSpPr>
          <p:cNvPr id="16" name="Text 12"/>
          <p:cNvSpPr/>
          <p:nvPr/>
        </p:nvSpPr>
        <p:spPr>
          <a:xfrm>
            <a:off x="1000125" y="2800350"/>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4A6741"/>
                </a:solidFill>
                <a:latin typeface="Inter SemiBold" pitchFamily="34" charset="0"/>
                <a:ea typeface="Inter SemiBold" pitchFamily="34" charset="-122"/>
                <a:cs typeface="Inter SemiBold" pitchFamily="34" charset="-120"/>
              </a:rPr>
              <a:t>✓</a:t>
            </a:r>
            <a:endParaRPr lang="en-US" sz="900" dirty="0"/>
          </a:p>
        </p:txBody>
      </p:sp>
      <p:sp>
        <p:nvSpPr>
          <p:cNvPr id="17" name="Text 13"/>
          <p:cNvSpPr/>
          <p:nvPr/>
        </p:nvSpPr>
        <p:spPr>
          <a:xfrm>
            <a:off x="1000125" y="3164681"/>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4A6741"/>
                </a:solidFill>
                <a:latin typeface="Inter SemiBold" pitchFamily="34" charset="0"/>
                <a:ea typeface="Inter SemiBold" pitchFamily="34" charset="-122"/>
                <a:cs typeface="Inter SemiBold" pitchFamily="34" charset="-120"/>
              </a:rPr>
              <a:t>✓</a:t>
            </a:r>
            <a:endParaRPr lang="en-US" sz="900" dirty="0"/>
          </a:p>
        </p:txBody>
      </p:sp>
      <p:sp>
        <p:nvSpPr>
          <p:cNvPr id="18" name="Text 14"/>
          <p:cNvSpPr/>
          <p:nvPr/>
        </p:nvSpPr>
        <p:spPr>
          <a:xfrm>
            <a:off x="5000625" y="1568053"/>
            <a:ext cx="3143250" cy="275034"/>
          </a:xfrm>
          <a:prstGeom prst="rect">
            <a:avLst/>
          </a:prstGeom>
          <a:noFill/>
          <a:ln/>
        </p:spPr>
        <p:txBody>
          <a:bodyPr wrap="square" lIns="0" tIns="0" rIns="0" bIns="0" rtlCol="0" anchor="t">
            <a:spAutoFit/>
          </a:bodyPr>
          <a:lstStyle/>
          <a:p>
            <a:pPr algn="l" indent="0" marL="0">
              <a:buNone/>
            </a:pPr>
            <a:r>
              <a:rPr lang="en-US" sz="1600" b="1" dirty="0">
                <a:solidFill>
                  <a:srgbClr val="A8A8A8"/>
                </a:solidFill>
                <a:latin typeface="Cormorant Garamond SemiBold" pitchFamily="34" charset="0"/>
                <a:ea typeface="Cormorant Garamond SemiBold" pitchFamily="34" charset="-122"/>
                <a:cs typeface="Cormorant Garamond SemiBold" pitchFamily="34" charset="-120"/>
              </a:rPr>
              <a:t>Moodoor never receives</a:t>
            </a:r>
            <a:endParaRPr lang="en-US" sz="1600" dirty="0"/>
          </a:p>
        </p:txBody>
      </p:sp>
      <p:sp>
        <p:nvSpPr>
          <p:cNvPr id="19" name="Text 15"/>
          <p:cNvSpPr/>
          <p:nvPr/>
        </p:nvSpPr>
        <p:spPr>
          <a:xfrm>
            <a:off x="5000625" y="2071688"/>
            <a:ext cx="3143250" cy="192881"/>
          </a:xfrm>
          <a:prstGeom prst="rect">
            <a:avLst/>
          </a:prstGeom>
          <a:noFill/>
          <a:ln/>
        </p:spPr>
        <p:txBody>
          <a:bodyPr wrap="none" lIns="204089" tIns="0" rIns="0" bIns="0" rtlCol="0" anchor="t">
            <a:spAutoFit/>
          </a:bodyPr>
          <a:lstStyle/>
          <a:p>
            <a:pPr algn="l" indent="0" marL="0">
              <a:lnSpc>
                <a:spcPct val="120000"/>
              </a:lnSpc>
              <a:buNone/>
            </a:pPr>
            <a:r>
              <a:rPr lang="en-US" sz="950" dirty="0">
                <a:solidFill>
                  <a:srgbClr val="E8E8E8"/>
                </a:solidFill>
                <a:latin typeface="Inter Light" pitchFamily="34" charset="0"/>
                <a:ea typeface="Inter Light" pitchFamily="34" charset="-122"/>
                <a:cs typeface="Inter Light" pitchFamily="34" charset="-120"/>
              </a:rPr>
              <a:t>Internal notes, supplier data, costs, and margins</a:t>
            </a:r>
            <a:endParaRPr lang="en-US" sz="950" dirty="0"/>
          </a:p>
        </p:txBody>
      </p:sp>
      <p:sp>
        <p:nvSpPr>
          <p:cNvPr id="20" name="Text 16"/>
          <p:cNvSpPr/>
          <p:nvPr/>
        </p:nvSpPr>
        <p:spPr>
          <a:xfrm>
            <a:off x="5000625" y="2436019"/>
            <a:ext cx="3143250" cy="192881"/>
          </a:xfrm>
          <a:prstGeom prst="rect">
            <a:avLst/>
          </a:prstGeom>
          <a:noFill/>
          <a:ln/>
        </p:spPr>
        <p:txBody>
          <a:bodyPr wrap="none" lIns="204089" tIns="0" rIns="0" bIns="0" rtlCol="0" anchor="t">
            <a:spAutoFit/>
          </a:bodyPr>
          <a:lstStyle/>
          <a:p>
            <a:pPr algn="l" indent="0" marL="0">
              <a:lnSpc>
                <a:spcPct val="120000"/>
              </a:lnSpc>
              <a:buNone/>
            </a:pPr>
            <a:r>
              <a:rPr lang="en-US" sz="950" dirty="0">
                <a:solidFill>
                  <a:srgbClr val="E8E8E8"/>
                </a:solidFill>
                <a:latin typeface="Inter Light" pitchFamily="34" charset="0"/>
                <a:ea typeface="Inter Light" pitchFamily="34" charset="-122"/>
                <a:cs typeface="Inter Light" pitchFamily="34" charset="-120"/>
              </a:rPr>
              <a:t>Raw inventory quantities</a:t>
            </a:r>
            <a:endParaRPr lang="en-US" sz="950" dirty="0"/>
          </a:p>
        </p:txBody>
      </p:sp>
      <p:sp>
        <p:nvSpPr>
          <p:cNvPr id="21" name="Text 17"/>
          <p:cNvSpPr/>
          <p:nvPr/>
        </p:nvSpPr>
        <p:spPr>
          <a:xfrm>
            <a:off x="5000625" y="2800350"/>
            <a:ext cx="3143250" cy="385763"/>
          </a:xfrm>
          <a:prstGeom prst="rect">
            <a:avLst/>
          </a:prstGeom>
          <a:noFill/>
          <a:ln/>
        </p:spPr>
        <p:txBody>
          <a:bodyPr wrap="square" lIns="204089" tIns="0" rIns="0" bIns="0" rtlCol="0" anchor="t">
            <a:spAutoFit/>
          </a:bodyPr>
          <a:lstStyle/>
          <a:p>
            <a:pPr algn="l" indent="0" marL="0">
              <a:lnSpc>
                <a:spcPct val="120000"/>
              </a:lnSpc>
              <a:buNone/>
            </a:pPr>
            <a:r>
              <a:rPr lang="en-US" sz="950" dirty="0">
                <a:solidFill>
                  <a:srgbClr val="E8E8E8"/>
                </a:solidFill>
                <a:latin typeface="Inter Light" pitchFamily="34" charset="0"/>
                <a:ea typeface="Inter Light" pitchFamily="34" charset="-122"/>
                <a:cs typeface="Inter Light" pitchFamily="34" charset="-120"/>
              </a:rPr>
              <a:t>Placement coordinates, collision data, and production detail</a:t>
            </a:r>
            <a:endParaRPr lang="en-US" sz="950" dirty="0"/>
          </a:p>
        </p:txBody>
      </p:sp>
      <p:sp>
        <p:nvSpPr>
          <p:cNvPr id="22" name="Text 18"/>
          <p:cNvSpPr/>
          <p:nvPr/>
        </p:nvSpPr>
        <p:spPr>
          <a:xfrm>
            <a:off x="5000625" y="3357563"/>
            <a:ext cx="3143250" cy="385763"/>
          </a:xfrm>
          <a:prstGeom prst="rect">
            <a:avLst/>
          </a:prstGeom>
          <a:noFill/>
          <a:ln/>
        </p:spPr>
        <p:txBody>
          <a:bodyPr wrap="square" lIns="204089" tIns="0" rIns="0" bIns="0" rtlCol="0" anchor="t">
            <a:spAutoFit/>
          </a:bodyPr>
          <a:lstStyle/>
          <a:p>
            <a:pPr algn="l" indent="0" marL="0">
              <a:lnSpc>
                <a:spcPct val="120000"/>
              </a:lnSpc>
              <a:buNone/>
            </a:pPr>
            <a:r>
              <a:rPr lang="en-US" sz="950" dirty="0">
                <a:solidFill>
                  <a:srgbClr val="E8E8E8"/>
                </a:solidFill>
                <a:latin typeface="Inter Light" pitchFamily="34" charset="0"/>
                <a:ea typeface="Inter Light" pitchFamily="34" charset="-122"/>
                <a:cs typeface="Inter Light" pitchFamily="34" charset="-120"/>
              </a:rPr>
              <a:t>Internal score components and confidence values</a:t>
            </a:r>
            <a:endParaRPr lang="en-US" sz="950" dirty="0"/>
          </a:p>
        </p:txBody>
      </p:sp>
      <p:sp>
        <p:nvSpPr>
          <p:cNvPr id="23" name="Shape 19"/>
          <p:cNvSpPr/>
          <p:nvPr/>
        </p:nvSpPr>
        <p:spPr>
          <a:xfrm>
            <a:off x="714375" y="4772025"/>
            <a:ext cx="7715250" cy="371475"/>
          </a:xfrm>
          <a:prstGeom prst="rect">
            <a:avLst/>
          </a:prstGeom>
          <a:solidFill>
            <a:srgbClr val="000000">
              <a:alpha val="0"/>
            </a:srgbClr>
          </a:solidFill>
          <a:ln/>
        </p:spPr>
      </p:sp>
      <p:sp>
        <p:nvSpPr>
          <p:cNvPr id="24" name="Shape 20"/>
          <p:cNvSpPr/>
          <p:nvPr/>
        </p:nvSpPr>
        <p:spPr>
          <a:xfrm>
            <a:off x="714375" y="4772025"/>
            <a:ext cx="7715250" cy="7144"/>
          </a:xfrm>
          <a:prstGeom prst="rect">
            <a:avLst/>
          </a:prstGeom>
          <a:solidFill>
            <a:srgbClr val="FFFFFF"/>
          </a:solidFill>
          <a:ln/>
        </p:spPr>
      </p:sp>
      <p:sp>
        <p:nvSpPr>
          <p:cNvPr id="25" name="Text 21"/>
          <p:cNvSpPr/>
          <p:nvPr/>
        </p:nvSpPr>
        <p:spPr>
          <a:xfrm>
            <a:off x="714375" y="4772025"/>
            <a:ext cx="7715250" cy="371475"/>
          </a:xfrm>
          <a:prstGeom prst="rect">
            <a:avLst/>
          </a:prstGeom>
          <a:noFill/>
          <a:ln/>
        </p:spPr>
        <p:txBody>
          <a:bodyPr wrap="square" lIns="0" tIns="204089" rIns="0" bIns="0" rtlCol="0" anchor="t">
            <a:spAutoFit/>
          </a:bodyPr>
          <a:lstStyle/>
          <a:p>
            <a:pPr algn="ctr" indent="0" marL="0">
              <a:buNone/>
            </a:pPr>
            <a:r>
              <a:rPr lang="en-US" sz="800" b="1" spc="1" kern="0" dirty="0">
                <a:solidFill>
                  <a:srgbClr val="C9A84C"/>
                </a:solidFill>
                <a:latin typeface="Inter SemiBold" pitchFamily="34" charset="0"/>
                <a:ea typeface="Inter SemiBold" pitchFamily="34" charset="-122"/>
                <a:cs typeface="Inter SemiBold" pitchFamily="34" charset="-120"/>
              </a:rPr>
              <a:t>TAKEAWAY</a:t>
            </a:r>
            <a:r>
              <a:rPr lang="en-US" sz="1150" i="1" dirty="0">
                <a:solidFill>
                  <a:srgbClr val="D0D0D0"/>
                </a:solidFill>
                <a:latin typeface="Cormorant Garamond Light" pitchFamily="34" charset="0"/>
                <a:ea typeface="Cormorant Garamond Light" pitchFamily="34" charset="-122"/>
                <a:cs typeface="Cormorant Garamond Light" pitchFamily="34" charset="-120"/>
              </a:rPr>
              <a:t> Customer-facing matching is useful without exposing maker operations.</a:t>
            </a:r>
            <a:endParaRPr lang="en-US" sz="1150" dirty="0"/>
          </a:p>
        </p:txBody>
      </p:sp>
      <p:sp>
        <p:nvSpPr>
          <p:cNvPr id="26" name="Text 22"/>
          <p:cNvSpPr/>
          <p:nvPr/>
        </p:nvSpPr>
        <p:spPr>
          <a:xfrm>
            <a:off x="5000625" y="2071688"/>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787878"/>
                </a:solidFill>
                <a:latin typeface="Inter SemiBold" pitchFamily="34" charset="0"/>
                <a:ea typeface="Inter SemiBold" pitchFamily="34" charset="-122"/>
                <a:cs typeface="Inter SemiBold" pitchFamily="34" charset="-120"/>
              </a:rPr>
              <a:t>✕</a:t>
            </a:r>
            <a:endParaRPr lang="en-US" sz="900" dirty="0"/>
          </a:p>
        </p:txBody>
      </p:sp>
      <p:sp>
        <p:nvSpPr>
          <p:cNvPr id="27" name="Text 23"/>
          <p:cNvSpPr/>
          <p:nvPr/>
        </p:nvSpPr>
        <p:spPr>
          <a:xfrm>
            <a:off x="5000625" y="2436019"/>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787878"/>
                </a:solidFill>
                <a:latin typeface="Inter SemiBold" pitchFamily="34" charset="0"/>
                <a:ea typeface="Inter SemiBold" pitchFamily="34" charset="-122"/>
                <a:cs typeface="Inter SemiBold" pitchFamily="34" charset="-120"/>
              </a:rPr>
              <a:t>✕</a:t>
            </a:r>
            <a:endParaRPr lang="en-US" sz="900" dirty="0"/>
          </a:p>
        </p:txBody>
      </p:sp>
      <p:sp>
        <p:nvSpPr>
          <p:cNvPr id="28" name="Text 24"/>
          <p:cNvSpPr/>
          <p:nvPr/>
        </p:nvSpPr>
        <p:spPr>
          <a:xfrm>
            <a:off x="5000625" y="2800350"/>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787878"/>
                </a:solidFill>
                <a:latin typeface="Inter SemiBold" pitchFamily="34" charset="0"/>
                <a:ea typeface="Inter SemiBold" pitchFamily="34" charset="-122"/>
                <a:cs typeface="Inter SemiBold" pitchFamily="34" charset="-120"/>
              </a:rPr>
              <a:t>✕</a:t>
            </a:r>
            <a:endParaRPr lang="en-US" sz="900" dirty="0"/>
          </a:p>
        </p:txBody>
      </p:sp>
      <p:sp>
        <p:nvSpPr>
          <p:cNvPr id="29" name="Text 25"/>
          <p:cNvSpPr/>
          <p:nvPr/>
        </p:nvSpPr>
        <p:spPr>
          <a:xfrm>
            <a:off x="5000625" y="3357563"/>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787878"/>
                </a:solidFill>
                <a:latin typeface="Inter SemiBold" pitchFamily="34" charset="0"/>
                <a:ea typeface="Inter SemiBold" pitchFamily="34" charset="-122"/>
                <a:cs typeface="Inter SemiBold" pitchFamily="34" charset="-120"/>
              </a:rPr>
              <a: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714375" y="571500"/>
            <a:ext cx="7715250" cy="817178"/>
          </a:xfrm>
          <a:prstGeom prst="rect">
            <a:avLst/>
          </a:prstGeom>
          <a:noFill/>
          <a:ln/>
        </p:spPr>
        <p:txBody>
          <a:bodyPr wrap="square" lIns="0" tIns="0" rIns="0" bIns="0" rtlCol="0" anchor="t">
            <a:spAutoFit/>
          </a:bodyPr>
          <a:lstStyle/>
          <a:p>
            <a:pPr algn="l" indent="0" marL="0">
              <a:lnSpc>
                <a:spcPct val="88000"/>
              </a:lnSpc>
              <a:buNone/>
            </a:pPr>
            <a:r>
              <a:rPr lang="en-US" sz="2800" dirty="0">
                <a:solidFill>
                  <a:srgbClr val="C9A84C"/>
                </a:solidFill>
                <a:latin typeface="Cormorant Garamond" pitchFamily="34" charset="0"/>
                <a:ea typeface="Cormorant Garamond" pitchFamily="34" charset="-122"/>
                <a:cs typeface="Cormorant Garamond" pitchFamily="34" charset="-120"/>
              </a:rPr>
              <a:t>Matching is deterministic, explainable, and binary by signal family.</a:t>
            </a:r>
            <a:endParaRPr lang="en-US" sz="2800" dirty="0"/>
          </a:p>
        </p:txBody>
      </p:sp>
      <p:sp>
        <p:nvSpPr>
          <p:cNvPr id="5" name="Text 1"/>
          <p:cNvSpPr/>
          <p:nvPr/>
        </p:nvSpPr>
        <p:spPr>
          <a:xfrm>
            <a:off x="714375" y="1674428"/>
            <a:ext cx="3312077" cy="307181"/>
          </a:xfrm>
          <a:prstGeom prst="rect">
            <a:avLst/>
          </a:prstGeom>
          <a:noFill/>
          <a:ln/>
        </p:spPr>
        <p:txBody>
          <a:bodyPr wrap="square" lIns="0" tIns="0" rIns="0" bIns="68072" rtlCol="0" anchor="t">
            <a:spAutoFit/>
          </a:bodyPr>
          <a:lstStyle/>
          <a:p>
            <a:pPr algn="l" indent="0" marL="0">
              <a:buNone/>
            </a:pPr>
            <a:r>
              <a:rPr lang="en-US" sz="1400" b="1" dirty="0">
                <a:solidFill>
                  <a:srgbClr val="F9F7F4"/>
                </a:solidFill>
                <a:latin typeface="Cormorant Garamond SemiBold" pitchFamily="34" charset="0"/>
                <a:ea typeface="Cormorant Garamond SemiBold" pitchFamily="34" charset="-122"/>
                <a:cs typeface="Cormorant Garamond SemiBold" pitchFamily="34" charset="-120"/>
              </a:rPr>
              <a:t>Hard eligibility</a:t>
            </a:r>
            <a:endParaRPr lang="en-US" sz="1400" dirty="0"/>
          </a:p>
        </p:txBody>
      </p:sp>
      <p:sp>
        <p:nvSpPr>
          <p:cNvPr id="6" name="Text 2"/>
          <p:cNvSpPr/>
          <p:nvPr/>
        </p:nvSpPr>
        <p:spPr>
          <a:xfrm>
            <a:off x="714375" y="2095909"/>
            <a:ext cx="12858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C9A84C"/>
                </a:solidFill>
                <a:latin typeface="Inter Light" pitchFamily="34" charset="0"/>
                <a:ea typeface="Inter Light" pitchFamily="34" charset="-122"/>
                <a:cs typeface="Inter Light" pitchFamily="34" charset="-120"/>
              </a:rPr>
              <a:t>—</a:t>
            </a:r>
            <a:endParaRPr lang="en-US" sz="950" dirty="0"/>
          </a:p>
        </p:txBody>
      </p:sp>
      <p:sp>
        <p:nvSpPr>
          <p:cNvPr id="7" name="Text 3"/>
          <p:cNvSpPr/>
          <p:nvPr/>
        </p:nvSpPr>
        <p:spPr>
          <a:xfrm>
            <a:off x="857250" y="2120912"/>
            <a:ext cx="2232422" cy="157163"/>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D0D0D0"/>
                </a:solidFill>
                <a:latin typeface="Inter Light" pitchFamily="34" charset="0"/>
                <a:ea typeface="Inter Light" pitchFamily="34" charset="-122"/>
                <a:cs typeface="Inter Light" pitchFamily="34" charset="-120"/>
              </a:rPr>
              <a:t>Consumer catalog query begins with</a:t>
            </a:r>
            <a:endParaRPr lang="en-US" sz="950" dirty="0"/>
          </a:p>
        </p:txBody>
      </p:sp>
      <p:sp>
        <p:nvSpPr>
          <p:cNvPr id="8" name="Text 4"/>
          <p:cNvSpPr/>
          <p:nvPr/>
        </p:nvSpPr>
        <p:spPr>
          <a:xfrm>
            <a:off x="857250" y="2110197"/>
            <a:ext cx="2849687" cy="384311"/>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D0D0D0"/>
                </a:solidFill>
                <a:latin typeface="monospace" pitchFamily="34" charset="0"/>
                <a:ea typeface="monospace" pitchFamily="34" charset="-122"/>
                <a:cs typeface="monospace" pitchFamily="34" charset="-120"/>
              </a:rPr>
              <a:t>status = published</a:t>
            </a:r>
            <a:endParaRPr lang="en-US" sz="950" dirty="0"/>
          </a:p>
        </p:txBody>
      </p:sp>
      <p:sp>
        <p:nvSpPr>
          <p:cNvPr id="9" name="Text 5"/>
          <p:cNvSpPr/>
          <p:nvPr/>
        </p:nvSpPr>
        <p:spPr>
          <a:xfrm>
            <a:off x="1551645" y="2330202"/>
            <a:ext cx="35719" cy="157163"/>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D0D0D0"/>
                </a:solidFill>
                <a:latin typeface="Inter Light" pitchFamily="34" charset="0"/>
                <a:ea typeface="Inter Light" pitchFamily="34" charset="-122"/>
                <a:cs typeface="Inter Light" pitchFamily="34" charset="-120"/>
              </a:rPr>
              <a:t>.</a:t>
            </a:r>
            <a:endParaRPr lang="en-US" sz="950" dirty="0"/>
          </a:p>
        </p:txBody>
      </p:sp>
      <p:sp>
        <p:nvSpPr>
          <p:cNvPr id="10" name="Text 6"/>
          <p:cNvSpPr/>
          <p:nvPr/>
        </p:nvSpPr>
        <p:spPr>
          <a:xfrm>
            <a:off x="714375" y="2600213"/>
            <a:ext cx="3312077" cy="205718"/>
          </a:xfrm>
          <a:prstGeom prst="rect">
            <a:avLst/>
          </a:prstGeom>
          <a:noFill/>
          <a:ln/>
        </p:spPr>
        <p:txBody>
          <a:bodyPr wrap="none" lIns="170053" tIns="0" rIns="0" bIns="0" rtlCol="0" anchor="t">
            <a:spAutoFit/>
          </a:bodyPr>
          <a:lstStyle/>
          <a:p>
            <a:pPr algn="l" indent="0" marL="0">
              <a:lnSpc>
                <a:spcPct val="128000"/>
              </a:lnSpc>
              <a:buNone/>
            </a:pPr>
            <a:r>
              <a:rPr lang="en-US" sz="950" dirty="0">
                <a:solidFill>
                  <a:srgbClr val="D0D0D0"/>
                </a:solidFill>
                <a:latin typeface="Inter Light" pitchFamily="34" charset="0"/>
                <a:ea typeface="Inter Light" pitchFamily="34" charset="-122"/>
                <a:cs typeface="Inter Light" pitchFamily="34" charset="-120"/>
              </a:rPr>
              <a:t>Reject unless Moodoor release is explicit.</a:t>
            </a:r>
            <a:endParaRPr lang="en-US" sz="950" dirty="0"/>
          </a:p>
        </p:txBody>
      </p:sp>
      <p:sp>
        <p:nvSpPr>
          <p:cNvPr id="11" name="Text 7"/>
          <p:cNvSpPr/>
          <p:nvPr/>
        </p:nvSpPr>
        <p:spPr>
          <a:xfrm>
            <a:off x="714375" y="2891656"/>
            <a:ext cx="3312077"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D0D0D0"/>
                </a:solidFill>
                <a:latin typeface="Inter Light" pitchFamily="34" charset="0"/>
                <a:ea typeface="Inter Light" pitchFamily="34" charset="-122"/>
                <a:cs typeface="Inter Light" pitchFamily="34" charset="-120"/>
              </a:rPr>
              <a:t>Reject unavailable, sold-out, discontinued, or below-quality records.</a:t>
            </a:r>
            <a:endParaRPr lang="en-US" sz="950" dirty="0"/>
          </a:p>
        </p:txBody>
      </p:sp>
      <p:sp>
        <p:nvSpPr>
          <p:cNvPr id="12" name="Text 8"/>
          <p:cNvSpPr/>
          <p:nvPr/>
        </p:nvSpPr>
        <p:spPr>
          <a:xfrm>
            <a:off x="714375" y="3531691"/>
            <a:ext cx="3312077" cy="307181"/>
          </a:xfrm>
          <a:prstGeom prst="rect">
            <a:avLst/>
          </a:prstGeom>
          <a:noFill/>
          <a:ln/>
        </p:spPr>
        <p:txBody>
          <a:bodyPr wrap="square" lIns="0" tIns="0" rIns="0" bIns="68072" rtlCol="0" anchor="t">
            <a:spAutoFit/>
          </a:bodyPr>
          <a:lstStyle/>
          <a:p>
            <a:pPr algn="l" indent="0" marL="0">
              <a:buNone/>
            </a:pPr>
            <a:r>
              <a:rPr lang="en-US" sz="1400" b="1" dirty="0">
                <a:solidFill>
                  <a:srgbClr val="F9F7F4"/>
                </a:solidFill>
                <a:latin typeface="Cormorant Garamond SemiBold" pitchFamily="34" charset="0"/>
                <a:ea typeface="Cormorant Garamond SemiBold" pitchFamily="34" charset="-122"/>
                <a:cs typeface="Cormorant Garamond SemiBold" pitchFamily="34" charset="-120"/>
              </a:rPr>
              <a:t>Scoring formula</a:t>
            </a:r>
            <a:endParaRPr lang="en-US" sz="1400" dirty="0"/>
          </a:p>
        </p:txBody>
      </p:sp>
      <p:sp>
        <p:nvSpPr>
          <p:cNvPr id="13" name="Shape 9"/>
          <p:cNvSpPr/>
          <p:nvPr/>
        </p:nvSpPr>
        <p:spPr>
          <a:xfrm>
            <a:off x="714375" y="3953173"/>
            <a:ext cx="3312077" cy="657225"/>
          </a:xfrm>
          <a:prstGeom prst="rect">
            <a:avLst/>
          </a:prstGeom>
          <a:solidFill>
            <a:srgbClr val="C9A84C">
              <a:alpha val="5000"/>
            </a:srgbClr>
          </a:solidFill>
          <a:ln/>
        </p:spPr>
      </p:sp>
      <p:sp>
        <p:nvSpPr>
          <p:cNvPr id="14" name="Shape 10"/>
          <p:cNvSpPr/>
          <p:nvPr/>
        </p:nvSpPr>
        <p:spPr>
          <a:xfrm>
            <a:off x="714375" y="3953173"/>
            <a:ext cx="28575" cy="657225"/>
          </a:xfrm>
          <a:prstGeom prst="rect">
            <a:avLst/>
          </a:prstGeom>
          <a:solidFill>
            <a:srgbClr val="C9A84C"/>
          </a:solidFill>
          <a:ln/>
        </p:spPr>
      </p:sp>
      <p:sp>
        <p:nvSpPr>
          <p:cNvPr id="15" name="Text 11"/>
          <p:cNvSpPr/>
          <p:nvPr/>
        </p:nvSpPr>
        <p:spPr>
          <a:xfrm>
            <a:off x="714375" y="2600213"/>
            <a:ext cx="12858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C9A84C"/>
                </a:solidFill>
                <a:latin typeface="Inter Light" pitchFamily="34" charset="0"/>
                <a:ea typeface="Inter Light" pitchFamily="34" charset="-122"/>
                <a:cs typeface="Inter Light" pitchFamily="34" charset="-120"/>
              </a:rPr>
              <a:t>—</a:t>
            </a:r>
            <a:endParaRPr lang="en-US" sz="950" dirty="0"/>
          </a:p>
        </p:txBody>
      </p:sp>
      <p:sp>
        <p:nvSpPr>
          <p:cNvPr id="16" name="Text 12"/>
          <p:cNvSpPr/>
          <p:nvPr/>
        </p:nvSpPr>
        <p:spPr>
          <a:xfrm>
            <a:off x="714375" y="2891656"/>
            <a:ext cx="12858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C9A84C"/>
                </a:solidFill>
                <a:latin typeface="Inter Light" pitchFamily="34" charset="0"/>
                <a:ea typeface="Inter Light" pitchFamily="34" charset="-122"/>
                <a:cs typeface="Inter Light" pitchFamily="34" charset="-120"/>
              </a:rPr>
              <a:t>—</a:t>
            </a:r>
            <a:endParaRPr lang="en-US" sz="950" dirty="0"/>
          </a:p>
        </p:txBody>
      </p:sp>
      <p:sp>
        <p:nvSpPr>
          <p:cNvPr id="17" name="Text 13"/>
          <p:cNvSpPr/>
          <p:nvPr/>
        </p:nvSpPr>
        <p:spPr>
          <a:xfrm>
            <a:off x="885825" y="4096048"/>
            <a:ext cx="2969177" cy="371475"/>
          </a:xfrm>
          <a:prstGeom prst="rect">
            <a:avLst/>
          </a:prstGeom>
          <a:noFill/>
          <a:ln/>
        </p:spPr>
        <p:txBody>
          <a:bodyPr wrap="square" lIns="0" tIns="0" rIns="0" bIns="0" rtlCol="0" anchor="t">
            <a:spAutoFit/>
          </a:bodyPr>
          <a:lstStyle/>
          <a:p>
            <a:pPr algn="l" indent="0" marL="0">
              <a:buNone/>
            </a:pPr>
            <a:r>
              <a:rPr lang="en-US" sz="1050" spc="1" kern="0" dirty="0">
                <a:solidFill>
                  <a:srgbClr val="C9A84C"/>
                </a:solidFill>
                <a:latin typeface="DM Mono" pitchFamily="34" charset="0"/>
                <a:ea typeface="DM Mono" pitchFamily="34" charset="-122"/>
                <a:cs typeface="DM Mono" pitchFamily="34" charset="-120"/>
              </a:rPr>
              <a:t>score = 0.22 + 0.34·M + 0.22·S + 0.16·D + A</a:t>
            </a:r>
            <a:endParaRPr lang="en-US" sz="1050" dirty="0"/>
          </a:p>
        </p:txBody>
      </p:sp>
      <p:sp>
        <p:nvSpPr>
          <p:cNvPr id="18" name="Text 14"/>
          <p:cNvSpPr/>
          <p:nvPr/>
        </p:nvSpPr>
        <p:spPr>
          <a:xfrm>
            <a:off x="714375" y="4781848"/>
            <a:ext cx="3312077" cy="139303"/>
          </a:xfrm>
          <a:prstGeom prst="rect">
            <a:avLst/>
          </a:prstGeom>
          <a:noFill/>
          <a:ln/>
        </p:spPr>
        <p:txBody>
          <a:bodyPr wrap="square" lIns="0" tIns="0" rIns="0" bIns="0" rtlCol="0" anchor="t">
            <a:spAutoFit/>
          </a:bodyPr>
          <a:lstStyle/>
          <a:p>
            <a:pPr algn="l" indent="0" marL="0">
              <a:buNone/>
            </a:pPr>
            <a:r>
              <a:rPr lang="en-US" sz="850" dirty="0">
                <a:solidFill>
                  <a:srgbClr val="A8A8A8"/>
                </a:solidFill>
                <a:latin typeface="Inter" pitchFamily="34" charset="0"/>
                <a:ea typeface="Inter" pitchFamily="34" charset="-122"/>
                <a:cs typeface="Inter" pitchFamily="34" charset="-120"/>
              </a:rPr>
              <a:t>Start score: </a:t>
            </a:r>
            <a:r>
              <a:rPr lang="en-US" sz="800" b="1" dirty="0">
                <a:solidFill>
                  <a:srgbClr val="F9F7F4"/>
                </a:solidFill>
                <a:latin typeface="Inter SemiBold" pitchFamily="34" charset="0"/>
                <a:ea typeface="Inter SemiBold" pitchFamily="34" charset="-122"/>
                <a:cs typeface="Inter SemiBold" pitchFamily="34" charset="-120"/>
              </a:rPr>
              <a:t>0.22</a:t>
            </a:r>
            <a:r>
              <a:rPr lang="en-US" sz="850" dirty="0">
                <a:solidFill>
                  <a:srgbClr val="A8A8A8"/>
                </a:solidFill>
                <a:latin typeface="Inter" pitchFamily="34" charset="0"/>
                <a:ea typeface="Inter" pitchFamily="34" charset="-122"/>
                <a:cs typeface="Inter" pitchFamily="34" charset="-120"/>
              </a:rPr>
              <a:t>; retain only matches at </a:t>
            </a:r>
            <a:r>
              <a:rPr lang="en-US" sz="800" b="1" dirty="0">
                <a:solidFill>
                  <a:srgbClr val="F9F7F4"/>
                </a:solidFill>
                <a:latin typeface="Inter SemiBold" pitchFamily="34" charset="0"/>
                <a:ea typeface="Inter SemiBold" pitchFamily="34" charset="-122"/>
                <a:cs typeface="Inter SemiBold" pitchFamily="34" charset="-120"/>
              </a:rPr>
              <a:t>≥ 0.42</a:t>
            </a:r>
            <a:r>
              <a:rPr lang="en-US" sz="850" dirty="0">
                <a:solidFill>
                  <a:srgbClr val="A8A8A8"/>
                </a:solidFill>
                <a:latin typeface="Inter" pitchFamily="34" charset="0"/>
                <a:ea typeface="Inter" pitchFamily="34" charset="-122"/>
                <a:cs typeface="Inter" pitchFamily="34" charset="-120"/>
              </a:rPr>
              <a:t>; cap at </a:t>
            </a:r>
            <a:r>
              <a:rPr lang="en-US" sz="800" b="1" dirty="0">
                <a:solidFill>
                  <a:srgbClr val="F9F7F4"/>
                </a:solidFill>
                <a:latin typeface="Inter SemiBold" pitchFamily="34" charset="0"/>
                <a:ea typeface="Inter SemiBold" pitchFamily="34" charset="-122"/>
                <a:cs typeface="Inter SemiBold" pitchFamily="34" charset="-120"/>
              </a:rPr>
              <a:t>1.00</a:t>
            </a:r>
            <a:r>
              <a:rPr lang="en-US" sz="850" dirty="0">
                <a:solidFill>
                  <a:srgbClr val="A8A8A8"/>
                </a:solidFill>
                <a:latin typeface="Inter" pitchFamily="34" charset="0"/>
                <a:ea typeface="Inter" pitchFamily="34" charset="-122"/>
                <a:cs typeface="Inter" pitchFamily="34" charset="-120"/>
              </a:rPr>
              <a:t>.</a:t>
            </a:r>
            <a:endParaRPr lang="en-US" sz="850" dirty="0"/>
          </a:p>
        </p:txBody>
      </p:sp>
      <p:sp>
        <p:nvSpPr>
          <p:cNvPr id="19" name="Text 15"/>
          <p:cNvSpPr/>
          <p:nvPr/>
        </p:nvSpPr>
        <p:spPr>
          <a:xfrm>
            <a:off x="714375" y="4978301"/>
            <a:ext cx="3312077" cy="139303"/>
          </a:xfrm>
          <a:prstGeom prst="rect">
            <a:avLst/>
          </a:prstGeom>
          <a:noFill/>
          <a:ln/>
        </p:spPr>
        <p:txBody>
          <a:bodyPr wrap="square" lIns="0" tIns="0" rIns="0" bIns="0" rtlCol="0" anchor="t">
            <a:spAutoFit/>
          </a:bodyPr>
          <a:lstStyle/>
          <a:p>
            <a:pPr algn="l" indent="0" marL="0">
              <a:buNone/>
            </a:pPr>
            <a:r>
              <a:rPr lang="en-US" sz="850" dirty="0">
                <a:solidFill>
                  <a:srgbClr val="A8A8A8"/>
                </a:solidFill>
                <a:latin typeface="Inter" pitchFamily="34" charset="0"/>
                <a:ea typeface="Inter" pitchFamily="34" charset="-122"/>
                <a:cs typeface="Inter" pitchFamily="34" charset="-120"/>
              </a:rPr>
              <a:t>Each signal is a one-time binary increment.</a:t>
            </a:r>
            <a:endParaRPr lang="en-US" sz="850" dirty="0"/>
          </a:p>
        </p:txBody>
      </p:sp>
      <p:sp>
        <p:nvSpPr>
          <p:cNvPr id="20" name="Text 16"/>
          <p:cNvSpPr/>
          <p:nvPr/>
        </p:nvSpPr>
        <p:spPr>
          <a:xfrm>
            <a:off x="4455077" y="1674428"/>
            <a:ext cx="507932" cy="278606"/>
          </a:xfrm>
          <a:prstGeom prst="rect">
            <a:avLst/>
          </a:prstGeom>
          <a:noFill/>
          <a:ln/>
        </p:spPr>
        <p:txBody>
          <a:bodyPr wrap="none" lIns="0" tIns="102108" rIns="136017" bIns="102108" rtlCol="0" anchor="ctr">
            <a:spAutoFit/>
          </a:bodyPr>
          <a:lstStyle/>
          <a:p>
            <a:pPr algn="l" indent="0" marL="0">
              <a:buNone/>
            </a:pPr>
            <a:r>
              <a:rPr lang="en-US" sz="600" b="1" dirty="0">
                <a:solidFill>
                  <a:srgbClr val="F9F7F4"/>
                </a:solidFill>
                <a:latin typeface="Inter SemiBold" pitchFamily="34" charset="0"/>
                <a:ea typeface="Inter SemiBold" pitchFamily="34" charset="-122"/>
                <a:cs typeface="Inter SemiBold" pitchFamily="34" charset="-120"/>
              </a:rPr>
              <a:t>SYMBOL</a:t>
            </a:r>
            <a:endParaRPr lang="en-US" sz="600" dirty="0"/>
          </a:p>
        </p:txBody>
      </p:sp>
      <p:sp>
        <p:nvSpPr>
          <p:cNvPr id="21" name="Text 17"/>
          <p:cNvSpPr/>
          <p:nvPr/>
        </p:nvSpPr>
        <p:spPr>
          <a:xfrm>
            <a:off x="4963009" y="1674428"/>
            <a:ext cx="2669251" cy="278606"/>
          </a:xfrm>
          <a:prstGeom prst="rect">
            <a:avLst/>
          </a:prstGeom>
          <a:noFill/>
          <a:ln/>
        </p:spPr>
        <p:txBody>
          <a:bodyPr wrap="square" lIns="0" tIns="102108" rIns="136017" bIns="102108" rtlCol="0" anchor="ctr">
            <a:spAutoFit/>
          </a:bodyPr>
          <a:lstStyle/>
          <a:p>
            <a:pPr algn="l" indent="0" marL="0">
              <a:buNone/>
            </a:pPr>
            <a:r>
              <a:rPr lang="en-US" sz="600" b="1" dirty="0">
                <a:solidFill>
                  <a:srgbClr val="F9F7F4"/>
                </a:solidFill>
                <a:latin typeface="Inter SemiBold" pitchFamily="34" charset="0"/>
                <a:ea typeface="Inter SemiBold" pitchFamily="34" charset="-122"/>
                <a:cs typeface="Inter SemiBold" pitchFamily="34" charset="-120"/>
              </a:rPr>
              <a:t>CONDITION</a:t>
            </a:r>
            <a:endParaRPr lang="en-US" sz="600" dirty="0"/>
          </a:p>
        </p:txBody>
      </p:sp>
      <p:sp>
        <p:nvSpPr>
          <p:cNvPr id="22" name="Text 18"/>
          <p:cNvSpPr/>
          <p:nvPr/>
        </p:nvSpPr>
        <p:spPr>
          <a:xfrm>
            <a:off x="7632260" y="1674428"/>
            <a:ext cx="797365" cy="278606"/>
          </a:xfrm>
          <a:prstGeom prst="rect">
            <a:avLst/>
          </a:prstGeom>
          <a:noFill/>
          <a:ln/>
        </p:spPr>
        <p:txBody>
          <a:bodyPr wrap="none" lIns="0" tIns="102108" rIns="0" bIns="102108" rtlCol="0" anchor="ctr">
            <a:spAutoFit/>
          </a:bodyPr>
          <a:lstStyle/>
          <a:p>
            <a:pPr algn="r" indent="0" marL="0">
              <a:buNone/>
            </a:pPr>
            <a:r>
              <a:rPr lang="en-US" sz="600" b="1" dirty="0">
                <a:solidFill>
                  <a:srgbClr val="F9F7F4"/>
                </a:solidFill>
                <a:latin typeface="Inter SemiBold" pitchFamily="34" charset="0"/>
                <a:ea typeface="Inter SemiBold" pitchFamily="34" charset="-122"/>
                <a:cs typeface="Inter SemiBold" pitchFamily="34" charset="-120"/>
              </a:rPr>
              <a:t>WEIGHT</a:t>
            </a:r>
            <a:endParaRPr lang="en-US" sz="600" dirty="0"/>
          </a:p>
        </p:txBody>
      </p:sp>
      <p:sp>
        <p:nvSpPr>
          <p:cNvPr id="23" name="Text 19"/>
          <p:cNvSpPr/>
          <p:nvPr/>
        </p:nvSpPr>
        <p:spPr>
          <a:xfrm>
            <a:off x="4455077" y="1953034"/>
            <a:ext cx="507932" cy="457200"/>
          </a:xfrm>
          <a:prstGeom prst="rect">
            <a:avLst/>
          </a:prstGeom>
          <a:noFill/>
          <a:ln/>
        </p:spPr>
        <p:txBody>
          <a:bodyPr wrap="none" lIns="0" tIns="102108" rIns="136017" bIns="102108" rtlCol="0" anchor="ctr">
            <a:spAutoFit/>
          </a:bodyPr>
          <a:lstStyle/>
          <a:p>
            <a:pPr algn="l" indent="0" marL="0">
              <a:buNone/>
            </a:pPr>
            <a:r>
              <a:rPr lang="en-US" sz="850" dirty="0">
                <a:solidFill>
                  <a:srgbClr val="C9A84C"/>
                </a:solidFill>
                <a:latin typeface="DM Mono" pitchFamily="34" charset="0"/>
                <a:ea typeface="DM Mono" pitchFamily="34" charset="-122"/>
                <a:cs typeface="DM Mono" pitchFamily="34" charset="-120"/>
              </a:rPr>
              <a:t>M</a:t>
            </a:r>
            <a:endParaRPr lang="en-US" sz="850" dirty="0"/>
          </a:p>
        </p:txBody>
      </p:sp>
      <p:sp>
        <p:nvSpPr>
          <p:cNvPr id="24" name="Text 20"/>
          <p:cNvSpPr/>
          <p:nvPr/>
        </p:nvSpPr>
        <p:spPr>
          <a:xfrm>
            <a:off x="4963009" y="1953034"/>
            <a:ext cx="2669251" cy="457200"/>
          </a:xfrm>
          <a:prstGeom prst="rect">
            <a:avLst/>
          </a:prstGeom>
          <a:noFill/>
          <a:ln/>
        </p:spPr>
        <p:txBody>
          <a:bodyPr wrap="square" lIns="0" tIns="102108" rIns="136017" bIns="102108" rtlCol="0" anchor="ctr">
            <a:spAutoFit/>
          </a:bodyPr>
          <a:lstStyle/>
          <a:p>
            <a:pPr algn="l" indent="0" marL="0">
              <a:buNone/>
            </a:pPr>
            <a:r>
              <a:rPr lang="en-US" sz="850" dirty="0">
                <a:solidFill>
                  <a:srgbClr val="D0D0D0"/>
                </a:solidFill>
                <a:latin typeface="Inter" pitchFamily="34" charset="0"/>
                <a:ea typeface="Inter" pitchFamily="34" charset="-122"/>
                <a:cs typeface="Inter" pitchFamily="34" charset="-120"/>
              </a:rPr>
              <a:t>Any selected-mood token appears in public listing text</a:t>
            </a:r>
            <a:endParaRPr lang="en-US" sz="850" dirty="0"/>
          </a:p>
        </p:txBody>
      </p:sp>
      <p:sp>
        <p:nvSpPr>
          <p:cNvPr id="25" name="Text 21"/>
          <p:cNvSpPr/>
          <p:nvPr/>
        </p:nvSpPr>
        <p:spPr>
          <a:xfrm>
            <a:off x="7632260" y="1953034"/>
            <a:ext cx="797365" cy="457200"/>
          </a:xfrm>
          <a:prstGeom prst="rect">
            <a:avLst/>
          </a:prstGeom>
          <a:noFill/>
          <a:ln/>
        </p:spPr>
        <p:txBody>
          <a:bodyPr wrap="none" lIns="0" tIns="102108" rIns="0" bIns="102108" rtlCol="0" anchor="ctr">
            <a:spAutoFit/>
          </a:bodyPr>
          <a:lstStyle/>
          <a:p>
            <a:pPr algn="r" indent="0" marL="0">
              <a:buNone/>
            </a:pPr>
            <a:r>
              <a:rPr lang="en-US" sz="850" dirty="0">
                <a:solidFill>
                  <a:srgbClr val="C9A84C"/>
                </a:solidFill>
                <a:latin typeface="DM Mono" pitchFamily="34" charset="0"/>
                <a:ea typeface="DM Mono" pitchFamily="34" charset="-122"/>
                <a:cs typeface="DM Mono" pitchFamily="34" charset="-120"/>
              </a:rPr>
              <a:t>0.34</a:t>
            </a:r>
            <a:endParaRPr lang="en-US" sz="850" dirty="0"/>
          </a:p>
        </p:txBody>
      </p:sp>
      <p:sp>
        <p:nvSpPr>
          <p:cNvPr id="26" name="Text 22"/>
          <p:cNvSpPr/>
          <p:nvPr/>
        </p:nvSpPr>
        <p:spPr>
          <a:xfrm>
            <a:off x="4455077" y="2410234"/>
            <a:ext cx="507932" cy="457200"/>
          </a:xfrm>
          <a:prstGeom prst="rect">
            <a:avLst/>
          </a:prstGeom>
          <a:noFill/>
          <a:ln/>
        </p:spPr>
        <p:txBody>
          <a:bodyPr wrap="none" lIns="0" tIns="102108" rIns="136017" bIns="102108" rtlCol="0" anchor="ctr">
            <a:spAutoFit/>
          </a:bodyPr>
          <a:lstStyle/>
          <a:p>
            <a:pPr algn="l" indent="0" marL="0">
              <a:buNone/>
            </a:pPr>
            <a:r>
              <a:rPr lang="en-US" sz="850" dirty="0">
                <a:solidFill>
                  <a:srgbClr val="C9A84C"/>
                </a:solidFill>
                <a:latin typeface="DM Mono" pitchFamily="34" charset="0"/>
                <a:ea typeface="DM Mono" pitchFamily="34" charset="-122"/>
                <a:cs typeface="DM Mono" pitchFamily="34" charset="-120"/>
              </a:rPr>
              <a:t>S</a:t>
            </a:r>
            <a:endParaRPr lang="en-US" sz="850" dirty="0"/>
          </a:p>
        </p:txBody>
      </p:sp>
      <p:sp>
        <p:nvSpPr>
          <p:cNvPr id="27" name="Text 23"/>
          <p:cNvSpPr/>
          <p:nvPr/>
        </p:nvSpPr>
        <p:spPr>
          <a:xfrm>
            <a:off x="4963009" y="2410234"/>
            <a:ext cx="2669251" cy="457200"/>
          </a:xfrm>
          <a:prstGeom prst="rect">
            <a:avLst/>
          </a:prstGeom>
          <a:noFill/>
          <a:ln/>
        </p:spPr>
        <p:txBody>
          <a:bodyPr wrap="square" lIns="0" tIns="102108" rIns="136017" bIns="102108" rtlCol="0" anchor="ctr">
            <a:spAutoFit/>
          </a:bodyPr>
          <a:lstStyle/>
          <a:p>
            <a:pPr algn="l" indent="0" marL="0">
              <a:buNone/>
            </a:pPr>
            <a:r>
              <a:rPr lang="en-US" sz="850" dirty="0">
                <a:solidFill>
                  <a:srgbClr val="D0D0D0"/>
                </a:solidFill>
                <a:latin typeface="Inter" pitchFamily="34" charset="0"/>
                <a:ea typeface="Inter" pitchFamily="34" charset="-122"/>
                <a:cs typeface="Inter" pitchFamily="34" charset="-120"/>
              </a:rPr>
              <a:t>Selected season appears in season tags or public text</a:t>
            </a:r>
            <a:endParaRPr lang="en-US" sz="850" dirty="0"/>
          </a:p>
        </p:txBody>
      </p:sp>
      <p:sp>
        <p:nvSpPr>
          <p:cNvPr id="28" name="Text 24"/>
          <p:cNvSpPr/>
          <p:nvPr/>
        </p:nvSpPr>
        <p:spPr>
          <a:xfrm>
            <a:off x="7632260" y="2410234"/>
            <a:ext cx="797365" cy="457200"/>
          </a:xfrm>
          <a:prstGeom prst="rect">
            <a:avLst/>
          </a:prstGeom>
          <a:noFill/>
          <a:ln/>
        </p:spPr>
        <p:txBody>
          <a:bodyPr wrap="none" lIns="0" tIns="102108" rIns="0" bIns="102108" rtlCol="0" anchor="ctr">
            <a:spAutoFit/>
          </a:bodyPr>
          <a:lstStyle/>
          <a:p>
            <a:pPr algn="r" indent="0" marL="0">
              <a:buNone/>
            </a:pPr>
            <a:r>
              <a:rPr lang="en-US" sz="850" dirty="0">
                <a:solidFill>
                  <a:srgbClr val="C9A84C"/>
                </a:solidFill>
                <a:latin typeface="DM Mono" pitchFamily="34" charset="0"/>
                <a:ea typeface="DM Mono" pitchFamily="34" charset="-122"/>
                <a:cs typeface="DM Mono" pitchFamily="34" charset="-120"/>
              </a:rPr>
              <a:t>0.22</a:t>
            </a:r>
            <a:endParaRPr lang="en-US" sz="850" dirty="0"/>
          </a:p>
        </p:txBody>
      </p:sp>
      <p:sp>
        <p:nvSpPr>
          <p:cNvPr id="29" name="Text 25"/>
          <p:cNvSpPr/>
          <p:nvPr/>
        </p:nvSpPr>
        <p:spPr>
          <a:xfrm>
            <a:off x="4455077" y="2867434"/>
            <a:ext cx="507932" cy="457200"/>
          </a:xfrm>
          <a:prstGeom prst="rect">
            <a:avLst/>
          </a:prstGeom>
          <a:noFill/>
          <a:ln/>
        </p:spPr>
        <p:txBody>
          <a:bodyPr wrap="none" lIns="0" tIns="102108" rIns="136017" bIns="102108" rtlCol="0" anchor="ctr">
            <a:spAutoFit/>
          </a:bodyPr>
          <a:lstStyle/>
          <a:p>
            <a:pPr algn="l" indent="0" marL="0">
              <a:buNone/>
            </a:pPr>
            <a:r>
              <a:rPr lang="en-US" sz="850" dirty="0">
                <a:solidFill>
                  <a:srgbClr val="C9A84C"/>
                </a:solidFill>
                <a:latin typeface="DM Mono" pitchFamily="34" charset="0"/>
                <a:ea typeface="DM Mono" pitchFamily="34" charset="-122"/>
                <a:cs typeface="DM Mono" pitchFamily="34" charset="-120"/>
              </a:rPr>
              <a:t>D</a:t>
            </a:r>
            <a:endParaRPr lang="en-US" sz="850" dirty="0"/>
          </a:p>
        </p:txBody>
      </p:sp>
      <p:sp>
        <p:nvSpPr>
          <p:cNvPr id="30" name="Text 26"/>
          <p:cNvSpPr/>
          <p:nvPr/>
        </p:nvSpPr>
        <p:spPr>
          <a:xfrm>
            <a:off x="4963009" y="2867434"/>
            <a:ext cx="2669251" cy="457200"/>
          </a:xfrm>
          <a:prstGeom prst="rect">
            <a:avLst/>
          </a:prstGeom>
          <a:noFill/>
          <a:ln/>
        </p:spPr>
        <p:txBody>
          <a:bodyPr wrap="square" lIns="0" tIns="102108" rIns="136017" bIns="102108" rtlCol="0" anchor="ctr">
            <a:spAutoFit/>
          </a:bodyPr>
          <a:lstStyle/>
          <a:p>
            <a:pPr algn="l" indent="0" marL="0">
              <a:buNone/>
            </a:pPr>
            <a:r>
              <a:rPr lang="en-US" sz="850" dirty="0">
                <a:solidFill>
                  <a:srgbClr val="D0D0D0"/>
                </a:solidFill>
                <a:latin typeface="Inter" pitchFamily="34" charset="0"/>
                <a:ea typeface="Inter" pitchFamily="34" charset="-122"/>
                <a:cs typeface="Inter" pitchFamily="34" charset="-120"/>
              </a:rPr>
              <a:t>Any door-context token appears in public listing text</a:t>
            </a:r>
            <a:endParaRPr lang="en-US" sz="850" dirty="0"/>
          </a:p>
        </p:txBody>
      </p:sp>
      <p:sp>
        <p:nvSpPr>
          <p:cNvPr id="31" name="Text 27"/>
          <p:cNvSpPr/>
          <p:nvPr/>
        </p:nvSpPr>
        <p:spPr>
          <a:xfrm>
            <a:off x="7632260" y="2867434"/>
            <a:ext cx="797365" cy="457200"/>
          </a:xfrm>
          <a:prstGeom prst="rect">
            <a:avLst/>
          </a:prstGeom>
          <a:noFill/>
          <a:ln/>
        </p:spPr>
        <p:txBody>
          <a:bodyPr wrap="none" lIns="0" tIns="102108" rIns="0" bIns="102108" rtlCol="0" anchor="ctr">
            <a:spAutoFit/>
          </a:bodyPr>
          <a:lstStyle/>
          <a:p>
            <a:pPr algn="r" indent="0" marL="0">
              <a:buNone/>
            </a:pPr>
            <a:r>
              <a:rPr lang="en-US" sz="850" dirty="0">
                <a:solidFill>
                  <a:srgbClr val="C9A84C"/>
                </a:solidFill>
                <a:latin typeface="DM Mono" pitchFamily="34" charset="0"/>
                <a:ea typeface="DM Mono" pitchFamily="34" charset="-122"/>
                <a:cs typeface="DM Mono" pitchFamily="34" charset="-120"/>
              </a:rPr>
              <a:t>0.16</a:t>
            </a:r>
            <a:endParaRPr lang="en-US" sz="850" dirty="0"/>
          </a:p>
        </p:txBody>
      </p:sp>
      <p:sp>
        <p:nvSpPr>
          <p:cNvPr id="32" name="Text 28"/>
          <p:cNvSpPr/>
          <p:nvPr/>
        </p:nvSpPr>
        <p:spPr>
          <a:xfrm>
            <a:off x="4455077" y="3324634"/>
            <a:ext cx="507932" cy="478631"/>
          </a:xfrm>
          <a:prstGeom prst="rect">
            <a:avLst/>
          </a:prstGeom>
          <a:noFill/>
          <a:ln/>
        </p:spPr>
        <p:txBody>
          <a:bodyPr wrap="none" lIns="0" tIns="102108" rIns="136017" bIns="102108" rtlCol="0" anchor="ctr">
            <a:spAutoFit/>
          </a:bodyPr>
          <a:lstStyle/>
          <a:p>
            <a:pPr algn="l" indent="0" marL="0">
              <a:buNone/>
            </a:pPr>
            <a:r>
              <a:rPr lang="en-US" sz="850" dirty="0">
                <a:solidFill>
                  <a:srgbClr val="C9A84C"/>
                </a:solidFill>
                <a:latin typeface="DM Mono" pitchFamily="34" charset="0"/>
                <a:ea typeface="DM Mono" pitchFamily="34" charset="-122"/>
                <a:cs typeface="DM Mono" pitchFamily="34" charset="-120"/>
              </a:rPr>
              <a:t>A</a:t>
            </a:r>
            <a:endParaRPr lang="en-US" sz="850" dirty="0"/>
          </a:p>
        </p:txBody>
      </p:sp>
      <p:sp>
        <p:nvSpPr>
          <p:cNvPr id="33" name="Text 29"/>
          <p:cNvSpPr/>
          <p:nvPr/>
        </p:nvSpPr>
        <p:spPr>
          <a:xfrm>
            <a:off x="4963009" y="3324634"/>
            <a:ext cx="2669251" cy="478631"/>
          </a:xfrm>
          <a:prstGeom prst="rect">
            <a:avLst/>
          </a:prstGeom>
          <a:noFill/>
          <a:ln/>
        </p:spPr>
        <p:txBody>
          <a:bodyPr wrap="square" lIns="0" tIns="102108" rIns="136017" bIns="102108" rtlCol="0" anchor="ctr">
            <a:spAutoFit/>
          </a:bodyPr>
          <a:lstStyle/>
          <a:p>
            <a:pPr algn="l" indent="0" marL="0">
              <a:buNone/>
            </a:pPr>
            <a:r>
              <a:rPr lang="en-US" sz="850" dirty="0">
                <a:solidFill>
                  <a:srgbClr val="D0D0D0"/>
                </a:solidFill>
                <a:latin typeface="Inter" pitchFamily="34" charset="0"/>
                <a:ea typeface="Inter" pitchFamily="34" charset="-122"/>
                <a:cs typeface="Inter" pitchFamily="34" charset="-120"/>
              </a:rPr>
              <a:t>In stock / limited availability</a:t>
            </a:r>
            <a:endParaRPr lang="en-US" sz="850" dirty="0"/>
          </a:p>
        </p:txBody>
      </p:sp>
      <p:sp>
        <p:nvSpPr>
          <p:cNvPr id="34" name="Text 30"/>
          <p:cNvSpPr/>
          <p:nvPr/>
        </p:nvSpPr>
        <p:spPr>
          <a:xfrm>
            <a:off x="7632260" y="3324634"/>
            <a:ext cx="797365" cy="478631"/>
          </a:xfrm>
          <a:prstGeom prst="rect">
            <a:avLst/>
          </a:prstGeom>
          <a:noFill/>
          <a:ln/>
        </p:spPr>
        <p:txBody>
          <a:bodyPr wrap="none" lIns="0" tIns="102108" rIns="0" bIns="102108" rtlCol="0" anchor="ctr">
            <a:spAutoFit/>
          </a:bodyPr>
          <a:lstStyle/>
          <a:p>
            <a:pPr algn="r" indent="0" marL="0">
              <a:buNone/>
            </a:pPr>
            <a:r>
              <a:rPr lang="en-US" sz="850" dirty="0">
                <a:solidFill>
                  <a:srgbClr val="C9A84C"/>
                </a:solidFill>
                <a:latin typeface="DM Mono" pitchFamily="34" charset="0"/>
                <a:ea typeface="DM Mono" pitchFamily="34" charset="-122"/>
                <a:cs typeface="DM Mono" pitchFamily="34" charset="-120"/>
              </a:rPr>
              <a:t>+0.06 / +0.03</a:t>
            </a:r>
            <a:endParaRPr lang="en-US" sz="850" dirty="0"/>
          </a:p>
        </p:txBody>
      </p:sp>
      <p:sp>
        <p:nvSpPr>
          <p:cNvPr id="35" name="Text 31"/>
          <p:cNvSpPr/>
          <p:nvPr/>
        </p:nvSpPr>
        <p:spPr>
          <a:xfrm>
            <a:off x="4455077" y="4092587"/>
            <a:ext cx="3974548" cy="121444"/>
          </a:xfrm>
          <a:prstGeom prst="rect">
            <a:avLst/>
          </a:prstGeom>
          <a:noFill/>
          <a:ln/>
        </p:spPr>
        <p:txBody>
          <a:bodyPr wrap="square" lIns="0" tIns="0" rIns="0" bIns="0" rtlCol="0" anchor="t">
            <a:spAutoFit/>
          </a:bodyPr>
          <a:lstStyle/>
          <a:p>
            <a:pPr algn="l" indent="0" marL="0">
              <a:buNone/>
            </a:pPr>
            <a:r>
              <a:rPr lang="en-US" sz="750" spc="1" kern="0" dirty="0">
                <a:solidFill>
                  <a:srgbClr val="A8A8A8"/>
                </a:solidFill>
                <a:latin typeface="Inter" pitchFamily="34" charset="0"/>
                <a:ea typeface="Inter" pitchFamily="34" charset="-122"/>
                <a:cs typeface="Inter" pitchFamily="34" charset="-120"/>
              </a:rPr>
              <a:t>MAXIMUM 1.00 COMPOSITION</a:t>
            </a:r>
            <a:endParaRPr lang="en-US" sz="750" dirty="0"/>
          </a:p>
        </p:txBody>
      </p:sp>
      <p:sp>
        <p:nvSpPr>
          <p:cNvPr id="36" name="Shape 32"/>
          <p:cNvSpPr/>
          <p:nvPr/>
        </p:nvSpPr>
        <p:spPr>
          <a:xfrm>
            <a:off x="4455077" y="4299756"/>
            <a:ext cx="3974548" cy="228600"/>
          </a:xfrm>
          <a:prstGeom prst="rect">
            <a:avLst/>
          </a:prstGeom>
          <a:solidFill>
            <a:srgbClr val="FFFFFF">
              <a:alpha val="5000"/>
            </a:srgbClr>
          </a:solidFill>
          <a:ln/>
        </p:spPr>
      </p:sp>
      <p:sp>
        <p:nvSpPr>
          <p:cNvPr id="37" name="Shape 33"/>
          <p:cNvSpPr/>
          <p:nvPr/>
        </p:nvSpPr>
        <p:spPr>
          <a:xfrm>
            <a:off x="4455077" y="4299756"/>
            <a:ext cx="874384" cy="228600"/>
          </a:xfrm>
          <a:prstGeom prst="rect">
            <a:avLst/>
          </a:prstGeom>
          <a:solidFill>
            <a:srgbClr val="4A6741"/>
          </a:solidFill>
          <a:ln/>
        </p:spPr>
      </p:sp>
      <p:sp>
        <p:nvSpPr>
          <p:cNvPr id="38" name="Text 34"/>
          <p:cNvSpPr/>
          <p:nvPr/>
        </p:nvSpPr>
        <p:spPr>
          <a:xfrm>
            <a:off x="4455077" y="4299756"/>
            <a:ext cx="874384" cy="228600"/>
          </a:xfrm>
          <a:prstGeom prst="rect">
            <a:avLst/>
          </a:prstGeom>
          <a:noFill/>
          <a:ln/>
        </p:spPr>
        <p:txBody>
          <a:bodyPr wrap="none" lIns="0" tIns="0" rIns="0" bIns="0" rtlCol="0" anchor="ctr">
            <a:spAutoFit/>
          </a:bodyPr>
          <a:lstStyle/>
          <a:p>
            <a:pPr algn="ctr" indent="0" marL="0">
              <a:buNone/>
            </a:pPr>
            <a:r>
              <a:rPr lang="en-US" sz="600" b="1" dirty="0">
                <a:solidFill>
                  <a:srgbClr val="1A1714"/>
                </a:solidFill>
                <a:latin typeface="DM Mono" pitchFamily="34" charset="0"/>
                <a:ea typeface="DM Mono" pitchFamily="34" charset="-122"/>
                <a:cs typeface="DM Mono" pitchFamily="34" charset="-120"/>
              </a:rPr>
              <a:t>0.22</a:t>
            </a:r>
            <a:endParaRPr lang="en-US" sz="600" dirty="0"/>
          </a:p>
        </p:txBody>
      </p:sp>
      <p:sp>
        <p:nvSpPr>
          <p:cNvPr id="39" name="Shape 35"/>
          <p:cNvSpPr/>
          <p:nvPr/>
        </p:nvSpPr>
        <p:spPr>
          <a:xfrm>
            <a:off x="5329461" y="4299756"/>
            <a:ext cx="1351341" cy="228600"/>
          </a:xfrm>
          <a:prstGeom prst="rect">
            <a:avLst/>
          </a:prstGeom>
          <a:solidFill>
            <a:srgbClr val="C9A84C"/>
          </a:solidFill>
          <a:ln/>
        </p:spPr>
      </p:sp>
      <p:sp>
        <p:nvSpPr>
          <p:cNvPr id="40" name="Text 36"/>
          <p:cNvSpPr/>
          <p:nvPr/>
        </p:nvSpPr>
        <p:spPr>
          <a:xfrm>
            <a:off x="5329461" y="4299756"/>
            <a:ext cx="1351341" cy="228600"/>
          </a:xfrm>
          <a:prstGeom prst="rect">
            <a:avLst/>
          </a:prstGeom>
          <a:noFill/>
          <a:ln/>
        </p:spPr>
        <p:txBody>
          <a:bodyPr wrap="square" lIns="0" tIns="0" rIns="0" bIns="0" rtlCol="0" anchor="ctr">
            <a:spAutoFit/>
          </a:bodyPr>
          <a:lstStyle/>
          <a:p>
            <a:pPr algn="ctr" indent="0" marL="0">
              <a:buNone/>
            </a:pPr>
            <a:r>
              <a:rPr lang="en-US" sz="600" b="1" dirty="0">
                <a:solidFill>
                  <a:srgbClr val="1A1714"/>
                </a:solidFill>
                <a:latin typeface="DM Mono" pitchFamily="34" charset="0"/>
                <a:ea typeface="DM Mono" pitchFamily="34" charset="-122"/>
                <a:cs typeface="DM Mono" pitchFamily="34" charset="-120"/>
              </a:rPr>
              <a:t>0.34</a:t>
            </a:r>
            <a:endParaRPr lang="en-US" sz="600" dirty="0"/>
          </a:p>
        </p:txBody>
      </p:sp>
      <p:sp>
        <p:nvSpPr>
          <p:cNvPr id="41" name="Shape 37"/>
          <p:cNvSpPr/>
          <p:nvPr/>
        </p:nvSpPr>
        <p:spPr>
          <a:xfrm>
            <a:off x="6680802" y="4299756"/>
            <a:ext cx="874384" cy="228600"/>
          </a:xfrm>
          <a:prstGeom prst="rect">
            <a:avLst/>
          </a:prstGeom>
          <a:solidFill>
            <a:srgbClr val="6B8F67"/>
          </a:solidFill>
          <a:ln/>
        </p:spPr>
      </p:sp>
      <p:sp>
        <p:nvSpPr>
          <p:cNvPr id="42" name="Text 38"/>
          <p:cNvSpPr/>
          <p:nvPr/>
        </p:nvSpPr>
        <p:spPr>
          <a:xfrm>
            <a:off x="6680802" y="4299756"/>
            <a:ext cx="874384" cy="228600"/>
          </a:xfrm>
          <a:prstGeom prst="rect">
            <a:avLst/>
          </a:prstGeom>
          <a:noFill/>
          <a:ln/>
        </p:spPr>
        <p:txBody>
          <a:bodyPr wrap="none" lIns="0" tIns="0" rIns="0" bIns="0" rtlCol="0" anchor="ctr">
            <a:spAutoFit/>
          </a:bodyPr>
          <a:lstStyle/>
          <a:p>
            <a:pPr algn="ctr" indent="0" marL="0">
              <a:buNone/>
            </a:pPr>
            <a:r>
              <a:rPr lang="en-US" sz="600" b="1" dirty="0">
                <a:solidFill>
                  <a:srgbClr val="1A1714"/>
                </a:solidFill>
                <a:latin typeface="DM Mono" pitchFamily="34" charset="0"/>
                <a:ea typeface="DM Mono" pitchFamily="34" charset="-122"/>
                <a:cs typeface="DM Mono" pitchFamily="34" charset="-120"/>
              </a:rPr>
              <a:t>0.22</a:t>
            </a:r>
            <a:endParaRPr lang="en-US" sz="600" dirty="0"/>
          </a:p>
        </p:txBody>
      </p:sp>
      <p:sp>
        <p:nvSpPr>
          <p:cNvPr id="43" name="Shape 39"/>
          <p:cNvSpPr/>
          <p:nvPr/>
        </p:nvSpPr>
        <p:spPr>
          <a:xfrm>
            <a:off x="7555185" y="4299756"/>
            <a:ext cx="635905" cy="228600"/>
          </a:xfrm>
          <a:prstGeom prst="rect">
            <a:avLst/>
          </a:prstGeom>
          <a:solidFill>
            <a:srgbClr val="A8A8A8"/>
          </a:solidFill>
          <a:ln/>
        </p:spPr>
      </p:sp>
      <p:sp>
        <p:nvSpPr>
          <p:cNvPr id="44" name="Text 40"/>
          <p:cNvSpPr/>
          <p:nvPr/>
        </p:nvSpPr>
        <p:spPr>
          <a:xfrm>
            <a:off x="7555185" y="4299756"/>
            <a:ext cx="635905" cy="228600"/>
          </a:xfrm>
          <a:prstGeom prst="rect">
            <a:avLst/>
          </a:prstGeom>
          <a:noFill/>
          <a:ln/>
        </p:spPr>
        <p:txBody>
          <a:bodyPr wrap="none" lIns="0" tIns="0" rIns="0" bIns="0" rtlCol="0" anchor="ctr">
            <a:spAutoFit/>
          </a:bodyPr>
          <a:lstStyle/>
          <a:p>
            <a:pPr algn="ctr" indent="0" marL="0">
              <a:buNone/>
            </a:pPr>
            <a:r>
              <a:rPr lang="en-US" sz="600" b="1" dirty="0">
                <a:solidFill>
                  <a:srgbClr val="1A1714"/>
                </a:solidFill>
                <a:latin typeface="DM Mono" pitchFamily="34" charset="0"/>
                <a:ea typeface="DM Mono" pitchFamily="34" charset="-122"/>
                <a:cs typeface="DM Mono" pitchFamily="34" charset="-120"/>
              </a:rPr>
              <a:t>0.16</a:t>
            </a:r>
            <a:endParaRPr lang="en-US" sz="600" dirty="0"/>
          </a:p>
        </p:txBody>
      </p:sp>
      <p:sp>
        <p:nvSpPr>
          <p:cNvPr id="45" name="Shape 41"/>
          <p:cNvSpPr/>
          <p:nvPr/>
        </p:nvSpPr>
        <p:spPr>
          <a:xfrm>
            <a:off x="8191091" y="4299756"/>
            <a:ext cx="238423" cy="228600"/>
          </a:xfrm>
          <a:prstGeom prst="rect">
            <a:avLst/>
          </a:prstGeom>
          <a:solidFill>
            <a:srgbClr val="F9F7F4"/>
          </a:solidFill>
          <a:ln/>
        </p:spPr>
      </p:sp>
      <p:sp>
        <p:nvSpPr>
          <p:cNvPr id="46" name="Text 42"/>
          <p:cNvSpPr/>
          <p:nvPr/>
        </p:nvSpPr>
        <p:spPr>
          <a:xfrm>
            <a:off x="8191091" y="4299756"/>
            <a:ext cx="238423" cy="228600"/>
          </a:xfrm>
          <a:prstGeom prst="rect">
            <a:avLst/>
          </a:prstGeom>
          <a:noFill/>
          <a:ln/>
        </p:spPr>
        <p:txBody>
          <a:bodyPr wrap="none" lIns="0" tIns="0" rIns="0" bIns="0" rtlCol="0" anchor="ctr">
            <a:spAutoFit/>
          </a:bodyPr>
          <a:lstStyle/>
          <a:p>
            <a:pPr algn="ctr" indent="0" marL="0">
              <a:buNone/>
            </a:pPr>
            <a:r>
              <a:rPr lang="en-US" sz="600" b="1" dirty="0">
                <a:solidFill>
                  <a:srgbClr val="1A1714"/>
                </a:solidFill>
                <a:latin typeface="DM Mono" pitchFamily="34" charset="0"/>
                <a:ea typeface="DM Mono" pitchFamily="34" charset="-122"/>
                <a:cs typeface="DM Mono" pitchFamily="34" charset="-120"/>
              </a:rPr>
              <a:t>.06</a:t>
            </a:r>
            <a:endParaRPr lang="en-US" sz="600" dirty="0"/>
          </a:p>
        </p:txBody>
      </p:sp>
      <p:sp>
        <p:nvSpPr>
          <p:cNvPr id="47" name="Text 43"/>
          <p:cNvSpPr/>
          <p:nvPr/>
        </p:nvSpPr>
        <p:spPr>
          <a:xfrm>
            <a:off x="4455077" y="4585506"/>
            <a:ext cx="200025" cy="110728"/>
          </a:xfrm>
          <a:prstGeom prst="rect">
            <a:avLst/>
          </a:prstGeom>
          <a:noFill/>
          <a:ln/>
        </p:spPr>
        <p:txBody>
          <a:bodyPr wrap="none" lIns="0" tIns="0" rIns="0" bIns="0" rtlCol="0" anchor="t">
            <a:spAutoFit/>
          </a:bodyPr>
          <a:lstStyle/>
          <a:p>
            <a:pPr algn="l" indent="0" marL="0">
              <a:buNone/>
            </a:pPr>
            <a:r>
              <a:rPr lang="en-US" sz="600" dirty="0">
                <a:solidFill>
                  <a:srgbClr val="787878"/>
                </a:solidFill>
                <a:latin typeface="DM Mono" pitchFamily="34" charset="0"/>
                <a:ea typeface="DM Mono" pitchFamily="34" charset="-122"/>
                <a:cs typeface="DM Mono" pitchFamily="34" charset="-120"/>
              </a:rPr>
              <a:t>Base</a:t>
            </a:r>
            <a:endParaRPr lang="en-US" sz="600" dirty="0"/>
          </a:p>
        </p:txBody>
      </p:sp>
      <p:sp>
        <p:nvSpPr>
          <p:cNvPr id="48" name="Text 44"/>
          <p:cNvSpPr/>
          <p:nvPr/>
        </p:nvSpPr>
        <p:spPr>
          <a:xfrm>
            <a:off x="5161136" y="4585506"/>
            <a:ext cx="400050" cy="110728"/>
          </a:xfrm>
          <a:prstGeom prst="rect">
            <a:avLst/>
          </a:prstGeom>
          <a:noFill/>
          <a:ln/>
        </p:spPr>
        <p:txBody>
          <a:bodyPr wrap="none" lIns="0" tIns="0" rIns="0" bIns="0" rtlCol="0" anchor="t">
            <a:spAutoFit/>
          </a:bodyPr>
          <a:lstStyle/>
          <a:p>
            <a:pPr algn="l" indent="0" marL="0">
              <a:buNone/>
            </a:pPr>
            <a:r>
              <a:rPr lang="en-US" sz="600" dirty="0">
                <a:solidFill>
                  <a:srgbClr val="787878"/>
                </a:solidFill>
                <a:latin typeface="DM Mono" pitchFamily="34" charset="0"/>
                <a:ea typeface="DM Mono" pitchFamily="34" charset="-122"/>
                <a:cs typeface="DM Mono" pitchFamily="34" charset="-120"/>
              </a:rPr>
              <a:t>Mood (M)</a:t>
            </a:r>
            <a:endParaRPr lang="en-US" sz="600" dirty="0"/>
          </a:p>
        </p:txBody>
      </p:sp>
      <p:sp>
        <p:nvSpPr>
          <p:cNvPr id="49" name="Text 45"/>
          <p:cNvSpPr/>
          <p:nvPr/>
        </p:nvSpPr>
        <p:spPr>
          <a:xfrm>
            <a:off x="6067220" y="4585506"/>
            <a:ext cx="500063" cy="110728"/>
          </a:xfrm>
          <a:prstGeom prst="rect">
            <a:avLst/>
          </a:prstGeom>
          <a:noFill/>
          <a:ln/>
        </p:spPr>
        <p:txBody>
          <a:bodyPr wrap="none" lIns="0" tIns="0" rIns="0" bIns="0" rtlCol="0" anchor="t">
            <a:spAutoFit/>
          </a:bodyPr>
          <a:lstStyle/>
          <a:p>
            <a:pPr algn="l" indent="0" marL="0">
              <a:buNone/>
            </a:pPr>
            <a:r>
              <a:rPr lang="en-US" sz="600" dirty="0">
                <a:solidFill>
                  <a:srgbClr val="787878"/>
                </a:solidFill>
                <a:latin typeface="DM Mono" pitchFamily="34" charset="0"/>
                <a:ea typeface="DM Mono" pitchFamily="34" charset="-122"/>
                <a:cs typeface="DM Mono" pitchFamily="34" charset="-120"/>
              </a:rPr>
              <a:t>Season (S)</a:t>
            </a:r>
            <a:endParaRPr lang="en-US" sz="600" dirty="0"/>
          </a:p>
        </p:txBody>
      </p:sp>
      <p:sp>
        <p:nvSpPr>
          <p:cNvPr id="50" name="Text 46"/>
          <p:cNvSpPr/>
          <p:nvPr/>
        </p:nvSpPr>
        <p:spPr>
          <a:xfrm>
            <a:off x="7073317" y="4585506"/>
            <a:ext cx="400050" cy="110728"/>
          </a:xfrm>
          <a:prstGeom prst="rect">
            <a:avLst/>
          </a:prstGeom>
          <a:noFill/>
          <a:ln/>
        </p:spPr>
        <p:txBody>
          <a:bodyPr wrap="none" lIns="0" tIns="0" rIns="0" bIns="0" rtlCol="0" anchor="t">
            <a:spAutoFit/>
          </a:bodyPr>
          <a:lstStyle/>
          <a:p>
            <a:pPr algn="l" indent="0" marL="0">
              <a:buNone/>
            </a:pPr>
            <a:r>
              <a:rPr lang="en-US" sz="600" dirty="0">
                <a:solidFill>
                  <a:srgbClr val="787878"/>
                </a:solidFill>
                <a:latin typeface="DM Mono" pitchFamily="34" charset="0"/>
                <a:ea typeface="DM Mono" pitchFamily="34" charset="-122"/>
                <a:cs typeface="DM Mono" pitchFamily="34" charset="-120"/>
              </a:rPr>
              <a:t>Door (D)</a:t>
            </a:r>
            <a:endParaRPr lang="en-US" sz="600" dirty="0"/>
          </a:p>
        </p:txBody>
      </p:sp>
      <p:sp>
        <p:nvSpPr>
          <p:cNvPr id="51" name="Text 47"/>
          <p:cNvSpPr/>
          <p:nvPr/>
        </p:nvSpPr>
        <p:spPr>
          <a:xfrm>
            <a:off x="7979401" y="4585506"/>
            <a:ext cx="450056" cy="110728"/>
          </a:xfrm>
          <a:prstGeom prst="rect">
            <a:avLst/>
          </a:prstGeom>
          <a:noFill/>
          <a:ln/>
        </p:spPr>
        <p:txBody>
          <a:bodyPr wrap="none" lIns="0" tIns="0" rIns="0" bIns="0" rtlCol="0" anchor="t">
            <a:spAutoFit/>
          </a:bodyPr>
          <a:lstStyle/>
          <a:p>
            <a:pPr algn="l" indent="0" marL="0">
              <a:buNone/>
            </a:pPr>
            <a:r>
              <a:rPr lang="en-US" sz="600" dirty="0">
                <a:solidFill>
                  <a:srgbClr val="787878"/>
                </a:solidFill>
                <a:latin typeface="DM Mono" pitchFamily="34" charset="0"/>
                <a:ea typeface="DM Mono" pitchFamily="34" charset="-122"/>
                <a:cs typeface="DM Mono" pitchFamily="34" charset="-120"/>
              </a:rPr>
              <a:t>Avail (A)</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714375" y="571500"/>
            <a:ext cx="7715250" cy="482203"/>
          </a:xfrm>
          <a:prstGeom prst="rect">
            <a:avLst/>
          </a:prstGeom>
          <a:noFill/>
          <a:ln/>
        </p:spPr>
        <p:txBody>
          <a:bodyPr wrap="square" lIns="0" tIns="0" rIns="0" bIns="0" rtlCol="0" anchor="t">
            <a:spAutoFit/>
          </a:bodyPr>
          <a:lstStyle/>
          <a:p>
            <a:pPr algn="l" indent="0" marL="0">
              <a:buNone/>
            </a:pPr>
            <a:r>
              <a:rPr lang="en-US" sz="3050" dirty="0">
                <a:solidFill>
                  <a:srgbClr val="C9A84C"/>
                </a:solidFill>
                <a:latin typeface="Cormorant Garamond" pitchFamily="34" charset="0"/>
                <a:ea typeface="Cormorant Garamond" pitchFamily="34" charset="-122"/>
                <a:cs typeface="Cormorant Garamond" pitchFamily="34" charset="-120"/>
              </a:rPr>
              <a:t>A warm winter wreath on dark wood scores 1.00.</a:t>
            </a:r>
            <a:endParaRPr lang="en-US" sz="3050" dirty="0"/>
          </a:p>
        </p:txBody>
      </p:sp>
      <p:sp>
        <p:nvSpPr>
          <p:cNvPr id="5" name="Text 1"/>
          <p:cNvSpPr/>
          <p:nvPr/>
        </p:nvSpPr>
        <p:spPr>
          <a:xfrm>
            <a:off x="714375" y="1339453"/>
            <a:ext cx="846534" cy="453628"/>
          </a:xfrm>
          <a:prstGeom prst="rect">
            <a:avLst/>
          </a:prstGeom>
          <a:noFill/>
          <a:ln/>
        </p:spPr>
        <p:txBody>
          <a:bodyPr wrap="none" lIns="102108" tIns="136017" rIns="102108" bIns="136017" rtlCol="0" anchor="ctr">
            <a:spAutoFit/>
          </a:bodyPr>
          <a:lstStyle/>
          <a:p>
            <a:pPr algn="l" indent="0" marL="0">
              <a:buNone/>
            </a:pPr>
            <a:r>
              <a:rPr lang="en-US" sz="600" spc="1" kern="0" dirty="0">
                <a:solidFill>
                  <a:srgbClr val="A8A8A8"/>
                </a:solidFill>
                <a:latin typeface="DM Mono" pitchFamily="34" charset="0"/>
                <a:ea typeface="DM Mono" pitchFamily="34" charset="-122"/>
                <a:cs typeface="DM Mono" pitchFamily="34" charset="-120"/>
              </a:rPr>
              <a:t>STEP</a:t>
            </a:r>
            <a:endParaRPr lang="en-US" sz="600" dirty="0"/>
          </a:p>
        </p:txBody>
      </p:sp>
      <p:sp>
        <p:nvSpPr>
          <p:cNvPr id="6" name="Text 2"/>
          <p:cNvSpPr/>
          <p:nvPr/>
        </p:nvSpPr>
        <p:spPr>
          <a:xfrm>
            <a:off x="1560909" y="1339453"/>
            <a:ext cx="2309552" cy="453628"/>
          </a:xfrm>
          <a:prstGeom prst="rect">
            <a:avLst/>
          </a:prstGeom>
          <a:noFill/>
          <a:ln/>
        </p:spPr>
        <p:txBody>
          <a:bodyPr wrap="square" lIns="102108" tIns="136017" rIns="102108" bIns="136017" rtlCol="0" anchor="ctr">
            <a:spAutoFit/>
          </a:bodyPr>
          <a:lstStyle/>
          <a:p>
            <a:pPr algn="l" indent="0" marL="0">
              <a:buNone/>
            </a:pPr>
            <a:r>
              <a:rPr lang="en-US" sz="600" spc="1" kern="0" dirty="0">
                <a:solidFill>
                  <a:srgbClr val="A8A8A8"/>
                </a:solidFill>
                <a:latin typeface="DM Mono" pitchFamily="34" charset="0"/>
                <a:ea typeface="DM Mono" pitchFamily="34" charset="-122"/>
                <a:cs typeface="DM Mono" pitchFamily="34" charset="-120"/>
              </a:rPr>
              <a:t>EVIDENCE</a:t>
            </a:r>
            <a:endParaRPr lang="en-US" sz="600" dirty="0"/>
          </a:p>
        </p:txBody>
      </p:sp>
      <p:sp>
        <p:nvSpPr>
          <p:cNvPr id="7" name="Text 3"/>
          <p:cNvSpPr/>
          <p:nvPr/>
        </p:nvSpPr>
        <p:spPr>
          <a:xfrm>
            <a:off x="3870461" y="1339453"/>
            <a:ext cx="674470" cy="453628"/>
          </a:xfrm>
          <a:prstGeom prst="rect">
            <a:avLst/>
          </a:prstGeom>
          <a:noFill/>
          <a:ln/>
        </p:spPr>
        <p:txBody>
          <a:bodyPr wrap="none" lIns="102108" tIns="136017" rIns="102108" bIns="136017" rtlCol="0" anchor="ctr">
            <a:spAutoFit/>
          </a:bodyPr>
          <a:lstStyle/>
          <a:p>
            <a:pPr algn="r" indent="0" marL="0">
              <a:buNone/>
            </a:pPr>
            <a:r>
              <a:rPr lang="en-US" sz="600" spc="1" kern="0" dirty="0">
                <a:solidFill>
                  <a:srgbClr val="A8A8A8"/>
                </a:solidFill>
                <a:latin typeface="DM Mono" pitchFamily="34" charset="0"/>
                <a:ea typeface="DM Mono" pitchFamily="34" charset="-122"/>
                <a:cs typeface="DM Mono" pitchFamily="34" charset="-120"/>
              </a:rPr>
              <a:t>SCORE CHANGE</a:t>
            </a:r>
            <a:endParaRPr lang="en-US" sz="600" dirty="0"/>
          </a:p>
        </p:txBody>
      </p:sp>
      <p:sp>
        <p:nvSpPr>
          <p:cNvPr id="8" name="Text 4"/>
          <p:cNvSpPr/>
          <p:nvPr/>
        </p:nvSpPr>
        <p:spPr>
          <a:xfrm>
            <a:off x="4544932" y="1339453"/>
            <a:ext cx="731900" cy="453628"/>
          </a:xfrm>
          <a:prstGeom prst="rect">
            <a:avLst/>
          </a:prstGeom>
          <a:noFill/>
          <a:ln/>
        </p:spPr>
        <p:txBody>
          <a:bodyPr wrap="none" lIns="102108" tIns="136017" rIns="102108" bIns="136017" rtlCol="0" anchor="ctr">
            <a:spAutoFit/>
          </a:bodyPr>
          <a:lstStyle/>
          <a:p>
            <a:pPr algn="r" indent="0" marL="0">
              <a:buNone/>
            </a:pPr>
            <a:r>
              <a:rPr lang="en-US" sz="600" spc="1" kern="0" dirty="0">
                <a:solidFill>
                  <a:srgbClr val="A8A8A8"/>
                </a:solidFill>
                <a:latin typeface="DM Mono" pitchFamily="34" charset="0"/>
                <a:ea typeface="DM Mono" pitchFamily="34" charset="-122"/>
                <a:cs typeface="DM Mono" pitchFamily="34" charset="-120"/>
              </a:rPr>
              <a:t>RUNNING SCORE</a:t>
            </a:r>
            <a:endParaRPr lang="en-US" sz="600" dirty="0"/>
          </a:p>
        </p:txBody>
      </p:sp>
      <p:sp>
        <p:nvSpPr>
          <p:cNvPr id="9" name="Text 5"/>
          <p:cNvSpPr/>
          <p:nvPr/>
        </p:nvSpPr>
        <p:spPr>
          <a:xfrm>
            <a:off x="714375" y="1793081"/>
            <a:ext cx="846534" cy="403622"/>
          </a:xfrm>
          <a:prstGeom prst="rect">
            <a:avLst/>
          </a:prstGeom>
          <a:noFill/>
          <a:ln/>
        </p:spPr>
        <p:txBody>
          <a:bodyPr wrap="none" lIns="102108" tIns="136017" rIns="102108" bIns="136017" rtlCol="0" anchor="ctr">
            <a:spAutoFit/>
          </a:bodyPr>
          <a:lstStyle/>
          <a:p>
            <a:pPr algn="l" indent="0" marL="0">
              <a:buNone/>
            </a:pPr>
            <a:r>
              <a:rPr lang="en-US" sz="900" b="1" dirty="0">
                <a:solidFill>
                  <a:srgbClr val="C9A84C"/>
                </a:solidFill>
                <a:latin typeface="Inter SemiBold" pitchFamily="34" charset="0"/>
                <a:ea typeface="Inter SemiBold" pitchFamily="34" charset="-122"/>
                <a:cs typeface="Inter SemiBold" pitchFamily="34" charset="-120"/>
              </a:rPr>
              <a:t>Baseline</a:t>
            </a:r>
            <a:endParaRPr lang="en-US" sz="900" dirty="0"/>
          </a:p>
        </p:txBody>
      </p:sp>
      <p:sp>
        <p:nvSpPr>
          <p:cNvPr id="10" name="Text 6"/>
          <p:cNvSpPr/>
          <p:nvPr/>
        </p:nvSpPr>
        <p:spPr>
          <a:xfrm>
            <a:off x="1560909" y="1793081"/>
            <a:ext cx="2309552" cy="403622"/>
          </a:xfrm>
          <a:prstGeom prst="rect">
            <a:avLst/>
          </a:prstGeom>
          <a:noFill/>
          <a:ln/>
        </p:spPr>
        <p:txBody>
          <a:bodyPr wrap="square" lIns="102108" tIns="136017" rIns="102108" bIns="136017" rtlCol="0" anchor="ctr">
            <a:spAutoFit/>
          </a:bodyPr>
          <a:lstStyle/>
          <a:p>
            <a:pPr algn="l" indent="0" marL="0">
              <a:buNone/>
            </a:pPr>
            <a:r>
              <a:rPr lang="en-US" sz="950" dirty="0">
                <a:solidFill>
                  <a:srgbClr val="E8E8E8"/>
                </a:solidFill>
                <a:latin typeface="Inter Light" pitchFamily="34" charset="0"/>
                <a:ea typeface="Inter Light" pitchFamily="34" charset="-122"/>
                <a:cs typeface="Inter Light" pitchFamily="34" charset="-120"/>
              </a:rPr>
              <a:t>Eligible candidate</a:t>
            </a:r>
            <a:endParaRPr lang="en-US" sz="950" dirty="0"/>
          </a:p>
        </p:txBody>
      </p:sp>
      <p:sp>
        <p:nvSpPr>
          <p:cNvPr id="11" name="Text 7"/>
          <p:cNvSpPr/>
          <p:nvPr/>
        </p:nvSpPr>
        <p:spPr>
          <a:xfrm>
            <a:off x="3870461" y="1793081"/>
            <a:ext cx="674470" cy="403622"/>
          </a:xfrm>
          <a:prstGeom prst="rect">
            <a:avLst/>
          </a:prstGeom>
          <a:noFill/>
          <a:ln/>
        </p:spPr>
        <p:txBody>
          <a:bodyPr wrap="none" lIns="102108" tIns="136017" rIns="102108" bIns="136017" rtlCol="0" anchor="ctr">
            <a:spAutoFit/>
          </a:bodyPr>
          <a:lstStyle/>
          <a:p>
            <a:pPr algn="r" indent="0" marL="0">
              <a:buNone/>
            </a:pPr>
            <a:r>
              <a:rPr lang="en-US" sz="950" dirty="0">
                <a:solidFill>
                  <a:srgbClr val="E8E8E8"/>
                </a:solidFill>
                <a:latin typeface="Inter Light" pitchFamily="34" charset="0"/>
                <a:ea typeface="Inter Light" pitchFamily="34" charset="-122"/>
                <a:cs typeface="Inter Light" pitchFamily="34" charset="-120"/>
              </a:rPr>
              <a:t>+0.22</a:t>
            </a:r>
            <a:endParaRPr lang="en-US" sz="950" dirty="0"/>
          </a:p>
        </p:txBody>
      </p:sp>
      <p:sp>
        <p:nvSpPr>
          <p:cNvPr id="12" name="Text 8"/>
          <p:cNvSpPr/>
          <p:nvPr/>
        </p:nvSpPr>
        <p:spPr>
          <a:xfrm>
            <a:off x="4544932" y="1793081"/>
            <a:ext cx="731900" cy="403622"/>
          </a:xfrm>
          <a:prstGeom prst="rect">
            <a:avLst/>
          </a:prstGeom>
          <a:noFill/>
          <a:ln/>
        </p:spPr>
        <p:txBody>
          <a:bodyPr wrap="none" lIns="102108" tIns="136017" rIns="102108" bIns="136017" rtlCol="0" anchor="ctr">
            <a:spAutoFit/>
          </a:bodyPr>
          <a:lstStyle/>
          <a:p>
            <a:pPr algn="r" indent="0" marL="0">
              <a:buNone/>
            </a:pPr>
            <a:r>
              <a:rPr lang="en-US" sz="900" b="1" dirty="0">
                <a:solidFill>
                  <a:srgbClr val="F9F7F4"/>
                </a:solidFill>
                <a:latin typeface="DM Mono" pitchFamily="34" charset="0"/>
                <a:ea typeface="DM Mono" pitchFamily="34" charset="-122"/>
                <a:cs typeface="DM Mono" pitchFamily="34" charset="-120"/>
              </a:rPr>
              <a:t>0.22</a:t>
            </a:r>
            <a:endParaRPr lang="en-US" sz="900" dirty="0"/>
          </a:p>
        </p:txBody>
      </p:sp>
      <p:sp>
        <p:nvSpPr>
          <p:cNvPr id="13" name="Text 9"/>
          <p:cNvSpPr/>
          <p:nvPr/>
        </p:nvSpPr>
        <p:spPr>
          <a:xfrm>
            <a:off x="714375" y="2196703"/>
            <a:ext cx="846534" cy="550069"/>
          </a:xfrm>
          <a:prstGeom prst="rect">
            <a:avLst/>
          </a:prstGeom>
          <a:noFill/>
          <a:ln/>
        </p:spPr>
        <p:txBody>
          <a:bodyPr wrap="none" lIns="102108" tIns="136017" rIns="102108" bIns="136017" rtlCol="0" anchor="ctr">
            <a:spAutoFit/>
          </a:bodyPr>
          <a:lstStyle/>
          <a:p>
            <a:pPr algn="l" indent="0" marL="0">
              <a:buNone/>
            </a:pPr>
            <a:r>
              <a:rPr lang="en-US" sz="900" b="1" dirty="0">
                <a:solidFill>
                  <a:srgbClr val="C9A84C"/>
                </a:solidFill>
                <a:latin typeface="Inter SemiBold" pitchFamily="34" charset="0"/>
                <a:ea typeface="Inter SemiBold" pitchFamily="34" charset="-122"/>
                <a:cs typeface="Inter SemiBold" pitchFamily="34" charset="-120"/>
              </a:rPr>
              <a:t>Mood</a:t>
            </a:r>
            <a:endParaRPr lang="en-US" sz="900" dirty="0"/>
          </a:p>
        </p:txBody>
      </p:sp>
      <p:sp>
        <p:nvSpPr>
          <p:cNvPr id="14" name="Text 10"/>
          <p:cNvSpPr/>
          <p:nvPr/>
        </p:nvSpPr>
        <p:spPr>
          <a:xfrm>
            <a:off x="1560909" y="2196703"/>
            <a:ext cx="2309552" cy="550069"/>
          </a:xfrm>
          <a:prstGeom prst="rect">
            <a:avLst/>
          </a:prstGeom>
          <a:noFill/>
          <a:ln/>
        </p:spPr>
        <p:txBody>
          <a:bodyPr wrap="square" lIns="102108" tIns="136017" rIns="102108" bIns="136017" rtlCol="0" anchor="ctr">
            <a:spAutoFit/>
          </a:bodyPr>
          <a:lstStyle/>
          <a:p>
            <a:pPr algn="l" indent="0" marL="0">
              <a:buNone/>
            </a:pPr>
            <a:r>
              <a:rPr lang="en-US" sz="950" dirty="0">
                <a:solidFill>
                  <a:srgbClr val="E8E8E8"/>
                </a:solidFill>
                <a:latin typeface="Inter Light" pitchFamily="34" charset="0"/>
                <a:ea typeface="Inter Light" pitchFamily="34" charset="-122"/>
                <a:cs typeface="Inter Light" pitchFamily="34" charset="-120"/>
              </a:rPr>
              <a:t>“warm” / “hearth” appears in title, summary, tags, palette, or formula</a:t>
            </a:r>
            <a:endParaRPr lang="en-US" sz="950" dirty="0"/>
          </a:p>
        </p:txBody>
      </p:sp>
      <p:sp>
        <p:nvSpPr>
          <p:cNvPr id="15" name="Text 11"/>
          <p:cNvSpPr/>
          <p:nvPr/>
        </p:nvSpPr>
        <p:spPr>
          <a:xfrm>
            <a:off x="3870461" y="2196703"/>
            <a:ext cx="674470" cy="550069"/>
          </a:xfrm>
          <a:prstGeom prst="rect">
            <a:avLst/>
          </a:prstGeom>
          <a:noFill/>
          <a:ln/>
        </p:spPr>
        <p:txBody>
          <a:bodyPr wrap="none" lIns="102108" tIns="136017" rIns="102108" bIns="136017" rtlCol="0" anchor="ctr">
            <a:spAutoFit/>
          </a:bodyPr>
          <a:lstStyle/>
          <a:p>
            <a:pPr algn="r" indent="0" marL="0">
              <a:buNone/>
            </a:pPr>
            <a:r>
              <a:rPr lang="en-US" sz="950" dirty="0">
                <a:solidFill>
                  <a:srgbClr val="E8E8E8"/>
                </a:solidFill>
                <a:latin typeface="Inter Light" pitchFamily="34" charset="0"/>
                <a:ea typeface="Inter Light" pitchFamily="34" charset="-122"/>
                <a:cs typeface="Inter Light" pitchFamily="34" charset="-120"/>
              </a:rPr>
              <a:t>+0.34</a:t>
            </a:r>
            <a:endParaRPr lang="en-US" sz="950" dirty="0"/>
          </a:p>
        </p:txBody>
      </p:sp>
      <p:sp>
        <p:nvSpPr>
          <p:cNvPr id="16" name="Text 12"/>
          <p:cNvSpPr/>
          <p:nvPr/>
        </p:nvSpPr>
        <p:spPr>
          <a:xfrm>
            <a:off x="4544932" y="2196703"/>
            <a:ext cx="731900" cy="550069"/>
          </a:xfrm>
          <a:prstGeom prst="rect">
            <a:avLst/>
          </a:prstGeom>
          <a:noFill/>
          <a:ln/>
        </p:spPr>
        <p:txBody>
          <a:bodyPr wrap="none" lIns="102108" tIns="136017" rIns="102108" bIns="136017" rtlCol="0" anchor="ctr">
            <a:spAutoFit/>
          </a:bodyPr>
          <a:lstStyle/>
          <a:p>
            <a:pPr algn="r" indent="0" marL="0">
              <a:buNone/>
            </a:pPr>
            <a:r>
              <a:rPr lang="en-US" sz="900" b="1" dirty="0">
                <a:solidFill>
                  <a:srgbClr val="F9F7F4"/>
                </a:solidFill>
                <a:latin typeface="DM Mono" pitchFamily="34" charset="0"/>
                <a:ea typeface="DM Mono" pitchFamily="34" charset="-122"/>
                <a:cs typeface="DM Mono" pitchFamily="34" charset="-120"/>
              </a:rPr>
              <a:t>0.56</a:t>
            </a:r>
            <a:endParaRPr lang="en-US" sz="900" dirty="0"/>
          </a:p>
        </p:txBody>
      </p:sp>
      <p:sp>
        <p:nvSpPr>
          <p:cNvPr id="17" name="Text 13"/>
          <p:cNvSpPr/>
          <p:nvPr/>
        </p:nvSpPr>
        <p:spPr>
          <a:xfrm>
            <a:off x="714375" y="2746772"/>
            <a:ext cx="846534" cy="550069"/>
          </a:xfrm>
          <a:prstGeom prst="rect">
            <a:avLst/>
          </a:prstGeom>
          <a:noFill/>
          <a:ln/>
        </p:spPr>
        <p:txBody>
          <a:bodyPr wrap="none" lIns="102108" tIns="136017" rIns="102108" bIns="136017" rtlCol="0" anchor="ctr">
            <a:spAutoFit/>
          </a:bodyPr>
          <a:lstStyle/>
          <a:p>
            <a:pPr algn="l" indent="0" marL="0">
              <a:buNone/>
            </a:pPr>
            <a:r>
              <a:rPr lang="en-US" sz="900" b="1" dirty="0">
                <a:solidFill>
                  <a:srgbClr val="C9A84C"/>
                </a:solidFill>
                <a:latin typeface="Inter SemiBold" pitchFamily="34" charset="0"/>
                <a:ea typeface="Inter SemiBold" pitchFamily="34" charset="-122"/>
                <a:cs typeface="Inter SemiBold" pitchFamily="34" charset="-120"/>
              </a:rPr>
              <a:t>Season</a:t>
            </a:r>
            <a:endParaRPr lang="en-US" sz="900" dirty="0"/>
          </a:p>
        </p:txBody>
      </p:sp>
      <p:sp>
        <p:nvSpPr>
          <p:cNvPr id="18" name="Text 14"/>
          <p:cNvSpPr/>
          <p:nvPr/>
        </p:nvSpPr>
        <p:spPr>
          <a:xfrm>
            <a:off x="1560909" y="2746772"/>
            <a:ext cx="2309552" cy="550069"/>
          </a:xfrm>
          <a:prstGeom prst="rect">
            <a:avLst/>
          </a:prstGeom>
          <a:noFill/>
          <a:ln/>
        </p:spPr>
        <p:txBody>
          <a:bodyPr wrap="square" lIns="102108" tIns="136017" rIns="102108" bIns="136017" rtlCol="0" anchor="ctr">
            <a:spAutoFit/>
          </a:bodyPr>
          <a:lstStyle/>
          <a:p>
            <a:pPr algn="l" indent="0" marL="0">
              <a:buNone/>
            </a:pPr>
            <a:r>
              <a:rPr lang="en-US" sz="950" dirty="0">
                <a:solidFill>
                  <a:srgbClr val="E8E8E8"/>
                </a:solidFill>
                <a:latin typeface="Inter Light" pitchFamily="34" charset="0"/>
                <a:ea typeface="Inter Light" pitchFamily="34" charset="-122"/>
                <a:cs typeface="Inter Light" pitchFamily="34" charset="-120"/>
              </a:rPr>
              <a:t>“winter” appears in season tags or public listing text</a:t>
            </a:r>
            <a:endParaRPr lang="en-US" sz="950" dirty="0"/>
          </a:p>
        </p:txBody>
      </p:sp>
      <p:sp>
        <p:nvSpPr>
          <p:cNvPr id="19" name="Text 15"/>
          <p:cNvSpPr/>
          <p:nvPr/>
        </p:nvSpPr>
        <p:spPr>
          <a:xfrm>
            <a:off x="3870461" y="2746772"/>
            <a:ext cx="674470" cy="550069"/>
          </a:xfrm>
          <a:prstGeom prst="rect">
            <a:avLst/>
          </a:prstGeom>
          <a:noFill/>
          <a:ln/>
        </p:spPr>
        <p:txBody>
          <a:bodyPr wrap="none" lIns="102108" tIns="136017" rIns="102108" bIns="136017" rtlCol="0" anchor="ctr">
            <a:spAutoFit/>
          </a:bodyPr>
          <a:lstStyle/>
          <a:p>
            <a:pPr algn="r" indent="0" marL="0">
              <a:buNone/>
            </a:pPr>
            <a:r>
              <a:rPr lang="en-US" sz="950" dirty="0">
                <a:solidFill>
                  <a:srgbClr val="E8E8E8"/>
                </a:solidFill>
                <a:latin typeface="Inter Light" pitchFamily="34" charset="0"/>
                <a:ea typeface="Inter Light" pitchFamily="34" charset="-122"/>
                <a:cs typeface="Inter Light" pitchFamily="34" charset="-120"/>
              </a:rPr>
              <a:t>+0.22</a:t>
            </a:r>
            <a:endParaRPr lang="en-US" sz="950" dirty="0"/>
          </a:p>
        </p:txBody>
      </p:sp>
      <p:sp>
        <p:nvSpPr>
          <p:cNvPr id="20" name="Text 16"/>
          <p:cNvSpPr/>
          <p:nvPr/>
        </p:nvSpPr>
        <p:spPr>
          <a:xfrm>
            <a:off x="4544932" y="2746772"/>
            <a:ext cx="731900" cy="550069"/>
          </a:xfrm>
          <a:prstGeom prst="rect">
            <a:avLst/>
          </a:prstGeom>
          <a:noFill/>
          <a:ln/>
        </p:spPr>
        <p:txBody>
          <a:bodyPr wrap="none" lIns="102108" tIns="136017" rIns="102108" bIns="136017" rtlCol="0" anchor="ctr">
            <a:spAutoFit/>
          </a:bodyPr>
          <a:lstStyle/>
          <a:p>
            <a:pPr algn="r" indent="0" marL="0">
              <a:buNone/>
            </a:pPr>
            <a:r>
              <a:rPr lang="en-US" sz="900" b="1" dirty="0">
                <a:solidFill>
                  <a:srgbClr val="F9F7F4"/>
                </a:solidFill>
                <a:latin typeface="DM Mono" pitchFamily="34" charset="0"/>
                <a:ea typeface="DM Mono" pitchFamily="34" charset="-122"/>
                <a:cs typeface="DM Mono" pitchFamily="34" charset="-120"/>
              </a:rPr>
              <a:t>0.78</a:t>
            </a:r>
            <a:endParaRPr lang="en-US" sz="900" dirty="0"/>
          </a:p>
        </p:txBody>
      </p:sp>
      <p:sp>
        <p:nvSpPr>
          <p:cNvPr id="21" name="Text 17"/>
          <p:cNvSpPr/>
          <p:nvPr/>
        </p:nvSpPr>
        <p:spPr>
          <a:xfrm>
            <a:off x="714375" y="3296841"/>
            <a:ext cx="846534" cy="550069"/>
          </a:xfrm>
          <a:prstGeom prst="rect">
            <a:avLst/>
          </a:prstGeom>
          <a:noFill/>
          <a:ln/>
        </p:spPr>
        <p:txBody>
          <a:bodyPr wrap="none" lIns="102108" tIns="136017" rIns="102108" bIns="136017" rtlCol="0" anchor="ctr">
            <a:spAutoFit/>
          </a:bodyPr>
          <a:lstStyle/>
          <a:p>
            <a:pPr algn="l" indent="0" marL="0">
              <a:buNone/>
            </a:pPr>
            <a:r>
              <a:rPr lang="en-US" sz="900" b="1" dirty="0">
                <a:solidFill>
                  <a:srgbClr val="C9A84C"/>
                </a:solidFill>
                <a:latin typeface="Inter SemiBold" pitchFamily="34" charset="0"/>
                <a:ea typeface="Inter SemiBold" pitchFamily="34" charset="-122"/>
                <a:cs typeface="Inter SemiBold" pitchFamily="34" charset="-120"/>
              </a:rPr>
              <a:t>Door</a:t>
            </a:r>
            <a:endParaRPr lang="en-US" sz="900" dirty="0"/>
          </a:p>
        </p:txBody>
      </p:sp>
      <p:sp>
        <p:nvSpPr>
          <p:cNvPr id="22" name="Text 18"/>
          <p:cNvSpPr/>
          <p:nvPr/>
        </p:nvSpPr>
        <p:spPr>
          <a:xfrm>
            <a:off x="1560909" y="3296841"/>
            <a:ext cx="2309552" cy="550069"/>
          </a:xfrm>
          <a:prstGeom prst="rect">
            <a:avLst/>
          </a:prstGeom>
          <a:noFill/>
          <a:ln/>
        </p:spPr>
        <p:txBody>
          <a:bodyPr wrap="square" lIns="102108" tIns="136017" rIns="102108" bIns="136017" rtlCol="0" anchor="ctr">
            <a:spAutoFit/>
          </a:bodyPr>
          <a:lstStyle/>
          <a:p>
            <a:pPr algn="l" indent="0" marL="0">
              <a:buNone/>
            </a:pPr>
            <a:r>
              <a:rPr lang="en-US" sz="950" dirty="0">
                <a:solidFill>
                  <a:srgbClr val="E8E8E8"/>
                </a:solidFill>
                <a:latin typeface="Inter Light" pitchFamily="34" charset="0"/>
                <a:ea typeface="Inter Light" pitchFamily="34" charset="-122"/>
                <a:cs typeface="Inter Light" pitchFamily="34" charset="-120"/>
              </a:rPr>
              <a:t>“warm”, “golden”, “ivory”, “contrast”, or “evergreen” appears</a:t>
            </a:r>
            <a:endParaRPr lang="en-US" sz="950" dirty="0"/>
          </a:p>
        </p:txBody>
      </p:sp>
      <p:sp>
        <p:nvSpPr>
          <p:cNvPr id="23" name="Text 19"/>
          <p:cNvSpPr/>
          <p:nvPr/>
        </p:nvSpPr>
        <p:spPr>
          <a:xfrm>
            <a:off x="3870461" y="3296841"/>
            <a:ext cx="674470" cy="550069"/>
          </a:xfrm>
          <a:prstGeom prst="rect">
            <a:avLst/>
          </a:prstGeom>
          <a:noFill/>
          <a:ln/>
        </p:spPr>
        <p:txBody>
          <a:bodyPr wrap="none" lIns="102108" tIns="136017" rIns="102108" bIns="136017" rtlCol="0" anchor="ctr">
            <a:spAutoFit/>
          </a:bodyPr>
          <a:lstStyle/>
          <a:p>
            <a:pPr algn="r" indent="0" marL="0">
              <a:buNone/>
            </a:pPr>
            <a:r>
              <a:rPr lang="en-US" sz="950" dirty="0">
                <a:solidFill>
                  <a:srgbClr val="E8E8E8"/>
                </a:solidFill>
                <a:latin typeface="Inter Light" pitchFamily="34" charset="0"/>
                <a:ea typeface="Inter Light" pitchFamily="34" charset="-122"/>
                <a:cs typeface="Inter Light" pitchFamily="34" charset="-120"/>
              </a:rPr>
              <a:t>+0.16</a:t>
            </a:r>
            <a:endParaRPr lang="en-US" sz="950" dirty="0"/>
          </a:p>
        </p:txBody>
      </p:sp>
      <p:sp>
        <p:nvSpPr>
          <p:cNvPr id="24" name="Text 20"/>
          <p:cNvSpPr/>
          <p:nvPr/>
        </p:nvSpPr>
        <p:spPr>
          <a:xfrm>
            <a:off x="4544932" y="3296841"/>
            <a:ext cx="731900" cy="550069"/>
          </a:xfrm>
          <a:prstGeom prst="rect">
            <a:avLst/>
          </a:prstGeom>
          <a:noFill/>
          <a:ln/>
        </p:spPr>
        <p:txBody>
          <a:bodyPr wrap="none" lIns="102108" tIns="136017" rIns="102108" bIns="136017" rtlCol="0" anchor="ctr">
            <a:spAutoFit/>
          </a:bodyPr>
          <a:lstStyle/>
          <a:p>
            <a:pPr algn="r" indent="0" marL="0">
              <a:buNone/>
            </a:pPr>
            <a:r>
              <a:rPr lang="en-US" sz="900" b="1" dirty="0">
                <a:solidFill>
                  <a:srgbClr val="F9F7F4"/>
                </a:solidFill>
                <a:latin typeface="DM Mono" pitchFamily="34" charset="0"/>
                <a:ea typeface="DM Mono" pitchFamily="34" charset="-122"/>
                <a:cs typeface="DM Mono" pitchFamily="34" charset="-120"/>
              </a:rPr>
              <a:t>0.94</a:t>
            </a:r>
            <a:endParaRPr lang="en-US" sz="900" dirty="0"/>
          </a:p>
        </p:txBody>
      </p:sp>
      <p:sp>
        <p:nvSpPr>
          <p:cNvPr id="25" name="Text 21"/>
          <p:cNvSpPr/>
          <p:nvPr/>
        </p:nvSpPr>
        <p:spPr>
          <a:xfrm>
            <a:off x="714375" y="3846909"/>
            <a:ext cx="846534" cy="446484"/>
          </a:xfrm>
          <a:prstGeom prst="rect">
            <a:avLst/>
          </a:prstGeom>
          <a:noFill/>
          <a:ln/>
        </p:spPr>
        <p:txBody>
          <a:bodyPr wrap="none" lIns="102108" tIns="136017" rIns="102108" bIns="136017" rtlCol="0" anchor="ctr">
            <a:spAutoFit/>
          </a:bodyPr>
          <a:lstStyle/>
          <a:p>
            <a:pPr algn="l" indent="0" marL="0">
              <a:buNone/>
            </a:pPr>
            <a:r>
              <a:rPr lang="en-US" sz="900" b="1" dirty="0">
                <a:solidFill>
                  <a:srgbClr val="C9A84C"/>
                </a:solidFill>
                <a:latin typeface="Inter SemiBold" pitchFamily="34" charset="0"/>
                <a:ea typeface="Inter SemiBold" pitchFamily="34" charset="-122"/>
                <a:cs typeface="Inter SemiBold" pitchFamily="34" charset="-120"/>
              </a:rPr>
              <a:t>Availability</a:t>
            </a:r>
            <a:endParaRPr lang="en-US" sz="900" dirty="0"/>
          </a:p>
        </p:txBody>
      </p:sp>
      <p:sp>
        <p:nvSpPr>
          <p:cNvPr id="26" name="Text 22"/>
          <p:cNvSpPr/>
          <p:nvPr/>
        </p:nvSpPr>
        <p:spPr>
          <a:xfrm>
            <a:off x="1560909" y="3846909"/>
            <a:ext cx="2309552" cy="446484"/>
          </a:xfrm>
          <a:prstGeom prst="rect">
            <a:avLst/>
          </a:prstGeom>
          <a:noFill/>
          <a:ln/>
        </p:spPr>
        <p:txBody>
          <a:bodyPr wrap="square" lIns="102108" tIns="136017" rIns="102108" bIns="136017" rtlCol="0" anchor="ctr">
            <a:spAutoFit/>
          </a:bodyPr>
          <a:lstStyle/>
          <a:p>
            <a:pPr algn="l" indent="0" marL="0">
              <a:buNone/>
            </a:pPr>
            <a:r>
              <a:rPr lang="en-US" sz="950" dirty="0">
                <a:solidFill>
                  <a:srgbClr val="E8E8E8"/>
                </a:solidFill>
                <a:latin typeface="Inter Light" pitchFamily="34" charset="0"/>
                <a:ea typeface="Inter Light" pitchFamily="34" charset="-122"/>
                <a:cs typeface="Inter Light" pitchFamily="34" charset="-120"/>
              </a:rPr>
              <a:t>In stock</a:t>
            </a:r>
            <a:endParaRPr lang="en-US" sz="950" dirty="0"/>
          </a:p>
        </p:txBody>
      </p:sp>
      <p:sp>
        <p:nvSpPr>
          <p:cNvPr id="27" name="Text 23"/>
          <p:cNvSpPr/>
          <p:nvPr/>
        </p:nvSpPr>
        <p:spPr>
          <a:xfrm>
            <a:off x="3870461" y="3846909"/>
            <a:ext cx="674470" cy="446484"/>
          </a:xfrm>
          <a:prstGeom prst="rect">
            <a:avLst/>
          </a:prstGeom>
          <a:noFill/>
          <a:ln/>
        </p:spPr>
        <p:txBody>
          <a:bodyPr wrap="none" lIns="102108" tIns="136017" rIns="102108" bIns="136017" rtlCol="0" anchor="ctr">
            <a:spAutoFit/>
          </a:bodyPr>
          <a:lstStyle/>
          <a:p>
            <a:pPr algn="r" indent="0" marL="0">
              <a:buNone/>
            </a:pPr>
            <a:r>
              <a:rPr lang="en-US" sz="950" dirty="0">
                <a:solidFill>
                  <a:srgbClr val="E8E8E8"/>
                </a:solidFill>
                <a:latin typeface="Inter Light" pitchFamily="34" charset="0"/>
                <a:ea typeface="Inter Light" pitchFamily="34" charset="-122"/>
                <a:cs typeface="Inter Light" pitchFamily="34" charset="-120"/>
              </a:rPr>
              <a:t>+0.06</a:t>
            </a:r>
            <a:endParaRPr lang="en-US" sz="950" dirty="0"/>
          </a:p>
        </p:txBody>
      </p:sp>
      <p:sp>
        <p:nvSpPr>
          <p:cNvPr id="28" name="Text 24"/>
          <p:cNvSpPr/>
          <p:nvPr/>
        </p:nvSpPr>
        <p:spPr>
          <a:xfrm>
            <a:off x="4544932" y="3846909"/>
            <a:ext cx="731900" cy="446484"/>
          </a:xfrm>
          <a:prstGeom prst="rect">
            <a:avLst/>
          </a:prstGeom>
          <a:noFill/>
          <a:ln/>
        </p:spPr>
        <p:txBody>
          <a:bodyPr wrap="none" lIns="102108" tIns="136017" rIns="102108" bIns="136017" rtlCol="0" anchor="ctr">
            <a:spAutoFit/>
          </a:bodyPr>
          <a:lstStyle/>
          <a:p>
            <a:pPr algn="r" indent="0" marL="0">
              <a:buNone/>
            </a:pPr>
            <a:r>
              <a:rPr lang="en-US" sz="1100" b="1" dirty="0">
                <a:solidFill>
                  <a:srgbClr val="C9A84C"/>
                </a:solidFill>
                <a:latin typeface="DM Mono" pitchFamily="34" charset="0"/>
                <a:ea typeface="DM Mono" pitchFamily="34" charset="-122"/>
                <a:cs typeface="DM Mono" pitchFamily="34" charset="-120"/>
              </a:rPr>
              <a:t>1.00</a:t>
            </a:r>
            <a:endParaRPr lang="en-US" sz="1100" dirty="0"/>
          </a:p>
        </p:txBody>
      </p:sp>
      <p:sp>
        <p:nvSpPr>
          <p:cNvPr id="29" name="Shape 25"/>
          <p:cNvSpPr/>
          <p:nvPr/>
        </p:nvSpPr>
        <p:spPr>
          <a:xfrm>
            <a:off x="5705456" y="1339453"/>
            <a:ext cx="2724169" cy="3804047"/>
          </a:xfrm>
          <a:prstGeom prst="rect">
            <a:avLst/>
          </a:prstGeom>
          <a:solidFill>
            <a:srgbClr val="C9A84C">
              <a:alpha val="5000"/>
            </a:srgbClr>
          </a:solidFill>
          <a:ln/>
        </p:spPr>
      </p:sp>
      <p:sp>
        <p:nvSpPr>
          <p:cNvPr id="30" name="Shape 26"/>
          <p:cNvSpPr/>
          <p:nvPr/>
        </p:nvSpPr>
        <p:spPr>
          <a:xfrm>
            <a:off x="5705456" y="1339453"/>
            <a:ext cx="14288" cy="3804047"/>
          </a:xfrm>
          <a:prstGeom prst="rect">
            <a:avLst/>
          </a:prstGeom>
          <a:solidFill>
            <a:srgbClr val="C9A84C"/>
          </a:solidFill>
          <a:ln/>
        </p:spPr>
      </p:sp>
      <p:sp>
        <p:nvSpPr>
          <p:cNvPr id="31" name="Text 27"/>
          <p:cNvSpPr/>
          <p:nvPr/>
        </p:nvSpPr>
        <p:spPr>
          <a:xfrm>
            <a:off x="5929313" y="2054275"/>
            <a:ext cx="2286000" cy="242888"/>
          </a:xfrm>
          <a:prstGeom prst="rect">
            <a:avLst/>
          </a:prstGeom>
          <a:noFill/>
          <a:ln/>
        </p:spPr>
        <p:txBody>
          <a:bodyPr wrap="square" lIns="0" tIns="0" rIns="0" bIns="0" rtlCol="0" anchor="t">
            <a:spAutoFit/>
          </a:bodyPr>
          <a:lstStyle/>
          <a:p>
            <a:pPr algn="l" indent="0" marL="0">
              <a:buNone/>
            </a:pPr>
            <a:r>
              <a:rPr lang="en-US" sz="1400" b="1" dirty="0">
                <a:solidFill>
                  <a:srgbClr val="C9A84C"/>
                </a:solidFill>
                <a:latin typeface="Cormorant Garamond SemiBold" pitchFamily="34" charset="0"/>
                <a:ea typeface="Cormorant Garamond SemiBold" pitchFamily="34" charset="-122"/>
                <a:cs typeface="Cormorant Garamond SemiBold" pitchFamily="34" charset="-120"/>
              </a:rPr>
              <a:t>Ranking Rules</a:t>
            </a:r>
            <a:endParaRPr lang="en-US" sz="1400" dirty="0"/>
          </a:p>
        </p:txBody>
      </p:sp>
      <p:sp>
        <p:nvSpPr>
          <p:cNvPr id="32" name="Text 28"/>
          <p:cNvSpPr/>
          <p:nvPr/>
        </p:nvSpPr>
        <p:spPr>
          <a:xfrm>
            <a:off x="5929313" y="2440037"/>
            <a:ext cx="2286000" cy="617153"/>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D0D0D0"/>
                </a:solidFill>
                <a:latin typeface="Inter Light" pitchFamily="34" charset="0"/>
                <a:ea typeface="Inter Light" pitchFamily="34" charset="-122"/>
                <a:cs typeface="Inter Light" pitchFamily="34" charset="-120"/>
              </a:rPr>
              <a:t>Examples are ranked by score descending; </a:t>
            </a:r>
            <a:r>
              <a:rPr lang="en-US" sz="900" b="1" dirty="0">
                <a:solidFill>
                  <a:srgbClr val="F9F7F4"/>
                </a:solidFill>
                <a:latin typeface="Inter SemiBold" pitchFamily="34" charset="0"/>
                <a:ea typeface="Inter SemiBold" pitchFamily="34" charset="-122"/>
                <a:cs typeface="Inter SemiBold" pitchFamily="34" charset="-120"/>
              </a:rPr>
              <a:t>title breaks exact-score ties</a:t>
            </a:r>
            <a:r>
              <a:rPr lang="en-US" sz="950" dirty="0">
                <a:solidFill>
                  <a:srgbClr val="D0D0D0"/>
                </a:solidFill>
                <a:latin typeface="Inter Light" pitchFamily="34" charset="0"/>
                <a:ea typeface="Inter Light" pitchFamily="34" charset="-122"/>
                <a:cs typeface="Inter Light" pitchFamily="34" charset="-120"/>
              </a:rPr>
              <a:t>.</a:t>
            </a:r>
            <a:endParaRPr lang="en-US" sz="950" dirty="0"/>
          </a:p>
        </p:txBody>
      </p:sp>
      <p:sp>
        <p:nvSpPr>
          <p:cNvPr id="33" name="Text 29"/>
          <p:cNvSpPr/>
          <p:nvPr/>
        </p:nvSpPr>
        <p:spPr>
          <a:xfrm>
            <a:off x="5929313" y="3171490"/>
            <a:ext cx="2286000" cy="617153"/>
          </a:xfrm>
          <a:prstGeom prst="rect">
            <a:avLst/>
          </a:prstGeom>
          <a:noFill/>
          <a:ln/>
        </p:spPr>
        <p:txBody>
          <a:bodyPr wrap="square" lIns="170053" tIns="0" rIns="0" bIns="0" rtlCol="0" anchor="t">
            <a:spAutoFit/>
          </a:bodyPr>
          <a:lstStyle/>
          <a:p>
            <a:pPr algn="l" indent="0" marL="0">
              <a:lnSpc>
                <a:spcPct val="128000"/>
              </a:lnSpc>
              <a:buNone/>
            </a:pPr>
            <a:r>
              <a:rPr lang="en-US" sz="900" b="1" dirty="0">
                <a:solidFill>
                  <a:srgbClr val="F9F7F4"/>
                </a:solidFill>
                <a:latin typeface="Inter SemiBold" pitchFamily="34" charset="0"/>
                <a:ea typeface="Inter SemiBold" pitchFamily="34" charset="-122"/>
                <a:cs typeface="Inter SemiBold" pitchFamily="34" charset="-120"/>
              </a:rPr>
              <a:t>Formula duplicates are removed</a:t>
            </a:r>
            <a:r>
              <a:rPr lang="en-US" sz="950" dirty="0">
                <a:solidFill>
                  <a:srgbClr val="D0D0D0"/>
                </a:solidFill>
                <a:latin typeface="Inter Light" pitchFamily="34" charset="0"/>
                <a:ea typeface="Inter Light" pitchFamily="34" charset="-122"/>
                <a:cs typeface="Inter Light" pitchFamily="34" charset="-120"/>
              </a:rPr>
              <a:t>; title is the fallback identity when no formula exists.</a:t>
            </a:r>
            <a:endParaRPr lang="en-US" sz="900" dirty="0"/>
          </a:p>
        </p:txBody>
      </p:sp>
      <p:sp>
        <p:nvSpPr>
          <p:cNvPr id="34" name="Text 30"/>
          <p:cNvSpPr/>
          <p:nvPr/>
        </p:nvSpPr>
        <p:spPr>
          <a:xfrm>
            <a:off x="5929313" y="3902943"/>
            <a:ext cx="2286000"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D0D0D0"/>
                </a:solidFill>
                <a:latin typeface="Inter Light" pitchFamily="34" charset="0"/>
                <a:ea typeface="Inter Light" pitchFamily="34" charset="-122"/>
                <a:cs typeface="Inter Light" pitchFamily="34" charset="-120"/>
              </a:rPr>
              <a:t>Moodoor returns no more than </a:t>
            </a:r>
            <a:r>
              <a:rPr lang="en-US" sz="900" b="1" dirty="0">
                <a:solidFill>
                  <a:srgbClr val="F9F7F4"/>
                </a:solidFill>
                <a:latin typeface="Inter SemiBold" pitchFamily="34" charset="0"/>
                <a:ea typeface="Inter SemiBold" pitchFamily="34" charset="-122"/>
                <a:cs typeface="Inter SemiBold" pitchFamily="34" charset="-120"/>
              </a:rPr>
              <a:t>three distinct results</a:t>
            </a:r>
            <a:r>
              <a:rPr lang="en-US" sz="950" dirty="0">
                <a:solidFill>
                  <a:srgbClr val="D0D0D0"/>
                </a:solidFill>
                <a:latin typeface="Inter Light" pitchFamily="34" charset="0"/>
                <a:ea typeface="Inter Light" pitchFamily="34" charset="-122"/>
                <a:cs typeface="Inter Light" pitchFamily="34" charset="-120"/>
              </a:rPr>
              <a:t>.</a:t>
            </a:r>
            <a:endParaRPr lang="en-US" sz="950" dirty="0"/>
          </a:p>
        </p:txBody>
      </p:sp>
      <p:sp>
        <p:nvSpPr>
          <p:cNvPr id="35" name="Text 31"/>
          <p:cNvSpPr/>
          <p:nvPr/>
        </p:nvSpPr>
        <p:spPr>
          <a:xfrm>
            <a:off x="5929313" y="2440037"/>
            <a:ext cx="12858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C9A84C"/>
                </a:solidFill>
                <a:latin typeface="Inter Light" pitchFamily="34" charset="0"/>
                <a:ea typeface="Inter Light" pitchFamily="34" charset="-122"/>
                <a:cs typeface="Inter Light" pitchFamily="34" charset="-120"/>
              </a:rPr>
              <a:t>—</a:t>
            </a:r>
            <a:endParaRPr lang="en-US" sz="950" dirty="0"/>
          </a:p>
        </p:txBody>
      </p:sp>
      <p:sp>
        <p:nvSpPr>
          <p:cNvPr id="36" name="Text 32"/>
          <p:cNvSpPr/>
          <p:nvPr/>
        </p:nvSpPr>
        <p:spPr>
          <a:xfrm>
            <a:off x="5929313" y="3171490"/>
            <a:ext cx="12858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C9A84C"/>
                </a:solidFill>
                <a:latin typeface="Inter Light" pitchFamily="34" charset="0"/>
                <a:ea typeface="Inter Light" pitchFamily="34" charset="-122"/>
                <a:cs typeface="Inter Light" pitchFamily="34" charset="-120"/>
              </a:rPr>
              <a:t>—</a:t>
            </a:r>
            <a:endParaRPr lang="en-US" sz="950" dirty="0"/>
          </a:p>
        </p:txBody>
      </p:sp>
      <p:sp>
        <p:nvSpPr>
          <p:cNvPr id="37" name="Text 33"/>
          <p:cNvSpPr/>
          <p:nvPr/>
        </p:nvSpPr>
        <p:spPr>
          <a:xfrm>
            <a:off x="5929313" y="3902943"/>
            <a:ext cx="12858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C9A84C"/>
                </a:solidFill>
                <a:latin typeface="Inter Light" pitchFamily="34" charset="0"/>
                <a:ea typeface="Inter Light" pitchFamily="34" charset="-122"/>
                <a:cs typeface="Inter Light" pitchFamily="34" charset="-120"/>
              </a:rPr>
              <a: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94120"/>
          </a:xfrm>
          <a:prstGeom prst="rect">
            <a:avLst/>
          </a:prstGeom>
        </p:spPr>
      </p:pic>
      <p:sp>
        <p:nvSpPr>
          <p:cNvPr id="4" name="Text 0"/>
          <p:cNvSpPr/>
          <p:nvPr/>
        </p:nvSpPr>
        <p:spPr>
          <a:xfrm>
            <a:off x="714375" y="571500"/>
            <a:ext cx="7715250" cy="964406"/>
          </a:xfrm>
          <a:prstGeom prst="rect">
            <a:avLst/>
          </a:prstGeom>
          <a:noFill/>
          <a:ln/>
        </p:spPr>
        <p:txBody>
          <a:bodyPr wrap="square" lIns="0" tIns="0" rIns="0" bIns="0" rtlCol="0" anchor="t">
            <a:spAutoFit/>
          </a:bodyPr>
          <a:lstStyle/>
          <a:p>
            <a:pPr algn="l" indent="0" marL="0">
              <a:buNone/>
            </a:pPr>
            <a:r>
              <a:rPr lang="en-US" sz="3050" dirty="0">
                <a:solidFill>
                  <a:srgbClr val="C9A84C"/>
                </a:solidFill>
                <a:latin typeface="Cormorant Garamond" pitchFamily="34" charset="0"/>
                <a:ea typeface="Cormorant Garamond" pitchFamily="34" charset="-122"/>
                <a:cs typeface="Cormorant Garamond" pitchFamily="34" charset="-120"/>
              </a:rPr>
              <a:t>The customer receives a clear reason — not a black box.</a:t>
            </a:r>
            <a:endParaRPr lang="en-US" sz="3050" dirty="0"/>
          </a:p>
        </p:txBody>
      </p:sp>
      <p:sp>
        <p:nvSpPr>
          <p:cNvPr id="5" name="Text 1"/>
          <p:cNvSpPr/>
          <p:nvPr/>
        </p:nvSpPr>
        <p:spPr>
          <a:xfrm>
            <a:off x="714375" y="1821656"/>
            <a:ext cx="3571875" cy="685800"/>
          </a:xfrm>
          <a:prstGeom prst="rect">
            <a:avLst/>
          </a:prstGeom>
          <a:noFill/>
          <a:ln/>
        </p:spPr>
        <p:txBody>
          <a:bodyPr wrap="square" lIns="204089"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The matcher searches normalized text across </a:t>
            </a:r>
            <a:r>
              <a:rPr lang="en-US" sz="1000" b="1" dirty="0">
                <a:solidFill>
                  <a:srgbClr val="F9F7F4"/>
                </a:solidFill>
                <a:latin typeface="Inter SemiBold" pitchFamily="34" charset="0"/>
                <a:ea typeface="Inter SemiBold" pitchFamily="34" charset="-122"/>
                <a:cs typeface="Inter SemiBold" pitchFamily="34" charset="-120"/>
              </a:rPr>
              <a:t>title, summary, formula, season tags, mood tags, and palette tags</a:t>
            </a:r>
            <a:r>
              <a:rPr lang="en-US" sz="1050" dirty="0">
                <a:solidFill>
                  <a:srgbClr val="D0D0D0"/>
                </a:solidFill>
                <a:latin typeface="Inter Light" pitchFamily="34" charset="0"/>
                <a:ea typeface="Inter Light" pitchFamily="34" charset="-122"/>
                <a:cs typeface="Inter Light" pitchFamily="34" charset="-120"/>
              </a:rPr>
              <a:t>.</a:t>
            </a:r>
            <a:endParaRPr lang="en-US" sz="1050" dirty="0"/>
          </a:p>
        </p:txBody>
      </p:sp>
      <p:sp>
        <p:nvSpPr>
          <p:cNvPr id="6" name="Text 2"/>
          <p:cNvSpPr/>
          <p:nvPr/>
        </p:nvSpPr>
        <p:spPr>
          <a:xfrm>
            <a:off x="714375" y="2707481"/>
            <a:ext cx="3571875" cy="457200"/>
          </a:xfrm>
          <a:prstGeom prst="rect">
            <a:avLst/>
          </a:prstGeom>
          <a:noFill/>
          <a:ln/>
        </p:spPr>
        <p:txBody>
          <a:bodyPr wrap="square" lIns="204089"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A category match is binary: multiple matching words do not multiply the same category weight.</a:t>
            </a:r>
            <a:endParaRPr lang="en-US" sz="1050" dirty="0"/>
          </a:p>
        </p:txBody>
      </p:sp>
      <p:sp>
        <p:nvSpPr>
          <p:cNvPr id="7" name="Text 3"/>
          <p:cNvSpPr/>
          <p:nvPr/>
        </p:nvSpPr>
        <p:spPr>
          <a:xfrm>
            <a:off x="714375" y="3364706"/>
            <a:ext cx="3571875" cy="685800"/>
          </a:xfrm>
          <a:prstGeom prst="rect">
            <a:avLst/>
          </a:prstGeom>
          <a:noFill/>
          <a:ln/>
        </p:spPr>
        <p:txBody>
          <a:bodyPr wrap="square" lIns="204089"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The explanation surfaces up to the first three positive signals: for example, </a:t>
            </a:r>
            <a:r>
              <a:rPr lang="en-US" sz="1050" i="1" dirty="0">
                <a:solidFill>
                  <a:srgbClr val="D0D0D0"/>
                </a:solidFill>
                <a:latin typeface="Inter Light" pitchFamily="34" charset="0"/>
                <a:ea typeface="Inter Light" pitchFamily="34" charset="-122"/>
                <a:cs typeface="Inter Light" pitchFamily="34" charset="-120"/>
              </a:rPr>
              <a:t>“warm mood, winter fit, dark wood compatibility.”</a:t>
            </a:r>
            <a:endParaRPr lang="en-US" sz="1050" dirty="0"/>
          </a:p>
        </p:txBody>
      </p:sp>
      <p:sp>
        <p:nvSpPr>
          <p:cNvPr id="8" name="Text 4"/>
          <p:cNvSpPr/>
          <p:nvPr/>
        </p:nvSpPr>
        <p:spPr>
          <a:xfrm>
            <a:off x="714375" y="4250531"/>
            <a:ext cx="3571875" cy="685800"/>
          </a:xfrm>
          <a:prstGeom prst="rect">
            <a:avLst/>
          </a:prstGeom>
          <a:noFill/>
          <a:ln/>
        </p:spPr>
        <p:txBody>
          <a:bodyPr wrap="square" lIns="204089"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If no result clears </a:t>
            </a:r>
            <a:r>
              <a:rPr lang="en-US" sz="1000" b="1" dirty="0">
                <a:solidFill>
                  <a:srgbClr val="F9F7F4"/>
                </a:solidFill>
                <a:latin typeface="Inter SemiBold" pitchFamily="34" charset="0"/>
                <a:ea typeface="Inter SemiBold" pitchFamily="34" charset="-122"/>
                <a:cs typeface="Inter SemiBold" pitchFamily="34" charset="-120"/>
              </a:rPr>
              <a:t>0.42</a:t>
            </a:r>
            <a:r>
              <a:rPr lang="en-US" sz="1050" dirty="0">
                <a:solidFill>
                  <a:srgbClr val="D0D0D0"/>
                </a:solidFill>
                <a:latin typeface="Inter Light" pitchFamily="34" charset="0"/>
                <a:ea typeface="Inter Light" pitchFamily="34" charset="-122"/>
                <a:cs typeface="Inter Light" pitchFamily="34" charset="-120"/>
              </a:rPr>
              <a:t>, Moodoor intentionally shows a no-match state rather than force a weak recommendation.</a:t>
            </a:r>
            <a:endParaRPr lang="en-US" sz="1050" dirty="0"/>
          </a:p>
        </p:txBody>
      </p:sp>
      <p:sp>
        <p:nvSpPr>
          <p:cNvPr id="9" name="Text 5"/>
          <p:cNvSpPr/>
          <p:nvPr/>
        </p:nvSpPr>
        <p:spPr>
          <a:xfrm>
            <a:off x="714375" y="1821656"/>
            <a:ext cx="142875" cy="228600"/>
          </a:xfrm>
          <a:prstGeom prst="rect">
            <a:avLst/>
          </a:prstGeom>
          <a:noFill/>
          <a:ln/>
        </p:spPr>
        <p:txBody>
          <a:bodyPr wrap="none" lIns="0" tIns="0" rIns="0" bIns="0" rtlCol="0" anchor="t">
            <a:spAutoFit/>
          </a:bodyPr>
          <a:lstStyle/>
          <a:p>
            <a:pPr algn="l" indent="0" marL="0">
              <a:lnSpc>
                <a:spcPct val="128000"/>
              </a:lnSpc>
              <a:buNone/>
            </a:pPr>
            <a:r>
              <a:rPr lang="en-US" sz="1050" dirty="0">
                <a:solidFill>
                  <a:srgbClr val="C9A84C"/>
                </a:solidFill>
                <a:latin typeface="Inter Light" pitchFamily="34" charset="0"/>
                <a:ea typeface="Inter Light" pitchFamily="34" charset="-122"/>
                <a:cs typeface="Inter Light" pitchFamily="34" charset="-120"/>
              </a:rPr>
              <a:t>—</a:t>
            </a:r>
            <a:endParaRPr lang="en-US" sz="1050" dirty="0"/>
          </a:p>
        </p:txBody>
      </p:sp>
      <p:sp>
        <p:nvSpPr>
          <p:cNvPr id="10" name="Text 6"/>
          <p:cNvSpPr/>
          <p:nvPr/>
        </p:nvSpPr>
        <p:spPr>
          <a:xfrm>
            <a:off x="714375" y="2707481"/>
            <a:ext cx="142875" cy="228600"/>
          </a:xfrm>
          <a:prstGeom prst="rect">
            <a:avLst/>
          </a:prstGeom>
          <a:noFill/>
          <a:ln/>
        </p:spPr>
        <p:txBody>
          <a:bodyPr wrap="none" lIns="0" tIns="0" rIns="0" bIns="0" rtlCol="0" anchor="t">
            <a:spAutoFit/>
          </a:bodyPr>
          <a:lstStyle/>
          <a:p>
            <a:pPr algn="l" indent="0" marL="0">
              <a:lnSpc>
                <a:spcPct val="128000"/>
              </a:lnSpc>
              <a:buNone/>
            </a:pPr>
            <a:r>
              <a:rPr lang="en-US" sz="1050" dirty="0">
                <a:solidFill>
                  <a:srgbClr val="C9A84C"/>
                </a:solidFill>
                <a:latin typeface="Inter Light" pitchFamily="34" charset="0"/>
                <a:ea typeface="Inter Light" pitchFamily="34" charset="-122"/>
                <a:cs typeface="Inter Light" pitchFamily="34" charset="-120"/>
              </a:rPr>
              <a:t>—</a:t>
            </a:r>
            <a:endParaRPr lang="en-US" sz="1050" dirty="0"/>
          </a:p>
        </p:txBody>
      </p:sp>
      <p:sp>
        <p:nvSpPr>
          <p:cNvPr id="11" name="Text 7"/>
          <p:cNvSpPr/>
          <p:nvPr/>
        </p:nvSpPr>
        <p:spPr>
          <a:xfrm>
            <a:off x="714375" y="3364706"/>
            <a:ext cx="142875" cy="228600"/>
          </a:xfrm>
          <a:prstGeom prst="rect">
            <a:avLst/>
          </a:prstGeom>
          <a:noFill/>
          <a:ln/>
        </p:spPr>
        <p:txBody>
          <a:bodyPr wrap="none" lIns="0" tIns="0" rIns="0" bIns="0" rtlCol="0" anchor="t">
            <a:spAutoFit/>
          </a:bodyPr>
          <a:lstStyle/>
          <a:p>
            <a:pPr algn="l" indent="0" marL="0">
              <a:lnSpc>
                <a:spcPct val="128000"/>
              </a:lnSpc>
              <a:buNone/>
            </a:pPr>
            <a:r>
              <a:rPr lang="en-US" sz="1050" dirty="0">
                <a:solidFill>
                  <a:srgbClr val="C9A84C"/>
                </a:solidFill>
                <a:latin typeface="Inter Light" pitchFamily="34" charset="0"/>
                <a:ea typeface="Inter Light" pitchFamily="34" charset="-122"/>
                <a:cs typeface="Inter Light" pitchFamily="34" charset="-120"/>
              </a:rPr>
              <a:t>—</a:t>
            </a:r>
            <a:endParaRPr lang="en-US" sz="1050" dirty="0"/>
          </a:p>
        </p:txBody>
      </p:sp>
      <p:sp>
        <p:nvSpPr>
          <p:cNvPr id="12" name="Text 8"/>
          <p:cNvSpPr/>
          <p:nvPr/>
        </p:nvSpPr>
        <p:spPr>
          <a:xfrm>
            <a:off x="714375" y="4250531"/>
            <a:ext cx="142875" cy="228600"/>
          </a:xfrm>
          <a:prstGeom prst="rect">
            <a:avLst/>
          </a:prstGeom>
          <a:noFill/>
          <a:ln/>
        </p:spPr>
        <p:txBody>
          <a:bodyPr wrap="none" lIns="0" tIns="0" rIns="0" bIns="0" rtlCol="0" anchor="t">
            <a:spAutoFit/>
          </a:bodyPr>
          <a:lstStyle/>
          <a:p>
            <a:pPr algn="l" indent="0" marL="0">
              <a:lnSpc>
                <a:spcPct val="128000"/>
              </a:lnSpc>
              <a:buNone/>
            </a:pPr>
            <a:r>
              <a:rPr lang="en-US" sz="1050" dirty="0">
                <a:solidFill>
                  <a:srgbClr val="C9A84C"/>
                </a:solidFill>
                <a:latin typeface="Inter Light" pitchFamily="34" charset="0"/>
                <a:ea typeface="Inter Light" pitchFamily="34" charset="-122"/>
                <a:cs typeface="Inter Light" pitchFamily="34" charset="-120"/>
              </a:rPr>
              <a:t>—</a:t>
            </a:r>
            <a:endParaRPr lang="en-US" sz="1050" dirty="0"/>
          </a:p>
        </p:txBody>
      </p:sp>
      <p:sp>
        <p:nvSpPr>
          <p:cNvPr id="13" name="Shape 9"/>
          <p:cNvSpPr/>
          <p:nvPr/>
        </p:nvSpPr>
        <p:spPr>
          <a:xfrm>
            <a:off x="4857750" y="1893094"/>
            <a:ext cx="3571875" cy="975122"/>
          </a:xfrm>
          <a:prstGeom prst="rect">
            <a:avLst/>
          </a:prstGeom>
          <a:solidFill>
            <a:srgbClr val="FFFFFF">
              <a:alpha val="2000"/>
            </a:srgbClr>
          </a:solidFill>
          <a:ln/>
        </p:spPr>
      </p:sp>
      <p:sp>
        <p:nvSpPr>
          <p:cNvPr id="14" name="Shape 10"/>
          <p:cNvSpPr/>
          <p:nvPr/>
        </p:nvSpPr>
        <p:spPr>
          <a:xfrm>
            <a:off x="4857750" y="1893094"/>
            <a:ext cx="3571875" cy="28575"/>
          </a:xfrm>
          <a:prstGeom prst="rect">
            <a:avLst/>
          </a:prstGeom>
          <a:solidFill>
            <a:srgbClr val="4A6741"/>
          </a:solidFill>
          <a:ln/>
        </p:spPr>
      </p:sp>
      <p:sp>
        <p:nvSpPr>
          <p:cNvPr id="15" name="Shape 11"/>
          <p:cNvSpPr/>
          <p:nvPr/>
        </p:nvSpPr>
        <p:spPr>
          <a:xfrm>
            <a:off x="8422481" y="1893094"/>
            <a:ext cx="7144" cy="975122"/>
          </a:xfrm>
          <a:prstGeom prst="rect">
            <a:avLst/>
          </a:prstGeom>
          <a:solidFill>
            <a:srgbClr val="FFFFFF"/>
          </a:solidFill>
          <a:ln/>
        </p:spPr>
      </p:sp>
      <p:sp>
        <p:nvSpPr>
          <p:cNvPr id="16" name="Shape 12"/>
          <p:cNvSpPr/>
          <p:nvPr/>
        </p:nvSpPr>
        <p:spPr>
          <a:xfrm>
            <a:off x="4857750" y="2861072"/>
            <a:ext cx="3571875" cy="7144"/>
          </a:xfrm>
          <a:prstGeom prst="rect">
            <a:avLst/>
          </a:prstGeom>
          <a:solidFill>
            <a:srgbClr val="FFFFFF"/>
          </a:solidFill>
          <a:ln/>
        </p:spPr>
      </p:sp>
      <p:sp>
        <p:nvSpPr>
          <p:cNvPr id="17" name="Shape 13"/>
          <p:cNvSpPr/>
          <p:nvPr/>
        </p:nvSpPr>
        <p:spPr>
          <a:xfrm>
            <a:off x="4857750" y="1893094"/>
            <a:ext cx="7144" cy="975122"/>
          </a:xfrm>
          <a:prstGeom prst="rect">
            <a:avLst/>
          </a:prstGeom>
          <a:solidFill>
            <a:srgbClr val="FFFFFF"/>
          </a:solidFill>
          <a:ln/>
        </p:spPr>
      </p:sp>
      <p:sp>
        <p:nvSpPr>
          <p:cNvPr id="18" name="Text 14"/>
          <p:cNvSpPr/>
          <p:nvPr/>
        </p:nvSpPr>
        <p:spPr>
          <a:xfrm>
            <a:off x="5072063" y="2064544"/>
            <a:ext cx="3143250" cy="110728"/>
          </a:xfrm>
          <a:prstGeom prst="rect">
            <a:avLst/>
          </a:prstGeom>
          <a:noFill/>
          <a:ln/>
        </p:spPr>
        <p:txBody>
          <a:bodyPr wrap="square" lIns="0" tIns="0" rIns="0" bIns="0" rtlCol="0" anchor="t">
            <a:spAutoFit/>
          </a:bodyPr>
          <a:lstStyle/>
          <a:p>
            <a:pPr algn="l" indent="0" marL="0">
              <a:buNone/>
            </a:pPr>
            <a:r>
              <a:rPr lang="en-US" sz="600" spc="1" kern="0" dirty="0">
                <a:solidFill>
                  <a:srgbClr val="A8A8A8"/>
                </a:solidFill>
                <a:latin typeface="DM Mono" pitchFamily="34" charset="0"/>
                <a:ea typeface="DM Mono" pitchFamily="34" charset="-122"/>
                <a:cs typeface="DM Mono" pitchFamily="34" charset="-120"/>
              </a:rPr>
              <a:t>SEARCHABLE PUBLIC FIELDS</a:t>
            </a:r>
            <a:endParaRPr lang="en-US" sz="600" dirty="0"/>
          </a:p>
        </p:txBody>
      </p:sp>
      <p:sp>
        <p:nvSpPr>
          <p:cNvPr id="19" name="Text 15"/>
          <p:cNvSpPr/>
          <p:nvPr/>
        </p:nvSpPr>
        <p:spPr>
          <a:xfrm>
            <a:off x="5072063" y="2318147"/>
            <a:ext cx="489347" cy="214313"/>
          </a:xfrm>
          <a:prstGeom prst="rect">
            <a:avLst/>
          </a:prstGeom>
          <a:noFill/>
          <a:ln/>
        </p:spPr>
        <p:txBody>
          <a:bodyPr wrap="none" lIns="102108" tIns="51054" rIns="102108" bIns="0" rtlCol="0" anchor="t">
            <a:spAutoFit/>
          </a:bodyPr>
          <a:lstStyle/>
          <a:p>
            <a:pPr algn="l" indent="0" marL="0">
              <a:buNone/>
            </a:pPr>
            <a:r>
              <a:rPr lang="en-US" sz="750" dirty="0">
                <a:solidFill>
                  <a:srgbClr val="6B8F67"/>
                </a:solidFill>
                <a:latin typeface="DM Mono" pitchFamily="34" charset="0"/>
                <a:ea typeface="DM Mono" pitchFamily="34" charset="-122"/>
                <a:cs typeface="DM Mono" pitchFamily="34" charset="-120"/>
              </a:rPr>
              <a:t>TITLE</a:t>
            </a:r>
            <a:endParaRPr lang="en-US" sz="750" dirty="0"/>
          </a:p>
        </p:txBody>
      </p:sp>
      <p:sp>
        <p:nvSpPr>
          <p:cNvPr id="20" name="Text 16"/>
          <p:cNvSpPr/>
          <p:nvPr/>
        </p:nvSpPr>
        <p:spPr>
          <a:xfrm>
            <a:off x="5647134" y="2318147"/>
            <a:ext cx="610791" cy="214313"/>
          </a:xfrm>
          <a:prstGeom prst="rect">
            <a:avLst/>
          </a:prstGeom>
          <a:noFill/>
          <a:ln/>
        </p:spPr>
        <p:txBody>
          <a:bodyPr wrap="none" lIns="102108" tIns="51054" rIns="102108" bIns="0" rtlCol="0" anchor="t">
            <a:spAutoFit/>
          </a:bodyPr>
          <a:lstStyle/>
          <a:p>
            <a:pPr algn="l" indent="0" marL="0">
              <a:buNone/>
            </a:pPr>
            <a:r>
              <a:rPr lang="en-US" sz="750" dirty="0">
                <a:solidFill>
                  <a:srgbClr val="6B8F67"/>
                </a:solidFill>
                <a:latin typeface="DM Mono" pitchFamily="34" charset="0"/>
                <a:ea typeface="DM Mono" pitchFamily="34" charset="-122"/>
                <a:cs typeface="DM Mono" pitchFamily="34" charset="-120"/>
              </a:rPr>
              <a:t>SUMMARY</a:t>
            </a:r>
            <a:endParaRPr lang="en-US" sz="750" dirty="0"/>
          </a:p>
        </p:txBody>
      </p:sp>
      <p:sp>
        <p:nvSpPr>
          <p:cNvPr id="21" name="Text 17"/>
          <p:cNvSpPr/>
          <p:nvPr/>
        </p:nvSpPr>
        <p:spPr>
          <a:xfrm>
            <a:off x="6343650" y="2318147"/>
            <a:ext cx="610791" cy="214313"/>
          </a:xfrm>
          <a:prstGeom prst="rect">
            <a:avLst/>
          </a:prstGeom>
          <a:noFill/>
          <a:ln/>
        </p:spPr>
        <p:txBody>
          <a:bodyPr wrap="none" lIns="102108" tIns="51054" rIns="102108" bIns="0" rtlCol="0" anchor="t">
            <a:spAutoFit/>
          </a:bodyPr>
          <a:lstStyle/>
          <a:p>
            <a:pPr algn="l" indent="0" marL="0">
              <a:buNone/>
            </a:pPr>
            <a:r>
              <a:rPr lang="en-US" sz="750" dirty="0">
                <a:solidFill>
                  <a:srgbClr val="6B8F67"/>
                </a:solidFill>
                <a:latin typeface="DM Mono" pitchFamily="34" charset="0"/>
                <a:ea typeface="DM Mono" pitchFamily="34" charset="-122"/>
                <a:cs typeface="DM Mono" pitchFamily="34" charset="-120"/>
              </a:rPr>
              <a:t>FORMULA</a:t>
            </a:r>
            <a:endParaRPr lang="en-US" sz="750" dirty="0"/>
          </a:p>
        </p:txBody>
      </p:sp>
      <p:sp>
        <p:nvSpPr>
          <p:cNvPr id="22" name="Text 18"/>
          <p:cNvSpPr/>
          <p:nvPr/>
        </p:nvSpPr>
        <p:spPr>
          <a:xfrm>
            <a:off x="7040166" y="2318147"/>
            <a:ext cx="853678" cy="214313"/>
          </a:xfrm>
          <a:prstGeom prst="rect">
            <a:avLst/>
          </a:prstGeom>
          <a:noFill/>
          <a:ln/>
        </p:spPr>
        <p:txBody>
          <a:bodyPr wrap="none" lIns="102108" tIns="51054" rIns="102108" bIns="0" rtlCol="0" anchor="t">
            <a:spAutoFit/>
          </a:bodyPr>
          <a:lstStyle/>
          <a:p>
            <a:pPr algn="l" indent="0" marL="0">
              <a:buNone/>
            </a:pPr>
            <a:r>
              <a:rPr lang="en-US" sz="750" dirty="0">
                <a:solidFill>
                  <a:srgbClr val="6B8F67"/>
                </a:solidFill>
                <a:latin typeface="DM Mono" pitchFamily="34" charset="0"/>
                <a:ea typeface="DM Mono" pitchFamily="34" charset="-122"/>
                <a:cs typeface="DM Mono" pitchFamily="34" charset="-120"/>
              </a:rPr>
              <a:t>SEASON TAGS</a:t>
            </a:r>
            <a:endParaRPr lang="en-US" sz="750" dirty="0"/>
          </a:p>
        </p:txBody>
      </p:sp>
      <p:sp>
        <p:nvSpPr>
          <p:cNvPr id="23" name="Text 19"/>
          <p:cNvSpPr/>
          <p:nvPr/>
        </p:nvSpPr>
        <p:spPr>
          <a:xfrm>
            <a:off x="5072063" y="2618184"/>
            <a:ext cx="732234" cy="214313"/>
          </a:xfrm>
          <a:prstGeom prst="rect">
            <a:avLst/>
          </a:prstGeom>
          <a:noFill/>
          <a:ln/>
        </p:spPr>
        <p:txBody>
          <a:bodyPr wrap="none" lIns="102108" tIns="51054" rIns="102108" bIns="0" rtlCol="0" anchor="t">
            <a:spAutoFit/>
          </a:bodyPr>
          <a:lstStyle/>
          <a:p>
            <a:pPr algn="l" indent="0" marL="0">
              <a:buNone/>
            </a:pPr>
            <a:r>
              <a:rPr lang="en-US" sz="750" dirty="0">
                <a:solidFill>
                  <a:srgbClr val="6B8F67"/>
                </a:solidFill>
                <a:latin typeface="DM Mono" pitchFamily="34" charset="0"/>
                <a:ea typeface="DM Mono" pitchFamily="34" charset="-122"/>
                <a:cs typeface="DM Mono" pitchFamily="34" charset="-120"/>
              </a:rPr>
              <a:t>MOOD TAGS</a:t>
            </a:r>
            <a:endParaRPr lang="en-US" sz="750" dirty="0"/>
          </a:p>
        </p:txBody>
      </p:sp>
      <p:sp>
        <p:nvSpPr>
          <p:cNvPr id="24" name="Text 20"/>
          <p:cNvSpPr/>
          <p:nvPr/>
        </p:nvSpPr>
        <p:spPr>
          <a:xfrm>
            <a:off x="5890022" y="2618184"/>
            <a:ext cx="914400" cy="214313"/>
          </a:xfrm>
          <a:prstGeom prst="rect">
            <a:avLst/>
          </a:prstGeom>
          <a:noFill/>
          <a:ln/>
        </p:spPr>
        <p:txBody>
          <a:bodyPr wrap="none" lIns="102108" tIns="51054" rIns="102108" bIns="0" rtlCol="0" anchor="t">
            <a:spAutoFit/>
          </a:bodyPr>
          <a:lstStyle/>
          <a:p>
            <a:pPr algn="l" indent="0" marL="0">
              <a:buNone/>
            </a:pPr>
            <a:r>
              <a:rPr lang="en-US" sz="750" dirty="0">
                <a:solidFill>
                  <a:srgbClr val="6B8F67"/>
                </a:solidFill>
                <a:latin typeface="DM Mono" pitchFamily="34" charset="0"/>
                <a:ea typeface="DM Mono" pitchFamily="34" charset="-122"/>
                <a:cs typeface="DM Mono" pitchFamily="34" charset="-120"/>
              </a:rPr>
              <a:t>PALETTE TAGS</a:t>
            </a:r>
            <a:endParaRPr lang="en-US" sz="750" dirty="0"/>
          </a:p>
        </p:txBody>
      </p:sp>
      <p:sp>
        <p:nvSpPr>
          <p:cNvPr id="25" name="Text 21"/>
          <p:cNvSpPr/>
          <p:nvPr/>
        </p:nvSpPr>
        <p:spPr>
          <a:xfrm>
            <a:off x="6572250" y="2975372"/>
            <a:ext cx="142875" cy="210741"/>
          </a:xfrm>
          <a:prstGeom prst="rect">
            <a:avLst/>
          </a:prstGeom>
          <a:noFill/>
          <a:ln/>
        </p:spPr>
        <p:txBody>
          <a:bodyPr wrap="none" lIns="0" tIns="0" rIns="0" bIns="0" rtlCol="0" anchor="t">
            <a:spAutoFit/>
          </a:bodyPr>
          <a:lstStyle/>
          <a:p>
            <a:pPr algn="l" indent="0" marL="0">
              <a:buNone/>
            </a:pPr>
            <a:r>
              <a:rPr lang="en-US" sz="1250" dirty="0">
                <a:solidFill>
                  <a:srgbClr val="4A4A4A"/>
                </a:solidFill>
                <a:latin typeface="Inter" pitchFamily="34" charset="0"/>
                <a:ea typeface="Inter" pitchFamily="34" charset="-122"/>
                <a:cs typeface="Inter" pitchFamily="34" charset="-120"/>
              </a:rPr>
              <a:t>↓</a:t>
            </a:r>
            <a:endParaRPr lang="en-US" sz="1250" dirty="0"/>
          </a:p>
        </p:txBody>
      </p:sp>
      <p:sp>
        <p:nvSpPr>
          <p:cNvPr id="26" name="Shape 22"/>
          <p:cNvSpPr/>
          <p:nvPr/>
        </p:nvSpPr>
        <p:spPr>
          <a:xfrm>
            <a:off x="4857750" y="3328988"/>
            <a:ext cx="3571875" cy="1300776"/>
          </a:xfrm>
          <a:prstGeom prst="rect">
            <a:avLst/>
          </a:prstGeom>
          <a:solidFill>
            <a:srgbClr val="C9A84C">
              <a:alpha val="5000"/>
            </a:srgbClr>
          </a:solidFill>
          <a:ln/>
        </p:spPr>
      </p:sp>
      <p:sp>
        <p:nvSpPr>
          <p:cNvPr id="27" name="Shape 23"/>
          <p:cNvSpPr/>
          <p:nvPr/>
        </p:nvSpPr>
        <p:spPr>
          <a:xfrm>
            <a:off x="4857750" y="3328988"/>
            <a:ext cx="3571875" cy="28575"/>
          </a:xfrm>
          <a:prstGeom prst="rect">
            <a:avLst/>
          </a:prstGeom>
          <a:solidFill>
            <a:srgbClr val="C9A84C"/>
          </a:solidFill>
          <a:ln/>
        </p:spPr>
      </p:sp>
      <p:sp>
        <p:nvSpPr>
          <p:cNvPr id="28" name="Shape 24"/>
          <p:cNvSpPr/>
          <p:nvPr/>
        </p:nvSpPr>
        <p:spPr>
          <a:xfrm>
            <a:off x="8422481" y="3328988"/>
            <a:ext cx="7144" cy="1300776"/>
          </a:xfrm>
          <a:prstGeom prst="rect">
            <a:avLst/>
          </a:prstGeom>
          <a:solidFill>
            <a:srgbClr val="FFFFFF"/>
          </a:solidFill>
          <a:ln/>
        </p:spPr>
      </p:sp>
      <p:sp>
        <p:nvSpPr>
          <p:cNvPr id="29" name="Shape 25"/>
          <p:cNvSpPr/>
          <p:nvPr/>
        </p:nvSpPr>
        <p:spPr>
          <a:xfrm>
            <a:off x="4857750" y="4622620"/>
            <a:ext cx="3571875" cy="7144"/>
          </a:xfrm>
          <a:prstGeom prst="rect">
            <a:avLst/>
          </a:prstGeom>
          <a:solidFill>
            <a:srgbClr val="FFFFFF"/>
          </a:solidFill>
          <a:ln/>
        </p:spPr>
      </p:sp>
      <p:sp>
        <p:nvSpPr>
          <p:cNvPr id="30" name="Shape 26"/>
          <p:cNvSpPr/>
          <p:nvPr/>
        </p:nvSpPr>
        <p:spPr>
          <a:xfrm>
            <a:off x="4857750" y="3328988"/>
            <a:ext cx="7144" cy="1300776"/>
          </a:xfrm>
          <a:prstGeom prst="rect">
            <a:avLst/>
          </a:prstGeom>
          <a:solidFill>
            <a:srgbClr val="FFFFFF"/>
          </a:solidFill>
          <a:ln/>
        </p:spPr>
      </p:sp>
      <p:sp>
        <p:nvSpPr>
          <p:cNvPr id="31" name="Text 27"/>
          <p:cNvSpPr/>
          <p:nvPr/>
        </p:nvSpPr>
        <p:spPr>
          <a:xfrm>
            <a:off x="5072063" y="3500438"/>
            <a:ext cx="3143250" cy="110728"/>
          </a:xfrm>
          <a:prstGeom prst="rect">
            <a:avLst/>
          </a:prstGeom>
          <a:noFill/>
          <a:ln/>
        </p:spPr>
        <p:txBody>
          <a:bodyPr wrap="square" lIns="0" tIns="0" rIns="0" bIns="0" rtlCol="0" anchor="t">
            <a:spAutoFit/>
          </a:bodyPr>
          <a:lstStyle/>
          <a:p>
            <a:pPr algn="l" indent="0" marL="0">
              <a:buNone/>
            </a:pPr>
            <a:r>
              <a:rPr lang="en-US" sz="600" spc="1" kern="0" dirty="0">
                <a:solidFill>
                  <a:srgbClr val="A8A8A8"/>
                </a:solidFill>
                <a:latin typeface="DM Mono" pitchFamily="34" charset="0"/>
                <a:ea typeface="DM Mono" pitchFamily="34" charset="-122"/>
                <a:cs typeface="DM Mono" pitchFamily="34" charset="-120"/>
              </a:rPr>
              <a:t>CUSTOMER OUTPUT</a:t>
            </a:r>
            <a:endParaRPr lang="en-US" sz="600" dirty="0"/>
          </a:p>
        </p:txBody>
      </p:sp>
      <p:sp>
        <p:nvSpPr>
          <p:cNvPr id="32" name="Text 28"/>
          <p:cNvSpPr/>
          <p:nvPr/>
        </p:nvSpPr>
        <p:spPr>
          <a:xfrm>
            <a:off x="5072063" y="3754041"/>
            <a:ext cx="3143250" cy="840005"/>
          </a:xfrm>
          <a:prstGeom prst="rect">
            <a:avLst/>
          </a:prstGeom>
          <a:noFill/>
          <a:ln/>
        </p:spPr>
        <p:txBody>
          <a:bodyPr wrap="square" lIns="0" tIns="0" rIns="0" bIns="0" rtlCol="0" anchor="t">
            <a:spAutoFit/>
          </a:bodyPr>
          <a:lstStyle/>
          <a:p>
            <a:pPr algn="l" indent="0" marL="0">
              <a:lnSpc>
                <a:spcPct val="112000"/>
              </a:lnSpc>
              <a:buNone/>
            </a:pPr>
            <a:r>
              <a:rPr lang="en-US" sz="1500" i="1" dirty="0">
                <a:solidFill>
                  <a:srgbClr val="F9F7F4"/>
                </a:solidFill>
                <a:latin typeface="Cormorant Garamond" pitchFamily="34" charset="0"/>
                <a:ea typeface="Cormorant Garamond" pitchFamily="34" charset="-122"/>
                <a:cs typeface="Cormorant Garamond" pitchFamily="34" charset="-120"/>
              </a:rPr>
              <a:t>“Winter Hearth was selected for its warm mood, winter fit, and dark wood compatibility.”</a:t>
            </a:r>
            <a:endParaRPr lang="en-US" sz="1500" dirty="0"/>
          </a:p>
        </p:txBody>
      </p:sp>
      <p:sp>
        <p:nvSpPr>
          <p:cNvPr id="33" name="Shape 29"/>
          <p:cNvSpPr/>
          <p:nvPr/>
        </p:nvSpPr>
        <p:spPr>
          <a:xfrm>
            <a:off x="4857750" y="4808358"/>
            <a:ext cx="3571875" cy="314325"/>
          </a:xfrm>
          <a:prstGeom prst="rect">
            <a:avLst/>
          </a:prstGeom>
          <a:solidFill>
            <a:srgbClr val="B94040">
              <a:alpha val="5000"/>
            </a:srgbClr>
          </a:solidFill>
          <a:ln w="9144">
            <a:solidFill>
              <a:srgbClr val="B94040"/>
            </a:solidFill>
            <a:prstDash val="solid"/>
          </a:ln>
        </p:spPr>
      </p:sp>
      <p:sp>
        <p:nvSpPr>
          <p:cNvPr id="34" name="Text 30"/>
          <p:cNvSpPr/>
          <p:nvPr/>
        </p:nvSpPr>
        <p:spPr>
          <a:xfrm>
            <a:off x="5690667" y="4942303"/>
            <a:ext cx="1905986" cy="132159"/>
          </a:xfrm>
          <a:prstGeom prst="rect">
            <a:avLst/>
          </a:prstGeom>
          <a:noFill/>
          <a:ln/>
        </p:spPr>
        <p:txBody>
          <a:bodyPr wrap="square" lIns="0" tIns="0" rIns="0" bIns="0" rtlCol="0" anchor="t">
            <a:spAutoFit/>
          </a:bodyPr>
          <a:lstStyle/>
          <a:p>
            <a:pPr algn="l" indent="0" marL="0">
              <a:buNone/>
            </a:pPr>
            <a:r>
              <a:rPr lang="en-US" sz="750" spc="1" kern="0" dirty="0">
                <a:solidFill>
                  <a:srgbClr val="B94040"/>
                </a:solidFill>
                <a:latin typeface="DM Mono" pitchFamily="34" charset="0"/>
                <a:ea typeface="DM Mono" pitchFamily="34" charset="-122"/>
                <a:cs typeface="DM Mono" pitchFamily="34" charset="-120"/>
              </a:rPr>
              <a:t>MINIMUM SCORE THRESHOLD: 0.42</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49875"/>
          </a:xfrm>
          <a:prstGeom prst="rect">
            <a:avLst/>
          </a:prstGeom>
        </p:spPr>
      </p:pic>
      <p:sp>
        <p:nvSpPr>
          <p:cNvPr id="4" name="Text 0"/>
          <p:cNvSpPr/>
          <p:nvPr/>
        </p:nvSpPr>
        <p:spPr>
          <a:xfrm>
            <a:off x="714375" y="571500"/>
            <a:ext cx="7715250" cy="817178"/>
          </a:xfrm>
          <a:prstGeom prst="rect">
            <a:avLst/>
          </a:prstGeom>
          <a:noFill/>
          <a:ln/>
        </p:spPr>
        <p:txBody>
          <a:bodyPr wrap="square" lIns="0" tIns="0" rIns="0" bIns="0" rtlCol="0" anchor="t">
            <a:spAutoFit/>
          </a:bodyPr>
          <a:lstStyle/>
          <a:p>
            <a:pPr algn="l" indent="0" marL="0">
              <a:lnSpc>
                <a:spcPct val="88000"/>
              </a:lnSpc>
              <a:buNone/>
            </a:pPr>
            <a:r>
              <a:rPr lang="en-US" sz="2800" dirty="0">
                <a:solidFill>
                  <a:srgbClr val="C9A84C"/>
                </a:solidFill>
                <a:latin typeface="Cormorant Garamond" pitchFamily="34" charset="0"/>
                <a:ea typeface="Cormorant Garamond" pitchFamily="34" charset="-122"/>
                <a:cs typeface="Cormorant Garamond" pitchFamily="34" charset="-120"/>
              </a:rPr>
              <a:t>Implementation connects product, operations, and reliability.</a:t>
            </a:r>
            <a:endParaRPr lang="en-US" sz="2800" dirty="0"/>
          </a:p>
        </p:txBody>
      </p:sp>
      <p:sp>
        <p:nvSpPr>
          <p:cNvPr id="5" name="Text 1"/>
          <p:cNvSpPr/>
          <p:nvPr/>
        </p:nvSpPr>
        <p:spPr>
          <a:xfrm>
            <a:off x="714375" y="1817303"/>
            <a:ext cx="142875" cy="228600"/>
          </a:xfrm>
          <a:prstGeom prst="rect">
            <a:avLst/>
          </a:prstGeom>
          <a:noFill/>
          <a:ln/>
        </p:spPr>
        <p:txBody>
          <a:bodyPr wrap="none" lIns="0" tIns="0" rIns="0" bIns="0" rtlCol="0" anchor="t">
            <a:spAutoFit/>
          </a:bodyPr>
          <a:lstStyle/>
          <a:p>
            <a:pPr algn="l" indent="0" marL="0">
              <a:lnSpc>
                <a:spcPct val="128000"/>
              </a:lnSpc>
              <a:buNone/>
            </a:pPr>
            <a:r>
              <a:rPr lang="en-US" sz="1050" dirty="0">
                <a:solidFill>
                  <a:srgbClr val="C9A84C"/>
                </a:solidFill>
                <a:latin typeface="Inter Light" pitchFamily="34" charset="0"/>
                <a:ea typeface="Inter Light" pitchFamily="34" charset="-122"/>
                <a:cs typeface="Inter Light" pitchFamily="34" charset="-120"/>
              </a:rPr>
              <a:t>—</a:t>
            </a:r>
            <a:endParaRPr lang="en-US" sz="1050" dirty="0"/>
          </a:p>
        </p:txBody>
      </p:sp>
      <p:sp>
        <p:nvSpPr>
          <p:cNvPr id="6" name="Shape 2"/>
          <p:cNvSpPr/>
          <p:nvPr/>
        </p:nvSpPr>
        <p:spPr>
          <a:xfrm>
            <a:off x="914400" y="1838734"/>
            <a:ext cx="1450181" cy="196453"/>
          </a:xfrm>
          <a:prstGeom prst="rect">
            <a:avLst/>
          </a:prstGeom>
          <a:solidFill>
            <a:srgbClr val="C9A84C">
              <a:alpha val="5000"/>
            </a:srgbClr>
          </a:solidFill>
          <a:ln/>
        </p:spPr>
      </p:sp>
      <p:sp>
        <p:nvSpPr>
          <p:cNvPr id="7" name="Text 3"/>
          <p:cNvSpPr/>
          <p:nvPr/>
        </p:nvSpPr>
        <p:spPr>
          <a:xfrm>
            <a:off x="914400" y="1838734"/>
            <a:ext cx="1450181" cy="196453"/>
          </a:xfrm>
          <a:prstGeom prst="rect">
            <a:avLst/>
          </a:prstGeom>
          <a:noFill/>
          <a:ln/>
        </p:spPr>
        <p:txBody>
          <a:bodyPr wrap="none" lIns="68072" tIns="17018" rIns="68072" bIns="17018" rtlCol="0" anchor="t">
            <a:spAutoFit/>
          </a:bodyPr>
          <a:lstStyle/>
          <a:p>
            <a:pPr algn="l" indent="0" marL="0">
              <a:lnSpc>
                <a:spcPct val="128000"/>
              </a:lnSpc>
              <a:buNone/>
            </a:pPr>
            <a:r>
              <a:rPr lang="en-US" sz="950" dirty="0">
                <a:solidFill>
                  <a:srgbClr val="C9A84C"/>
                </a:solidFill>
                <a:latin typeface="DM Mono" pitchFamily="34" charset="0"/>
                <a:ea typeface="DM Mono" pitchFamily="34" charset="-122"/>
                <a:cs typeface="DM Mono" pitchFamily="34" charset="-120"/>
              </a:rPr>
              <a:t>pages/Moodoor.tsx</a:t>
            </a:r>
            <a:endParaRPr lang="en-US" sz="950" dirty="0"/>
          </a:p>
        </p:txBody>
      </p:sp>
      <p:sp>
        <p:nvSpPr>
          <p:cNvPr id="8" name="Text 4"/>
          <p:cNvSpPr/>
          <p:nvPr/>
        </p:nvSpPr>
        <p:spPr>
          <a:xfrm>
            <a:off x="914400" y="1842306"/>
            <a:ext cx="3907631" cy="403622"/>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provides the public finder and maker publishing Studio.</a:t>
            </a:r>
            <a:endParaRPr lang="en-US" sz="1050" dirty="0"/>
          </a:p>
        </p:txBody>
      </p:sp>
      <p:sp>
        <p:nvSpPr>
          <p:cNvPr id="9" name="Text 5"/>
          <p:cNvSpPr/>
          <p:nvPr/>
        </p:nvSpPr>
        <p:spPr>
          <a:xfrm>
            <a:off x="714375" y="2503103"/>
            <a:ext cx="142875" cy="228600"/>
          </a:xfrm>
          <a:prstGeom prst="rect">
            <a:avLst/>
          </a:prstGeom>
          <a:noFill/>
          <a:ln/>
        </p:spPr>
        <p:txBody>
          <a:bodyPr wrap="none" lIns="0" tIns="0" rIns="0" bIns="0" rtlCol="0" anchor="t">
            <a:spAutoFit/>
          </a:bodyPr>
          <a:lstStyle/>
          <a:p>
            <a:pPr algn="l" indent="0" marL="0">
              <a:lnSpc>
                <a:spcPct val="128000"/>
              </a:lnSpc>
              <a:buNone/>
            </a:pPr>
            <a:r>
              <a:rPr lang="en-US" sz="1050" dirty="0">
                <a:solidFill>
                  <a:srgbClr val="C9A84C"/>
                </a:solidFill>
                <a:latin typeface="Inter Light" pitchFamily="34" charset="0"/>
                <a:ea typeface="Inter Light" pitchFamily="34" charset="-122"/>
                <a:cs typeface="Inter Light" pitchFamily="34" charset="-120"/>
              </a:rPr>
              <a:t>—</a:t>
            </a:r>
            <a:endParaRPr lang="en-US" sz="1050" dirty="0"/>
          </a:p>
        </p:txBody>
      </p:sp>
      <p:sp>
        <p:nvSpPr>
          <p:cNvPr id="10" name="Shape 6"/>
          <p:cNvSpPr/>
          <p:nvPr/>
        </p:nvSpPr>
        <p:spPr>
          <a:xfrm>
            <a:off x="914400" y="2524534"/>
            <a:ext cx="2235994" cy="196453"/>
          </a:xfrm>
          <a:prstGeom prst="rect">
            <a:avLst/>
          </a:prstGeom>
          <a:solidFill>
            <a:srgbClr val="C9A84C">
              <a:alpha val="5000"/>
            </a:srgbClr>
          </a:solidFill>
          <a:ln/>
        </p:spPr>
      </p:sp>
      <p:sp>
        <p:nvSpPr>
          <p:cNvPr id="11" name="Text 7"/>
          <p:cNvSpPr/>
          <p:nvPr/>
        </p:nvSpPr>
        <p:spPr>
          <a:xfrm>
            <a:off x="914400" y="2524534"/>
            <a:ext cx="2235994" cy="196453"/>
          </a:xfrm>
          <a:prstGeom prst="rect">
            <a:avLst/>
          </a:prstGeom>
          <a:noFill/>
          <a:ln/>
        </p:spPr>
        <p:txBody>
          <a:bodyPr wrap="none" lIns="68072" tIns="17018" rIns="68072" bIns="17018" rtlCol="0" anchor="t">
            <a:spAutoFit/>
          </a:bodyPr>
          <a:lstStyle/>
          <a:p>
            <a:pPr algn="l" indent="0" marL="0">
              <a:lnSpc>
                <a:spcPct val="128000"/>
              </a:lnSpc>
              <a:buNone/>
            </a:pPr>
            <a:r>
              <a:rPr lang="en-US" sz="950" dirty="0">
                <a:solidFill>
                  <a:srgbClr val="C9A84C"/>
                </a:solidFill>
                <a:latin typeface="DM Mono" pitchFamily="34" charset="0"/>
                <a:ea typeface="DM Mono" pitchFamily="34" charset="-122"/>
                <a:cs typeface="DM Mono" pitchFamily="34" charset="-120"/>
              </a:rPr>
              <a:t>services/moodoorMatching.ts</a:t>
            </a:r>
            <a:endParaRPr lang="en-US" sz="950" dirty="0"/>
          </a:p>
        </p:txBody>
      </p:sp>
      <p:sp>
        <p:nvSpPr>
          <p:cNvPr id="12" name="Text 8"/>
          <p:cNvSpPr/>
          <p:nvPr/>
        </p:nvSpPr>
        <p:spPr>
          <a:xfrm>
            <a:off x="914400" y="2528106"/>
            <a:ext cx="3532584" cy="632222"/>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provides the public projection, eligibility gates, ranker, vocabulary, and publication toggle.</a:t>
            </a:r>
            <a:endParaRPr lang="en-US" sz="1050" dirty="0"/>
          </a:p>
        </p:txBody>
      </p:sp>
      <p:sp>
        <p:nvSpPr>
          <p:cNvPr id="13" name="Text 9"/>
          <p:cNvSpPr/>
          <p:nvPr/>
        </p:nvSpPr>
        <p:spPr>
          <a:xfrm>
            <a:off x="714375" y="3417503"/>
            <a:ext cx="142875" cy="228600"/>
          </a:xfrm>
          <a:prstGeom prst="rect">
            <a:avLst/>
          </a:prstGeom>
          <a:noFill/>
          <a:ln/>
        </p:spPr>
        <p:txBody>
          <a:bodyPr wrap="none" lIns="0" tIns="0" rIns="0" bIns="0" rtlCol="0" anchor="t">
            <a:spAutoFit/>
          </a:bodyPr>
          <a:lstStyle/>
          <a:p>
            <a:pPr algn="l" indent="0" marL="0">
              <a:lnSpc>
                <a:spcPct val="128000"/>
              </a:lnSpc>
              <a:buNone/>
            </a:pPr>
            <a:r>
              <a:rPr lang="en-US" sz="1050" dirty="0">
                <a:solidFill>
                  <a:srgbClr val="C9A84C"/>
                </a:solidFill>
                <a:latin typeface="Inter Light" pitchFamily="34" charset="0"/>
                <a:ea typeface="Inter Light" pitchFamily="34" charset="-122"/>
                <a:cs typeface="Inter Light" pitchFamily="34" charset="-120"/>
              </a:rPr>
              <a:t>—</a:t>
            </a:r>
            <a:endParaRPr lang="en-US" sz="1050" dirty="0"/>
          </a:p>
        </p:txBody>
      </p:sp>
      <p:sp>
        <p:nvSpPr>
          <p:cNvPr id="14" name="Shape 10"/>
          <p:cNvSpPr/>
          <p:nvPr/>
        </p:nvSpPr>
        <p:spPr>
          <a:xfrm>
            <a:off x="914400" y="3438934"/>
            <a:ext cx="2000250" cy="196453"/>
          </a:xfrm>
          <a:prstGeom prst="rect">
            <a:avLst/>
          </a:prstGeom>
          <a:solidFill>
            <a:srgbClr val="C9A84C">
              <a:alpha val="5000"/>
            </a:srgbClr>
          </a:solidFill>
          <a:ln/>
        </p:spPr>
      </p:sp>
      <p:sp>
        <p:nvSpPr>
          <p:cNvPr id="15" name="Text 11"/>
          <p:cNvSpPr/>
          <p:nvPr/>
        </p:nvSpPr>
        <p:spPr>
          <a:xfrm>
            <a:off x="914400" y="3438934"/>
            <a:ext cx="2000250" cy="196453"/>
          </a:xfrm>
          <a:prstGeom prst="rect">
            <a:avLst/>
          </a:prstGeom>
          <a:noFill/>
          <a:ln/>
        </p:spPr>
        <p:txBody>
          <a:bodyPr wrap="none" lIns="68072" tIns="17018" rIns="68072" bIns="17018" rtlCol="0" anchor="t">
            <a:spAutoFit/>
          </a:bodyPr>
          <a:lstStyle/>
          <a:p>
            <a:pPr algn="l" indent="0" marL="0">
              <a:lnSpc>
                <a:spcPct val="128000"/>
              </a:lnSpc>
              <a:buNone/>
            </a:pPr>
            <a:r>
              <a:rPr lang="en-US" sz="950" dirty="0">
                <a:solidFill>
                  <a:srgbClr val="C9A84C"/>
                </a:solidFill>
                <a:latin typeface="DM Mono" pitchFamily="34" charset="0"/>
                <a:ea typeface="DM Mono" pitchFamily="34" charset="-122"/>
                <a:cs typeface="DM Mono" pitchFamily="34" charset="-120"/>
              </a:rPr>
              <a:t>services/geminiClient.ts</a:t>
            </a:r>
            <a:endParaRPr lang="en-US" sz="950" dirty="0"/>
          </a:p>
        </p:txBody>
      </p:sp>
      <p:sp>
        <p:nvSpPr>
          <p:cNvPr id="16" name="Text 12"/>
          <p:cNvSpPr/>
          <p:nvPr/>
        </p:nvSpPr>
        <p:spPr>
          <a:xfrm>
            <a:off x="914400" y="3442506"/>
            <a:ext cx="4021931" cy="403622"/>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makes optional AI initialization lazy so missing browser keys cannot block Moodoor.</a:t>
            </a:r>
            <a:endParaRPr lang="en-US" sz="1050" dirty="0"/>
          </a:p>
        </p:txBody>
      </p:sp>
      <p:sp>
        <p:nvSpPr>
          <p:cNvPr id="17" name="Text 13"/>
          <p:cNvSpPr/>
          <p:nvPr/>
        </p:nvSpPr>
        <p:spPr>
          <a:xfrm>
            <a:off x="714375" y="4103303"/>
            <a:ext cx="4286250" cy="457200"/>
          </a:xfrm>
          <a:prstGeom prst="rect">
            <a:avLst/>
          </a:prstGeom>
          <a:noFill/>
          <a:ln/>
        </p:spPr>
        <p:txBody>
          <a:bodyPr wrap="square" lIns="238125"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Existing source-path, Firebase import, and app alias defects were corrected so the front end builds reliably.</a:t>
            </a:r>
            <a:endParaRPr lang="en-US" sz="1050" dirty="0"/>
          </a:p>
        </p:txBody>
      </p:sp>
      <p:sp>
        <p:nvSpPr>
          <p:cNvPr id="18" name="Text 14"/>
          <p:cNvSpPr/>
          <p:nvPr/>
        </p:nvSpPr>
        <p:spPr>
          <a:xfrm>
            <a:off x="714375" y="4103303"/>
            <a:ext cx="142875" cy="228600"/>
          </a:xfrm>
          <a:prstGeom prst="rect">
            <a:avLst/>
          </a:prstGeom>
          <a:noFill/>
          <a:ln/>
        </p:spPr>
        <p:txBody>
          <a:bodyPr wrap="none" lIns="0" tIns="0" rIns="0" bIns="0" rtlCol="0" anchor="t">
            <a:spAutoFit/>
          </a:bodyPr>
          <a:lstStyle/>
          <a:p>
            <a:pPr algn="l" indent="0" marL="0">
              <a:lnSpc>
                <a:spcPct val="128000"/>
              </a:lnSpc>
              <a:buNone/>
            </a:pPr>
            <a:r>
              <a:rPr lang="en-US" sz="1050" dirty="0">
                <a:solidFill>
                  <a:srgbClr val="C9A84C"/>
                </a:solidFill>
                <a:latin typeface="Inter Light" pitchFamily="34" charset="0"/>
                <a:ea typeface="Inter Light" pitchFamily="34" charset="-122"/>
                <a:cs typeface="Inter Light" pitchFamily="34" charset="-120"/>
              </a:rPr>
              <a:t>—</a:t>
            </a:r>
            <a:endParaRPr lang="en-US" sz="1050" dirty="0"/>
          </a:p>
        </p:txBody>
      </p:sp>
      <p:sp>
        <p:nvSpPr>
          <p:cNvPr id="19" name="Shape 15"/>
          <p:cNvSpPr/>
          <p:nvPr/>
        </p:nvSpPr>
        <p:spPr>
          <a:xfrm>
            <a:off x="5572125" y="1888741"/>
            <a:ext cx="2857500" cy="771525"/>
          </a:xfrm>
          <a:prstGeom prst="rect">
            <a:avLst/>
          </a:prstGeom>
          <a:solidFill>
            <a:srgbClr val="C9A84C">
              <a:alpha val="5000"/>
            </a:srgbClr>
          </a:solidFill>
          <a:ln w="9144">
            <a:solidFill>
              <a:srgbClr val="C9A84C"/>
            </a:solidFill>
            <a:prstDash val="solid"/>
          </a:ln>
        </p:spPr>
      </p:sp>
      <p:sp>
        <p:nvSpPr>
          <p:cNvPr id="20" name="Text 16"/>
          <p:cNvSpPr/>
          <p:nvPr/>
        </p:nvSpPr>
        <p:spPr>
          <a:xfrm>
            <a:off x="5743575" y="2060191"/>
            <a:ext cx="2514600" cy="225028"/>
          </a:xfrm>
          <a:prstGeom prst="rect">
            <a:avLst/>
          </a:prstGeom>
          <a:noFill/>
          <a:ln/>
        </p:spPr>
        <p:txBody>
          <a:bodyPr wrap="square" lIns="0" tIns="0" rIns="0" bIns="0" rtlCol="0" anchor="t">
            <a:spAutoFit/>
          </a:bodyPr>
          <a:lstStyle/>
          <a:p>
            <a:pPr algn="ctr" indent="0" marL="0">
              <a:buNone/>
            </a:pPr>
            <a:r>
              <a:rPr lang="en-US" sz="1300" b="1" dirty="0">
                <a:solidFill>
                  <a:srgbClr val="C9A84C"/>
                </a:solidFill>
                <a:latin typeface="Cormorant Garamond SemiBold" pitchFamily="34" charset="0"/>
                <a:ea typeface="Cormorant Garamond SemiBold" pitchFamily="34" charset="-122"/>
                <a:cs typeface="Cormorant Garamond SemiBold" pitchFamily="34" charset="-120"/>
              </a:rPr>
              <a:t>Route / UI</a:t>
            </a:r>
            <a:endParaRPr lang="en-US" sz="1300" dirty="0"/>
          </a:p>
        </p:txBody>
      </p:sp>
      <p:sp>
        <p:nvSpPr>
          <p:cNvPr id="21" name="Text 17"/>
          <p:cNvSpPr/>
          <p:nvPr/>
        </p:nvSpPr>
        <p:spPr>
          <a:xfrm>
            <a:off x="5743575" y="2342369"/>
            <a:ext cx="2514600" cy="132159"/>
          </a:xfrm>
          <a:prstGeom prst="rect">
            <a:avLst/>
          </a:prstGeom>
          <a:noFill/>
          <a:ln/>
        </p:spPr>
        <p:txBody>
          <a:bodyPr wrap="square" lIns="0" tIns="0" rIns="0" bIns="0" rtlCol="0" anchor="t">
            <a:spAutoFit/>
          </a:bodyPr>
          <a:lstStyle/>
          <a:p>
            <a:pPr algn="ctr" indent="0" marL="0">
              <a:buNone/>
            </a:pPr>
            <a:r>
              <a:rPr lang="en-US" sz="750" spc="1" kern="0" dirty="0">
                <a:solidFill>
                  <a:srgbClr val="A8A8A8"/>
                </a:solidFill>
                <a:latin typeface="DM Mono" pitchFamily="34" charset="0"/>
                <a:ea typeface="DM Mono" pitchFamily="34" charset="-122"/>
                <a:cs typeface="DM Mono" pitchFamily="34" charset="-120"/>
              </a:rPr>
              <a:t>PAGES/MOODOOR.TSX</a:t>
            </a:r>
            <a:endParaRPr lang="en-US" sz="750" dirty="0"/>
          </a:p>
        </p:txBody>
      </p:sp>
      <p:sp>
        <p:nvSpPr>
          <p:cNvPr id="22" name="Shape 18"/>
          <p:cNvSpPr/>
          <p:nvPr/>
        </p:nvSpPr>
        <p:spPr>
          <a:xfrm>
            <a:off x="5572125" y="2817428"/>
            <a:ext cx="2857500" cy="771525"/>
          </a:xfrm>
          <a:prstGeom prst="rect">
            <a:avLst/>
          </a:prstGeom>
          <a:solidFill>
            <a:srgbClr val="4A6741">
              <a:alpha val="5000"/>
            </a:srgbClr>
          </a:solidFill>
          <a:ln w="9144">
            <a:solidFill>
              <a:srgbClr val="4A6741"/>
            </a:solidFill>
            <a:prstDash val="solid"/>
          </a:ln>
        </p:spPr>
      </p:sp>
      <p:sp>
        <p:nvSpPr>
          <p:cNvPr id="23" name="Text 19"/>
          <p:cNvSpPr/>
          <p:nvPr/>
        </p:nvSpPr>
        <p:spPr>
          <a:xfrm>
            <a:off x="5743575" y="2988878"/>
            <a:ext cx="2514600" cy="225028"/>
          </a:xfrm>
          <a:prstGeom prst="rect">
            <a:avLst/>
          </a:prstGeom>
          <a:noFill/>
          <a:ln/>
        </p:spPr>
        <p:txBody>
          <a:bodyPr wrap="square" lIns="0" tIns="0" rIns="0" bIns="0" rtlCol="0" anchor="t">
            <a:spAutoFit/>
          </a:bodyPr>
          <a:lstStyle/>
          <a:p>
            <a:pPr algn="ctr" indent="0" marL="0">
              <a:buNone/>
            </a:pPr>
            <a:r>
              <a:rPr lang="en-US" sz="1300" b="1" dirty="0">
                <a:solidFill>
                  <a:srgbClr val="6B8F67"/>
                </a:solidFill>
                <a:latin typeface="Cormorant Garamond SemiBold" pitchFamily="34" charset="0"/>
                <a:ea typeface="Cormorant Garamond SemiBold" pitchFamily="34" charset="-122"/>
                <a:cs typeface="Cormorant Garamond SemiBold" pitchFamily="34" charset="-120"/>
              </a:rPr>
              <a:t>Matching Service</a:t>
            </a:r>
            <a:endParaRPr lang="en-US" sz="1300" dirty="0"/>
          </a:p>
        </p:txBody>
      </p:sp>
      <p:sp>
        <p:nvSpPr>
          <p:cNvPr id="24" name="Text 20"/>
          <p:cNvSpPr/>
          <p:nvPr/>
        </p:nvSpPr>
        <p:spPr>
          <a:xfrm>
            <a:off x="5743575" y="3271056"/>
            <a:ext cx="2514600" cy="132159"/>
          </a:xfrm>
          <a:prstGeom prst="rect">
            <a:avLst/>
          </a:prstGeom>
          <a:noFill/>
          <a:ln/>
        </p:spPr>
        <p:txBody>
          <a:bodyPr wrap="square" lIns="0" tIns="0" rIns="0" bIns="0" rtlCol="0" anchor="t">
            <a:spAutoFit/>
          </a:bodyPr>
          <a:lstStyle/>
          <a:p>
            <a:pPr algn="ctr" indent="0" marL="0">
              <a:buNone/>
            </a:pPr>
            <a:r>
              <a:rPr lang="en-US" sz="750" spc="1" kern="0" dirty="0">
                <a:solidFill>
                  <a:srgbClr val="A8A8A8"/>
                </a:solidFill>
                <a:latin typeface="DM Mono" pitchFamily="34" charset="0"/>
                <a:ea typeface="DM Mono" pitchFamily="34" charset="-122"/>
                <a:cs typeface="DM Mono" pitchFamily="34" charset="-120"/>
              </a:rPr>
              <a:t>SERVICES/MOODOORMATCHING.TS</a:t>
            </a:r>
            <a:endParaRPr lang="en-US" sz="750" dirty="0"/>
          </a:p>
        </p:txBody>
      </p:sp>
      <p:sp>
        <p:nvSpPr>
          <p:cNvPr id="25" name="Shape 21"/>
          <p:cNvSpPr/>
          <p:nvPr/>
        </p:nvSpPr>
        <p:spPr>
          <a:xfrm>
            <a:off x="5572125" y="3746116"/>
            <a:ext cx="2857500" cy="771525"/>
          </a:xfrm>
          <a:prstGeom prst="rect">
            <a:avLst/>
          </a:prstGeom>
          <a:solidFill>
            <a:srgbClr val="FFFFFF">
              <a:alpha val="2000"/>
            </a:srgbClr>
          </a:solidFill>
          <a:ln w="9144">
            <a:solidFill>
              <a:srgbClr val="4A4A4A"/>
            </a:solidFill>
            <a:prstDash val="solid"/>
          </a:ln>
        </p:spPr>
      </p:sp>
      <p:sp>
        <p:nvSpPr>
          <p:cNvPr id="26" name="Text 22"/>
          <p:cNvSpPr/>
          <p:nvPr/>
        </p:nvSpPr>
        <p:spPr>
          <a:xfrm>
            <a:off x="5743575" y="3917566"/>
            <a:ext cx="2514600" cy="225028"/>
          </a:xfrm>
          <a:prstGeom prst="rect">
            <a:avLst/>
          </a:prstGeom>
          <a:noFill/>
          <a:ln/>
        </p:spPr>
        <p:txBody>
          <a:bodyPr wrap="square" lIns="0" tIns="0" rIns="0" bIns="0" rtlCol="0" anchor="t">
            <a:spAutoFit/>
          </a:bodyPr>
          <a:lstStyle/>
          <a:p>
            <a:pPr algn="ctr" indent="0" marL="0">
              <a:buNone/>
            </a:pPr>
            <a:r>
              <a:rPr lang="en-US" sz="1300" b="1" dirty="0">
                <a:solidFill>
                  <a:srgbClr val="D0D0D0"/>
                </a:solidFill>
                <a:latin typeface="Cormorant Garamond SemiBold" pitchFamily="34" charset="0"/>
                <a:ea typeface="Cormorant Garamond SemiBold" pitchFamily="34" charset="-122"/>
                <a:cs typeface="Cormorant Garamond SemiBold" pitchFamily="34" charset="-120"/>
              </a:rPr>
              <a:t>Firestore Marketplace</a:t>
            </a:r>
            <a:endParaRPr lang="en-US" sz="1300" dirty="0"/>
          </a:p>
        </p:txBody>
      </p:sp>
      <p:sp>
        <p:nvSpPr>
          <p:cNvPr id="27" name="Text 23"/>
          <p:cNvSpPr/>
          <p:nvPr/>
        </p:nvSpPr>
        <p:spPr>
          <a:xfrm>
            <a:off x="5743575" y="4199744"/>
            <a:ext cx="2514600" cy="132159"/>
          </a:xfrm>
          <a:prstGeom prst="rect">
            <a:avLst/>
          </a:prstGeom>
          <a:noFill/>
          <a:ln/>
        </p:spPr>
        <p:txBody>
          <a:bodyPr wrap="square" lIns="0" tIns="0" rIns="0" bIns="0" rtlCol="0" anchor="t">
            <a:spAutoFit/>
          </a:bodyPr>
          <a:lstStyle/>
          <a:p>
            <a:pPr algn="ctr" indent="0" marL="0">
              <a:buNone/>
            </a:pPr>
            <a:r>
              <a:rPr lang="en-US" sz="750" spc="1" kern="0" dirty="0">
                <a:solidFill>
                  <a:srgbClr val="A8A8A8"/>
                </a:solidFill>
                <a:latin typeface="DM Mono" pitchFamily="34" charset="0"/>
                <a:ea typeface="DM Mono" pitchFamily="34" charset="-122"/>
                <a:cs typeface="DM Mono" pitchFamily="34" charset="-120"/>
              </a:rPr>
              <a:t>SHARED DATA SOURCE</a:t>
            </a:r>
            <a:endParaRPr lang="en-US" sz="750" dirty="0"/>
          </a:p>
        </p:txBody>
      </p:sp>
      <p:sp>
        <p:nvSpPr>
          <p:cNvPr id="28" name="Shape 24"/>
          <p:cNvSpPr/>
          <p:nvPr/>
        </p:nvSpPr>
        <p:spPr>
          <a:xfrm>
            <a:off x="5572125" y="4524784"/>
            <a:ext cx="2857500" cy="682228"/>
          </a:xfrm>
          <a:prstGeom prst="rect">
            <a:avLst/>
          </a:prstGeom>
          <a:solidFill>
            <a:srgbClr val="FFFFFF">
              <a:alpha val="2000"/>
            </a:srgbClr>
          </a:solidFill>
          <a:ln w="9144">
            <a:solidFill>
              <a:srgbClr val="787878"/>
            </a:solidFill>
            <a:prstDash val="dash"/>
          </a:ln>
        </p:spPr>
      </p:sp>
      <p:sp>
        <p:nvSpPr>
          <p:cNvPr id="29" name="Text 25"/>
          <p:cNvSpPr/>
          <p:nvPr/>
        </p:nvSpPr>
        <p:spPr>
          <a:xfrm>
            <a:off x="5715000" y="4667659"/>
            <a:ext cx="2571750" cy="192881"/>
          </a:xfrm>
          <a:prstGeom prst="rect">
            <a:avLst/>
          </a:prstGeom>
          <a:noFill/>
          <a:ln/>
        </p:spPr>
        <p:txBody>
          <a:bodyPr wrap="square" lIns="0" tIns="0" rIns="0" bIns="0" rtlCol="0" anchor="t">
            <a:spAutoFit/>
          </a:bodyPr>
          <a:lstStyle/>
          <a:p>
            <a:pPr algn="ctr" indent="0" marL="0">
              <a:buNone/>
            </a:pPr>
            <a:r>
              <a:rPr lang="en-US" sz="1100" b="1" dirty="0">
                <a:solidFill>
                  <a:srgbClr val="A8A8A8"/>
                </a:solidFill>
                <a:latin typeface="Cormorant Garamond SemiBold" pitchFamily="34" charset="0"/>
                <a:ea typeface="Cormorant Garamond SemiBold" pitchFamily="34" charset="-122"/>
                <a:cs typeface="Cormorant Garamond SemiBold" pitchFamily="34" charset="-120"/>
              </a:rPr>
              <a:t>Optional AI Services</a:t>
            </a:r>
            <a:endParaRPr lang="en-US" sz="1100" dirty="0"/>
          </a:p>
        </p:txBody>
      </p:sp>
      <p:sp>
        <p:nvSpPr>
          <p:cNvPr id="30" name="Text 26"/>
          <p:cNvSpPr/>
          <p:nvPr/>
        </p:nvSpPr>
        <p:spPr>
          <a:xfrm>
            <a:off x="5715000" y="4917691"/>
            <a:ext cx="2571750" cy="132159"/>
          </a:xfrm>
          <a:prstGeom prst="rect">
            <a:avLst/>
          </a:prstGeom>
          <a:noFill/>
          <a:ln/>
        </p:spPr>
        <p:txBody>
          <a:bodyPr wrap="square" lIns="0" tIns="0" rIns="0" bIns="0" rtlCol="0" anchor="t">
            <a:spAutoFit/>
          </a:bodyPr>
          <a:lstStyle/>
          <a:p>
            <a:pPr algn="ctr" indent="0" marL="0">
              <a:buNone/>
            </a:pPr>
            <a:r>
              <a:rPr lang="en-US" sz="750" spc="1" kern="0" dirty="0">
                <a:solidFill>
                  <a:srgbClr val="A8A8A8"/>
                </a:solidFill>
                <a:latin typeface="DM Mono" pitchFamily="34" charset="0"/>
                <a:ea typeface="DM Mono" pitchFamily="34" charset="-122"/>
                <a:cs typeface="DM Mono" pitchFamily="34" charset="-120"/>
              </a:rPr>
              <a:t>ISOLATED AT THE EDGE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714375" y="571500"/>
            <a:ext cx="7715250" cy="817178"/>
          </a:xfrm>
          <a:prstGeom prst="rect">
            <a:avLst/>
          </a:prstGeom>
          <a:noFill/>
          <a:ln/>
        </p:spPr>
        <p:txBody>
          <a:bodyPr wrap="square" lIns="0" tIns="0" rIns="0" bIns="0" rtlCol="0" anchor="t">
            <a:spAutoFit/>
          </a:bodyPr>
          <a:lstStyle/>
          <a:p>
            <a:pPr algn="l" indent="0" marL="0">
              <a:lnSpc>
                <a:spcPct val="88000"/>
              </a:lnSpc>
              <a:buNone/>
            </a:pPr>
            <a:r>
              <a:rPr lang="en-US" sz="2800" dirty="0">
                <a:solidFill>
                  <a:srgbClr val="C9A84C"/>
                </a:solidFill>
                <a:latin typeface="Cormorant Garamond" pitchFamily="34" charset="0"/>
                <a:ea typeface="Cormorant Garamond" pitchFamily="34" charset="-122"/>
                <a:cs typeface="Cormorant Garamond" pitchFamily="34" charset="-120"/>
              </a:rPr>
              <a:t>The merge is validated; the launch boundary is explicit.</a:t>
            </a:r>
            <a:endParaRPr lang="en-US" sz="2800" dirty="0"/>
          </a:p>
        </p:txBody>
      </p:sp>
      <p:sp>
        <p:nvSpPr>
          <p:cNvPr id="5" name="Text 1"/>
          <p:cNvSpPr/>
          <p:nvPr/>
        </p:nvSpPr>
        <p:spPr>
          <a:xfrm>
            <a:off x="714375" y="2045903"/>
            <a:ext cx="3571875" cy="314325"/>
          </a:xfrm>
          <a:prstGeom prst="rect">
            <a:avLst/>
          </a:prstGeom>
          <a:noFill/>
          <a:ln/>
        </p:spPr>
        <p:txBody>
          <a:bodyPr wrap="square" lIns="0" tIns="0" rIns="0" bIns="0" rtlCol="0" anchor="t">
            <a:spAutoFit/>
          </a:bodyPr>
          <a:lstStyle/>
          <a:p>
            <a:pPr algn="l" indent="0" marL="0">
              <a:buNone/>
            </a:pPr>
            <a:r>
              <a:rPr lang="en-US" sz="1800" b="1" dirty="0">
                <a:solidFill>
                  <a:srgbClr val="6B8F67"/>
                </a:solidFill>
                <a:latin typeface="Cormorant Garamond SemiBold" pitchFamily="34" charset="0"/>
                <a:ea typeface="Cormorant Garamond SemiBold" pitchFamily="34" charset="-122"/>
                <a:cs typeface="Cormorant Garamond SemiBold" pitchFamily="34" charset="-120"/>
              </a:rPr>
              <a:t>Completed validation</a:t>
            </a:r>
            <a:endParaRPr lang="en-US" sz="1800" dirty="0"/>
          </a:p>
        </p:txBody>
      </p:sp>
      <p:sp>
        <p:nvSpPr>
          <p:cNvPr id="6" name="Text 2"/>
          <p:cNvSpPr/>
          <p:nvPr/>
        </p:nvSpPr>
        <p:spPr>
          <a:xfrm>
            <a:off x="714375" y="2574541"/>
            <a:ext cx="3571875" cy="457200"/>
          </a:xfrm>
          <a:prstGeom prst="rect">
            <a:avLst/>
          </a:prstGeom>
          <a:noFill/>
          <a:ln/>
        </p:spPr>
        <p:txBody>
          <a:bodyPr wrap="square" lIns="272161"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Archive catalogued without executing archive code.</a:t>
            </a:r>
            <a:endParaRPr lang="en-US" sz="1050" dirty="0"/>
          </a:p>
        </p:txBody>
      </p:sp>
      <p:sp>
        <p:nvSpPr>
          <p:cNvPr id="7" name="Text 3"/>
          <p:cNvSpPr/>
          <p:nvPr/>
        </p:nvSpPr>
        <p:spPr>
          <a:xfrm>
            <a:off x="714375" y="3203191"/>
            <a:ext cx="3571875" cy="228600"/>
          </a:xfrm>
          <a:prstGeom prst="rect">
            <a:avLst/>
          </a:prstGeom>
          <a:noFill/>
          <a:ln/>
        </p:spPr>
        <p:txBody>
          <a:bodyPr wrap="none" lIns="272161"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Deterministic matcher fixtures passed.</a:t>
            </a:r>
            <a:endParaRPr lang="en-US" sz="1050" dirty="0"/>
          </a:p>
        </p:txBody>
      </p:sp>
      <p:sp>
        <p:nvSpPr>
          <p:cNvPr id="8" name="Text 4"/>
          <p:cNvSpPr/>
          <p:nvPr/>
        </p:nvSpPr>
        <p:spPr>
          <a:xfrm>
            <a:off x="714375" y="3603241"/>
            <a:ext cx="3571875" cy="228600"/>
          </a:xfrm>
          <a:prstGeom prst="rect">
            <a:avLst/>
          </a:prstGeom>
          <a:noFill/>
          <a:ln/>
        </p:spPr>
        <p:txBody>
          <a:bodyPr wrap="none" lIns="272161"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Vite production build passed.</a:t>
            </a:r>
            <a:endParaRPr lang="en-US" sz="1050" dirty="0"/>
          </a:p>
        </p:txBody>
      </p:sp>
      <p:sp>
        <p:nvSpPr>
          <p:cNvPr id="9" name="Text 5"/>
          <p:cNvSpPr/>
          <p:nvPr/>
        </p:nvSpPr>
        <p:spPr>
          <a:xfrm>
            <a:off x="714375" y="4003291"/>
            <a:ext cx="3571875" cy="457200"/>
          </a:xfrm>
          <a:prstGeom prst="rect">
            <a:avLst/>
          </a:prstGeom>
          <a:noFill/>
          <a:ln/>
        </p:spPr>
        <p:txBody>
          <a:bodyPr wrap="square" lIns="272161"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Browser verification confirmed finder rendering, mood selection, and progression to Season.</a:t>
            </a:r>
            <a:endParaRPr lang="en-US" sz="1050" dirty="0"/>
          </a:p>
        </p:txBody>
      </p:sp>
      <p:sp>
        <p:nvSpPr>
          <p:cNvPr id="10" name="Text 6"/>
          <p:cNvSpPr/>
          <p:nvPr/>
        </p:nvSpPr>
        <p:spPr>
          <a:xfrm>
            <a:off x="714375" y="2574541"/>
            <a:ext cx="132159" cy="251371"/>
          </a:xfrm>
          <a:prstGeom prst="rect">
            <a:avLst/>
          </a:prstGeom>
          <a:noFill/>
          <a:ln/>
        </p:spPr>
        <p:txBody>
          <a:bodyPr wrap="none" lIns="0" tIns="0" rIns="0" bIns="0" rtlCol="0" anchor="t">
            <a:spAutoFit/>
          </a:bodyPr>
          <a:lstStyle/>
          <a:p>
            <a:pPr algn="l" indent="0" marL="0">
              <a:lnSpc>
                <a:spcPct val="128000"/>
              </a:lnSpc>
              <a:buNone/>
            </a:pPr>
            <a:r>
              <a:rPr lang="en-US" sz="1100" b="1" dirty="0">
                <a:solidFill>
                  <a:srgbClr val="4A6741"/>
                </a:solidFill>
                <a:latin typeface="Inter SemiBold" pitchFamily="34" charset="0"/>
                <a:ea typeface="Inter SemiBold" pitchFamily="34" charset="-122"/>
                <a:cs typeface="Inter SemiBold" pitchFamily="34" charset="-120"/>
              </a:rPr>
              <a:t>✓</a:t>
            </a:r>
            <a:endParaRPr lang="en-US" sz="1100" dirty="0"/>
          </a:p>
        </p:txBody>
      </p:sp>
      <p:sp>
        <p:nvSpPr>
          <p:cNvPr id="11" name="Text 7"/>
          <p:cNvSpPr/>
          <p:nvPr/>
        </p:nvSpPr>
        <p:spPr>
          <a:xfrm>
            <a:off x="714375" y="3203191"/>
            <a:ext cx="132159" cy="251371"/>
          </a:xfrm>
          <a:prstGeom prst="rect">
            <a:avLst/>
          </a:prstGeom>
          <a:noFill/>
          <a:ln/>
        </p:spPr>
        <p:txBody>
          <a:bodyPr wrap="none" lIns="0" tIns="0" rIns="0" bIns="0" rtlCol="0" anchor="t">
            <a:spAutoFit/>
          </a:bodyPr>
          <a:lstStyle/>
          <a:p>
            <a:pPr algn="l" indent="0" marL="0">
              <a:lnSpc>
                <a:spcPct val="128000"/>
              </a:lnSpc>
              <a:buNone/>
            </a:pPr>
            <a:r>
              <a:rPr lang="en-US" sz="1100" b="1" dirty="0">
                <a:solidFill>
                  <a:srgbClr val="4A6741"/>
                </a:solidFill>
                <a:latin typeface="Inter SemiBold" pitchFamily="34" charset="0"/>
                <a:ea typeface="Inter SemiBold" pitchFamily="34" charset="-122"/>
                <a:cs typeface="Inter SemiBold" pitchFamily="34" charset="-120"/>
              </a:rPr>
              <a:t>✓</a:t>
            </a:r>
            <a:endParaRPr lang="en-US" sz="1100" dirty="0"/>
          </a:p>
        </p:txBody>
      </p:sp>
      <p:sp>
        <p:nvSpPr>
          <p:cNvPr id="12" name="Text 8"/>
          <p:cNvSpPr/>
          <p:nvPr/>
        </p:nvSpPr>
        <p:spPr>
          <a:xfrm>
            <a:off x="714375" y="3603241"/>
            <a:ext cx="132159" cy="251371"/>
          </a:xfrm>
          <a:prstGeom prst="rect">
            <a:avLst/>
          </a:prstGeom>
          <a:noFill/>
          <a:ln/>
        </p:spPr>
        <p:txBody>
          <a:bodyPr wrap="none" lIns="0" tIns="0" rIns="0" bIns="0" rtlCol="0" anchor="t">
            <a:spAutoFit/>
          </a:bodyPr>
          <a:lstStyle/>
          <a:p>
            <a:pPr algn="l" indent="0" marL="0">
              <a:lnSpc>
                <a:spcPct val="128000"/>
              </a:lnSpc>
              <a:buNone/>
            </a:pPr>
            <a:r>
              <a:rPr lang="en-US" sz="1100" b="1" dirty="0">
                <a:solidFill>
                  <a:srgbClr val="4A6741"/>
                </a:solidFill>
                <a:latin typeface="Inter SemiBold" pitchFamily="34" charset="0"/>
                <a:ea typeface="Inter SemiBold" pitchFamily="34" charset="-122"/>
                <a:cs typeface="Inter SemiBold" pitchFamily="34" charset="-120"/>
              </a:rPr>
              <a:t>✓</a:t>
            </a:r>
            <a:endParaRPr lang="en-US" sz="1100" dirty="0"/>
          </a:p>
        </p:txBody>
      </p:sp>
      <p:sp>
        <p:nvSpPr>
          <p:cNvPr id="13" name="Text 9"/>
          <p:cNvSpPr/>
          <p:nvPr/>
        </p:nvSpPr>
        <p:spPr>
          <a:xfrm>
            <a:off x="714375" y="4003291"/>
            <a:ext cx="132159" cy="251371"/>
          </a:xfrm>
          <a:prstGeom prst="rect">
            <a:avLst/>
          </a:prstGeom>
          <a:noFill/>
          <a:ln/>
        </p:spPr>
        <p:txBody>
          <a:bodyPr wrap="none" lIns="0" tIns="0" rIns="0" bIns="0" rtlCol="0" anchor="t">
            <a:spAutoFit/>
          </a:bodyPr>
          <a:lstStyle/>
          <a:p>
            <a:pPr algn="l" indent="0" marL="0">
              <a:lnSpc>
                <a:spcPct val="128000"/>
              </a:lnSpc>
              <a:buNone/>
            </a:pPr>
            <a:r>
              <a:rPr lang="en-US" sz="1100" b="1" dirty="0">
                <a:solidFill>
                  <a:srgbClr val="4A6741"/>
                </a:solidFill>
                <a:latin typeface="Inter SemiBold" pitchFamily="34" charset="0"/>
                <a:ea typeface="Inter SemiBold" pitchFamily="34" charset="-122"/>
                <a:cs typeface="Inter SemiBold" pitchFamily="34" charset="-120"/>
              </a:rPr>
              <a:t>✓</a:t>
            </a:r>
            <a:endParaRPr lang="en-US" sz="1100" dirty="0"/>
          </a:p>
        </p:txBody>
      </p:sp>
      <p:sp>
        <p:nvSpPr>
          <p:cNvPr id="14" name="Text 10"/>
          <p:cNvSpPr/>
          <p:nvPr/>
        </p:nvSpPr>
        <p:spPr>
          <a:xfrm>
            <a:off x="4857750" y="2045903"/>
            <a:ext cx="3571875" cy="314325"/>
          </a:xfrm>
          <a:prstGeom prst="rect">
            <a:avLst/>
          </a:prstGeom>
          <a:noFill/>
          <a:ln/>
        </p:spPr>
        <p:txBody>
          <a:bodyPr wrap="square" lIns="0" tIns="0" rIns="0" bIns="0" rtlCol="0" anchor="t">
            <a:spAutoFit/>
          </a:bodyPr>
          <a:lstStyle/>
          <a:p>
            <a:pPr algn="l" indent="0" marL="0">
              <a:buNone/>
            </a:pPr>
            <a:r>
              <a:rPr lang="en-US" sz="1800" b="1" dirty="0">
                <a:solidFill>
                  <a:srgbClr val="C9A84C"/>
                </a:solidFill>
                <a:latin typeface="Cormorant Garamond SemiBold" pitchFamily="34" charset="0"/>
                <a:ea typeface="Cormorant Garamond SemiBold" pitchFamily="34" charset="-122"/>
                <a:cs typeface="Cormorant Garamond SemiBold" pitchFamily="34" charset="-120"/>
              </a:rPr>
              <a:t>Next production hardening</a:t>
            </a:r>
            <a:endParaRPr lang="en-US" sz="1800" dirty="0"/>
          </a:p>
        </p:txBody>
      </p:sp>
      <p:sp>
        <p:nvSpPr>
          <p:cNvPr id="15" name="Text 11"/>
          <p:cNvSpPr/>
          <p:nvPr/>
        </p:nvSpPr>
        <p:spPr>
          <a:xfrm>
            <a:off x="4857750" y="2574541"/>
            <a:ext cx="3571875" cy="685800"/>
          </a:xfrm>
          <a:prstGeom prst="rect">
            <a:avLst/>
          </a:prstGeom>
          <a:noFill/>
          <a:ln/>
        </p:spPr>
        <p:txBody>
          <a:bodyPr wrap="square" lIns="272161"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Serve a dedicated public Moodoor projection through Firestore rules or a server-side/callable function.</a:t>
            </a:r>
            <a:endParaRPr lang="en-US" sz="1050" dirty="0"/>
          </a:p>
        </p:txBody>
      </p:sp>
      <p:sp>
        <p:nvSpPr>
          <p:cNvPr id="16" name="Text 12"/>
          <p:cNvSpPr/>
          <p:nvPr/>
        </p:nvSpPr>
        <p:spPr>
          <a:xfrm>
            <a:off x="4857750" y="3431791"/>
            <a:ext cx="3571875" cy="685800"/>
          </a:xfrm>
          <a:prstGeom prst="rect">
            <a:avLst/>
          </a:prstGeom>
          <a:noFill/>
          <a:ln/>
        </p:spPr>
        <p:txBody>
          <a:bodyPr wrap="square" lIns="272161"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Require public mood, season, palette, availability, and quality-approval fields at marketplace publication.</a:t>
            </a:r>
            <a:endParaRPr lang="en-US" sz="1050" dirty="0"/>
          </a:p>
        </p:txBody>
      </p:sp>
      <p:sp>
        <p:nvSpPr>
          <p:cNvPr id="17" name="Text 13"/>
          <p:cNvSpPr/>
          <p:nvPr/>
        </p:nvSpPr>
        <p:spPr>
          <a:xfrm>
            <a:off x="4857750" y="4289041"/>
            <a:ext cx="3571875" cy="457200"/>
          </a:xfrm>
          <a:prstGeom prst="rect">
            <a:avLst/>
          </a:prstGeom>
          <a:noFill/>
          <a:ln/>
        </p:spPr>
        <p:txBody>
          <a:bodyPr wrap="square" lIns="272161" tIns="0" rIns="0" bIns="0" rtlCol="0" anchor="t">
            <a:spAutoFit/>
          </a:bodyPr>
          <a:lstStyle/>
          <a:p>
            <a:pPr algn="l" indent="0" marL="0">
              <a:lnSpc>
                <a:spcPct val="128000"/>
              </a:lnSpc>
              <a:buNone/>
            </a:pPr>
            <a:r>
              <a:rPr lang="en-US" sz="1050" dirty="0">
                <a:solidFill>
                  <a:srgbClr val="D0D0D0"/>
                </a:solidFill>
                <a:latin typeface="Inter Light" pitchFamily="34" charset="0"/>
                <a:ea typeface="Inter Light" pitchFamily="34" charset="-122"/>
                <a:cs typeface="Inter Light" pitchFamily="34" charset="-120"/>
              </a:rPr>
              <a:t>Add public detail pages, approved story drops, publishing history, and route-level code splitting.</a:t>
            </a:r>
            <a:endParaRPr lang="en-US" sz="1050" dirty="0"/>
          </a:p>
        </p:txBody>
      </p:sp>
      <p:sp>
        <p:nvSpPr>
          <p:cNvPr id="18" name="Text 14"/>
          <p:cNvSpPr/>
          <p:nvPr/>
        </p:nvSpPr>
        <p:spPr>
          <a:xfrm>
            <a:off x="4857750" y="2574541"/>
            <a:ext cx="171450" cy="205718"/>
          </a:xfrm>
          <a:prstGeom prst="rect">
            <a:avLst/>
          </a:prstGeom>
          <a:noFill/>
          <a:ln/>
        </p:spPr>
        <p:txBody>
          <a:bodyPr wrap="none" lIns="0" tIns="0" rIns="0" bIns="0" rtlCol="0" anchor="t">
            <a:spAutoFit/>
          </a:bodyPr>
          <a:lstStyle/>
          <a:p>
            <a:pPr algn="l" indent="0" marL="0">
              <a:lnSpc>
                <a:spcPct val="96000"/>
              </a:lnSpc>
              <a:buNone/>
            </a:pPr>
            <a:r>
              <a:rPr lang="en-US" sz="1200" b="1" dirty="0">
                <a:solidFill>
                  <a:srgbClr val="C9A84C"/>
                </a:solidFill>
                <a:latin typeface="Inter SemiBold" pitchFamily="34" charset="0"/>
                <a:ea typeface="Inter SemiBold" pitchFamily="34" charset="-122"/>
                <a:cs typeface="Inter SemiBold" pitchFamily="34" charset="-120"/>
              </a:rPr>
              <a:t>→</a:t>
            </a:r>
            <a:endParaRPr lang="en-US" sz="1200" dirty="0"/>
          </a:p>
        </p:txBody>
      </p:sp>
      <p:sp>
        <p:nvSpPr>
          <p:cNvPr id="19" name="Text 15"/>
          <p:cNvSpPr/>
          <p:nvPr/>
        </p:nvSpPr>
        <p:spPr>
          <a:xfrm>
            <a:off x="4857750" y="3431791"/>
            <a:ext cx="171450" cy="205718"/>
          </a:xfrm>
          <a:prstGeom prst="rect">
            <a:avLst/>
          </a:prstGeom>
          <a:noFill/>
          <a:ln/>
        </p:spPr>
        <p:txBody>
          <a:bodyPr wrap="none" lIns="0" tIns="0" rIns="0" bIns="0" rtlCol="0" anchor="t">
            <a:spAutoFit/>
          </a:bodyPr>
          <a:lstStyle/>
          <a:p>
            <a:pPr algn="l" indent="0" marL="0">
              <a:lnSpc>
                <a:spcPct val="96000"/>
              </a:lnSpc>
              <a:buNone/>
            </a:pPr>
            <a:r>
              <a:rPr lang="en-US" sz="1200" b="1" dirty="0">
                <a:solidFill>
                  <a:srgbClr val="C9A84C"/>
                </a:solidFill>
                <a:latin typeface="Inter SemiBold" pitchFamily="34" charset="0"/>
                <a:ea typeface="Inter SemiBold" pitchFamily="34" charset="-122"/>
                <a:cs typeface="Inter SemiBold" pitchFamily="34" charset="-120"/>
              </a:rPr>
              <a:t>→</a:t>
            </a:r>
            <a:endParaRPr lang="en-US" sz="1200" dirty="0"/>
          </a:p>
        </p:txBody>
      </p:sp>
      <p:sp>
        <p:nvSpPr>
          <p:cNvPr id="20" name="Text 16"/>
          <p:cNvSpPr/>
          <p:nvPr/>
        </p:nvSpPr>
        <p:spPr>
          <a:xfrm>
            <a:off x="4857750" y="4289041"/>
            <a:ext cx="171450" cy="205718"/>
          </a:xfrm>
          <a:prstGeom prst="rect">
            <a:avLst/>
          </a:prstGeom>
          <a:noFill/>
          <a:ln/>
        </p:spPr>
        <p:txBody>
          <a:bodyPr wrap="none" lIns="0" tIns="0" rIns="0" bIns="0" rtlCol="0" anchor="t">
            <a:spAutoFit/>
          </a:bodyPr>
          <a:lstStyle/>
          <a:p>
            <a:pPr algn="l" indent="0" marL="0">
              <a:lnSpc>
                <a:spcPct val="96000"/>
              </a:lnSpc>
              <a:buNone/>
            </a:pPr>
            <a:r>
              <a:rPr lang="en-US" sz="1200" b="1" dirty="0">
                <a:solidFill>
                  <a:srgbClr val="C9A84C"/>
                </a:solidFill>
                <a:latin typeface="Inter SemiBold" pitchFamily="34" charset="0"/>
                <a:ea typeface="Inter SemiBold" pitchFamily="34" charset="-122"/>
                <a:cs typeface="Inter SemiBold" pitchFamily="34" charset="-120"/>
              </a:rPr>
              <a: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714375" y="1570230"/>
            <a:ext cx="7715250" cy="1131503"/>
          </a:xfrm>
          <a:prstGeom prst="rect">
            <a:avLst/>
          </a:prstGeom>
          <a:noFill/>
          <a:ln/>
        </p:spPr>
        <p:txBody>
          <a:bodyPr wrap="square" lIns="0" tIns="0" rIns="0" bIns="0" rtlCol="0" anchor="t">
            <a:spAutoFit/>
          </a:bodyPr>
          <a:lstStyle/>
          <a:p>
            <a:pPr algn="ctr" indent="0" marL="0">
              <a:lnSpc>
                <a:spcPct val="88000"/>
              </a:lnSpc>
              <a:buNone/>
            </a:pPr>
            <a:r>
              <a:rPr lang="en-US" sz="3950" spc="-1" kern="0" dirty="0">
                <a:solidFill>
                  <a:srgbClr val="F9F7F4"/>
                </a:solidFill>
                <a:latin typeface="Cormorant Garamond Light" pitchFamily="34" charset="0"/>
                <a:ea typeface="Cormorant Garamond Light" pitchFamily="34" charset="-122"/>
                <a:cs typeface="Cormorant Garamond Light" pitchFamily="34" charset="-120"/>
              </a:rPr>
              <a:t>Moodoor makes selection feel considered.</a:t>
            </a:r>
            <a:endParaRPr lang="en-US" sz="3950" dirty="0"/>
          </a:p>
        </p:txBody>
      </p:sp>
      <p:sp>
        <p:nvSpPr>
          <p:cNvPr id="5" name="Text 1"/>
          <p:cNvSpPr/>
          <p:nvPr/>
        </p:nvSpPr>
        <p:spPr>
          <a:xfrm>
            <a:off x="3152180" y="2873183"/>
            <a:ext cx="2839641" cy="346472"/>
          </a:xfrm>
          <a:prstGeom prst="rect">
            <a:avLst/>
          </a:prstGeom>
          <a:noFill/>
          <a:ln/>
        </p:spPr>
        <p:txBody>
          <a:bodyPr wrap="square" lIns="0" tIns="0" rIns="0" bIns="0" rtlCol="0" anchor="t">
            <a:spAutoFit/>
          </a:bodyPr>
          <a:lstStyle/>
          <a:p>
            <a:pPr algn="ctr" indent="0" marL="0">
              <a:buNone/>
            </a:pPr>
            <a:r>
              <a:rPr lang="en-US" sz="2150" i="1" dirty="0">
                <a:solidFill>
                  <a:srgbClr val="C9A84C"/>
                </a:solidFill>
                <a:latin typeface="Cormorant Garamond" pitchFamily="34" charset="0"/>
                <a:ea typeface="Cormorant Garamond" pitchFamily="34" charset="-122"/>
                <a:cs typeface="Cormorant Garamond" pitchFamily="34" charset="-120"/>
              </a:rPr>
              <a:t>Private craft. Public clarity.</a:t>
            </a:r>
            <a:endParaRPr lang="en-US" sz="2150" dirty="0"/>
          </a:p>
        </p:txBody>
      </p:sp>
      <p:sp>
        <p:nvSpPr>
          <p:cNvPr id="6" name="Text 2"/>
          <p:cNvSpPr/>
          <p:nvPr/>
        </p:nvSpPr>
        <p:spPr>
          <a:xfrm>
            <a:off x="3169648" y="3791155"/>
            <a:ext cx="2804703" cy="139303"/>
          </a:xfrm>
          <a:prstGeom prst="rect">
            <a:avLst/>
          </a:prstGeom>
          <a:noFill/>
          <a:ln/>
        </p:spPr>
        <p:txBody>
          <a:bodyPr wrap="square" lIns="0" tIns="0" rIns="0" bIns="0" rtlCol="0" anchor="t">
            <a:spAutoFit/>
          </a:bodyPr>
          <a:lstStyle/>
          <a:p>
            <a:pPr algn="ctr" indent="0" marL="0">
              <a:buNone/>
            </a:pPr>
            <a:r>
              <a:rPr lang="en-US" sz="850" spc="3" kern="0" dirty="0">
                <a:solidFill>
                  <a:srgbClr val="A8A8A8"/>
                </a:solidFill>
                <a:latin typeface="Inter Medium" pitchFamily="34" charset="0"/>
                <a:ea typeface="Inter Medium" pitchFamily="34" charset="-122"/>
                <a:cs typeface="Inter Medium" pitchFamily="34" charset="-120"/>
              </a:rPr>
              <a:t>MOODOOR STUDIO </a:t>
            </a:r>
            <a:r>
              <a:rPr lang="en-US" sz="850" spc="3" kern="0" dirty="0">
                <a:solidFill>
                  <a:srgbClr val="C9A84C"/>
                </a:solidFill>
                <a:latin typeface="Inter Medium" pitchFamily="34" charset="0"/>
                <a:ea typeface="Inter Medium" pitchFamily="34" charset="-122"/>
                <a:cs typeface="Inter Medium" pitchFamily="34" charset="-120"/>
              </a:rPr>
              <a:t>×</a:t>
            </a:r>
            <a:r>
              <a:rPr lang="en-US" sz="850" spc="3" kern="0" dirty="0">
                <a:solidFill>
                  <a:srgbClr val="A8A8A8"/>
                </a:solidFill>
                <a:latin typeface="Inter Medium" pitchFamily="34" charset="0"/>
                <a:ea typeface="Inter Medium" pitchFamily="34" charset="-122"/>
                <a:cs typeface="Inter Medium" pitchFamily="34" charset="-120"/>
              </a:rPr>
              <a:t> EVERFRACTED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2026-08-19T09:01:10Z</dcterms:created>
  <dcterms:modified xsi:type="dcterms:W3CDTF">2026-08-19T09:01:10Z</dcterms:modified>
</cp:coreProperties>
</file>